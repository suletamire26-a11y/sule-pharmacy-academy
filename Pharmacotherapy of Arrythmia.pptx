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Layouts/slideLayout3.xml" ContentType="application/vnd.openxmlformats-officedocument.presentationml.slideLayout+xml"/>
  <Default Extension="jpeg" ContentType="image/jpeg"/>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Default Extension="rels" ContentType="application/vnd.openxmlformats-package.relationshi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3"/>
  </p:notesMasterIdLst>
  <p:sldIdLst>
    <p:sldId id="257" r:id="rId2"/>
    <p:sldId id="341" r:id="rId3"/>
    <p:sldId id="362" r:id="rId4"/>
    <p:sldId id="342" r:id="rId5"/>
    <p:sldId id="343" r:id="rId6"/>
    <p:sldId id="344" r:id="rId7"/>
    <p:sldId id="345" r:id="rId8"/>
    <p:sldId id="356" r:id="rId9"/>
    <p:sldId id="361" r:id="rId10"/>
    <p:sldId id="358" r:id="rId11"/>
    <p:sldId id="346" r:id="rId12"/>
    <p:sldId id="347" r:id="rId13"/>
    <p:sldId id="348" r:id="rId14"/>
    <p:sldId id="351" r:id="rId15"/>
    <p:sldId id="363" r:id="rId16"/>
    <p:sldId id="352" r:id="rId17"/>
    <p:sldId id="353" r:id="rId18"/>
    <p:sldId id="354" r:id="rId19"/>
    <p:sldId id="355" r:id="rId20"/>
    <p:sldId id="260" r:id="rId21"/>
    <p:sldId id="261" r:id="rId22"/>
    <p:sldId id="262" r:id="rId23"/>
    <p:sldId id="263" r:id="rId24"/>
    <p:sldId id="264" r:id="rId25"/>
    <p:sldId id="265" r:id="rId26"/>
    <p:sldId id="266" r:id="rId27"/>
    <p:sldId id="267" r:id="rId28"/>
    <p:sldId id="268" r:id="rId29"/>
    <p:sldId id="270" r:id="rId30"/>
    <p:sldId id="272" r:id="rId31"/>
    <p:sldId id="273" r:id="rId32"/>
    <p:sldId id="274" r:id="rId33"/>
    <p:sldId id="275" r:id="rId34"/>
    <p:sldId id="276" r:id="rId35"/>
    <p:sldId id="277" r:id="rId36"/>
    <p:sldId id="278" r:id="rId37"/>
    <p:sldId id="279" r:id="rId38"/>
    <p:sldId id="280" r:id="rId39"/>
    <p:sldId id="281" r:id="rId40"/>
    <p:sldId id="284" r:id="rId41"/>
    <p:sldId id="285" r:id="rId42"/>
    <p:sldId id="286" r:id="rId43"/>
    <p:sldId id="364" r:id="rId44"/>
    <p:sldId id="287" r:id="rId45"/>
    <p:sldId id="288" r:id="rId46"/>
    <p:sldId id="290" r:id="rId47"/>
    <p:sldId id="291" r:id="rId48"/>
    <p:sldId id="293" r:id="rId49"/>
    <p:sldId id="295" r:id="rId50"/>
    <p:sldId id="296" r:id="rId51"/>
    <p:sldId id="332" r:id="rId52"/>
    <p:sldId id="333" r:id="rId53"/>
    <p:sldId id="334" r:id="rId54"/>
    <p:sldId id="297" r:id="rId55"/>
    <p:sldId id="298" r:id="rId56"/>
    <p:sldId id="299" r:id="rId57"/>
    <p:sldId id="300" r:id="rId58"/>
    <p:sldId id="302" r:id="rId59"/>
    <p:sldId id="303" r:id="rId60"/>
    <p:sldId id="304" r:id="rId61"/>
    <p:sldId id="307" r:id="rId62"/>
    <p:sldId id="308" r:id="rId63"/>
    <p:sldId id="309" r:id="rId64"/>
    <p:sldId id="311" r:id="rId65"/>
    <p:sldId id="313" r:id="rId66"/>
    <p:sldId id="314" r:id="rId67"/>
    <p:sldId id="315" r:id="rId68"/>
    <p:sldId id="316" r:id="rId69"/>
    <p:sldId id="320" r:id="rId70"/>
    <p:sldId id="321" r:id="rId71"/>
    <p:sldId id="322" r:id="rId72"/>
    <p:sldId id="323" r:id="rId73"/>
    <p:sldId id="325" r:id="rId74"/>
    <p:sldId id="328" r:id="rId75"/>
    <p:sldId id="330" r:id="rId76"/>
    <p:sldId id="331" r:id="rId77"/>
    <p:sldId id="335" r:id="rId78"/>
    <p:sldId id="365" r:id="rId79"/>
    <p:sldId id="337" r:id="rId80"/>
    <p:sldId id="338" r:id="rId81"/>
    <p:sldId id="339" r:id="rId82"/>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00FF"/>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369" autoAdjust="0"/>
  </p:normalViewPr>
  <p:slideViewPr>
    <p:cSldViewPr>
      <p:cViewPr>
        <p:scale>
          <a:sx n="60" d="100"/>
          <a:sy n="60" d="100"/>
        </p:scale>
        <p:origin x="-1656" y="-25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F549D900-1186-44FD-B059-A26F4FE39C44}" type="datetimeFigureOut">
              <a:rPr lang="en-US" smtClean="0"/>
              <a:pPr/>
              <a:t>2/7/2016</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7CC8A2C7-2922-4A51-86F7-081AB57D8BF5}"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The increased slope of phase 4 causes heightened automaticity of these tissues and competition with the SA node for dominance of cardiac rhythm. If the rate of spontaneous impulse generation of the abnormally automatic tissue exceeds that of the SA node, then an automatic tachycardia may result.</a:t>
            </a:r>
            <a:endParaRPr lang="en-US" dirty="0"/>
          </a:p>
        </p:txBody>
      </p:sp>
      <p:sp>
        <p:nvSpPr>
          <p:cNvPr id="4" name="Slide Number Placeholder 3"/>
          <p:cNvSpPr>
            <a:spLocks noGrp="1"/>
          </p:cNvSpPr>
          <p:nvPr>
            <p:ph type="sldNum" sz="quarter" idx="10"/>
          </p:nvPr>
        </p:nvSpPr>
        <p:spPr/>
        <p:txBody>
          <a:bodyPr/>
          <a:lstStyle/>
          <a:p>
            <a:fld id="{9DF63E52-0F87-4F07-A4BF-F8AD5B9B4D0A}" type="slidenum">
              <a:rPr lang="en-US" smtClean="0"/>
              <a:pPr/>
              <a:t>17</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EADs may be precipitated by </a:t>
            </a:r>
            <a:r>
              <a:rPr lang="en-US" dirty="0" err="1" smtClean="0"/>
              <a:t>hypokalemia</a:t>
            </a:r>
            <a:r>
              <a:rPr lang="en-US" dirty="0" smtClean="0"/>
              <a:t>, type </a:t>
            </a:r>
            <a:r>
              <a:rPr lang="en-US" dirty="0" err="1" smtClean="0"/>
              <a:t>Ia</a:t>
            </a:r>
            <a:r>
              <a:rPr lang="en-US" dirty="0" smtClean="0"/>
              <a:t> </a:t>
            </a:r>
            <a:r>
              <a:rPr lang="en-US" dirty="0" err="1" smtClean="0"/>
              <a:t>antiarrhythmic</a:t>
            </a:r>
            <a:r>
              <a:rPr lang="en-US" dirty="0" smtClean="0"/>
              <a:t> drugs, or slow stimulation rates—any factor that blocks the</a:t>
            </a:r>
          </a:p>
          <a:p>
            <a:r>
              <a:rPr lang="en-US" dirty="0" smtClean="0"/>
              <a:t>ion channels (e.g., potassium) responsible for cellular repolarization.</a:t>
            </a:r>
          </a:p>
          <a:p>
            <a:r>
              <a:rPr lang="en-US" dirty="0" smtClean="0"/>
              <a:t>Early after-</a:t>
            </a:r>
            <a:r>
              <a:rPr lang="en-US" dirty="0" err="1" smtClean="0"/>
              <a:t>depolarizations</a:t>
            </a:r>
            <a:r>
              <a:rPr lang="en-US" dirty="0" smtClean="0"/>
              <a:t> provoked by drugs that block potassium conductance and delay repolarization are the underlying cause of TdP. Late after-</a:t>
            </a:r>
            <a:r>
              <a:rPr lang="en-US" dirty="0" err="1" smtClean="0"/>
              <a:t>depolarizations</a:t>
            </a:r>
            <a:r>
              <a:rPr lang="en-US" dirty="0" smtClean="0"/>
              <a:t> may be precipitated by digitalis or </a:t>
            </a:r>
            <a:r>
              <a:rPr lang="en-US" dirty="0" err="1" smtClean="0"/>
              <a:t>catecholamines</a:t>
            </a:r>
            <a:r>
              <a:rPr lang="en-US" dirty="0" smtClean="0"/>
              <a:t> and suppressed by CCBs, and have been suggested as the mechanism for multifocal </a:t>
            </a:r>
            <a:r>
              <a:rPr lang="en-US" dirty="0" err="1" smtClean="0"/>
              <a:t>atrial</a:t>
            </a:r>
            <a:r>
              <a:rPr lang="en-US" dirty="0" smtClean="0"/>
              <a:t> tachycardia, digitalis-induced </a:t>
            </a:r>
            <a:r>
              <a:rPr lang="en-US" dirty="0" err="1" smtClean="0"/>
              <a:t>tachycardias</a:t>
            </a:r>
            <a:r>
              <a:rPr lang="en-US" dirty="0" smtClean="0"/>
              <a:t> and exercise-provoked VT.</a:t>
            </a:r>
          </a:p>
          <a:p>
            <a:r>
              <a:rPr lang="en-US" dirty="0" smtClean="0"/>
              <a:t>In fact, potassium infusions in patients with the congenital long QT syndrome (LQTS) and in those with drug-induced acquired QT prolongation shorten the QT interval</a:t>
            </a:r>
            <a:endParaRPr lang="en-US" dirty="0"/>
          </a:p>
        </p:txBody>
      </p:sp>
      <p:sp>
        <p:nvSpPr>
          <p:cNvPr id="4" name="Slide Number Placeholder 3"/>
          <p:cNvSpPr>
            <a:spLocks noGrp="1"/>
          </p:cNvSpPr>
          <p:nvPr>
            <p:ph type="sldNum" sz="quarter" idx="10"/>
          </p:nvPr>
        </p:nvSpPr>
        <p:spPr/>
        <p:txBody>
          <a:bodyPr/>
          <a:lstStyle/>
          <a:p>
            <a:fld id="{9DF63E52-0F87-4F07-A4BF-F8AD5B9B4D0A}" type="slidenum">
              <a:rPr lang="en-US" smtClean="0"/>
              <a:pPr/>
              <a:t>18</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An often-used example is reentry occurring as a consequence of ischemic or hypoxic damage: with inadequate cellular oxygen, cardiac tissue resorts to anaerobic </a:t>
            </a:r>
            <a:r>
              <a:rPr lang="en-US" dirty="0" err="1" smtClean="0"/>
              <a:t>glycolysis</a:t>
            </a:r>
            <a:r>
              <a:rPr lang="en-US" dirty="0" smtClean="0"/>
              <a:t> for ATP production. As high-energy phosphate concentration diminishes, the activity of the </a:t>
            </a:r>
            <a:r>
              <a:rPr lang="en-US" dirty="0" err="1" smtClean="0"/>
              <a:t>transmembrane</a:t>
            </a:r>
            <a:r>
              <a:rPr lang="en-US" dirty="0" smtClean="0"/>
              <a:t> ion pumps declines and RMP rises. This rise in RMP causes inactivation in the voltage-dependent sodium channel and the tissue begins to assume slow conduction characteristics. If changes in conduction parameters occur in a discordant manner due to varying degrees of ischemia or hypoxia, then a reentry circuit may become manifest.</a:t>
            </a:r>
            <a:endParaRPr lang="en-US" dirty="0"/>
          </a:p>
        </p:txBody>
      </p:sp>
      <p:sp>
        <p:nvSpPr>
          <p:cNvPr id="4" name="Slide Number Placeholder 3"/>
          <p:cNvSpPr>
            <a:spLocks noGrp="1"/>
          </p:cNvSpPr>
          <p:nvPr>
            <p:ph type="sldNum" sz="quarter" idx="10"/>
          </p:nvPr>
        </p:nvSpPr>
        <p:spPr/>
        <p:txBody>
          <a:bodyPr/>
          <a:lstStyle/>
          <a:p>
            <a:fld id="{9DF63E52-0F87-4F07-A4BF-F8AD5B9B4D0A}" type="slidenum">
              <a:rPr lang="en-US" smtClean="0"/>
              <a:pPr/>
              <a:t>19</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lide Image Placeholder 1"/>
          <p:cNvSpPr>
            <a:spLocks noGrp="1" noRot="1" noChangeAspect="1" noTextEdit="1"/>
          </p:cNvSpPr>
          <p:nvPr>
            <p:ph type="sldImg"/>
          </p:nvPr>
        </p:nvSpPr>
        <p:spPr bwMode="auto">
          <a:noFill/>
          <a:ln>
            <a:solidFill>
              <a:srgbClr val="000000"/>
            </a:solidFill>
            <a:miter lim="800000"/>
            <a:headEnd/>
            <a:tailEnd/>
          </a:ln>
        </p:spPr>
      </p:sp>
      <p:sp>
        <p:nvSpPr>
          <p:cNvPr id="11161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lnSpc>
                <a:spcPct val="90000"/>
              </a:lnSpc>
            </a:pPr>
            <a:r>
              <a:rPr lang="en-US" sz="1100" b="1" dirty="0" smtClean="0">
                <a:latin typeface="Times New Roman" pitchFamily="18" charset="0"/>
                <a:cs typeface="Times New Roman" pitchFamily="18" charset="0"/>
              </a:rPr>
              <a:t>Mechanisms of Anti-Arrhythmic Drug Action</a:t>
            </a:r>
          </a:p>
          <a:p>
            <a:pPr eaLnBrk="1" hangingPunct="1">
              <a:lnSpc>
                <a:spcPct val="90000"/>
              </a:lnSpc>
              <a:spcBef>
                <a:spcPct val="20000"/>
              </a:spcBef>
              <a:buFontTx/>
              <a:buChar char="•"/>
            </a:pPr>
            <a:r>
              <a:rPr lang="en-US" sz="2600" dirty="0" smtClean="0">
                <a:solidFill>
                  <a:srgbClr val="000000"/>
                </a:solidFill>
                <a:latin typeface="Times New Roman" pitchFamily="18" charset="0"/>
                <a:cs typeface="Times New Roman" pitchFamily="18" charset="0"/>
              </a:rPr>
              <a:t>Drugs may slow automatic rhythms by altering any of the four determinants of spontaneous pacemaker discharge:</a:t>
            </a:r>
          </a:p>
          <a:p>
            <a:pPr marL="757066" lvl="1" indent="-291179">
              <a:lnSpc>
                <a:spcPct val="90000"/>
              </a:lnSpc>
              <a:spcBef>
                <a:spcPct val="20000"/>
              </a:spcBef>
              <a:buFont typeface="Arial" pitchFamily="34" charset="0"/>
              <a:buChar char="–"/>
            </a:pPr>
            <a:r>
              <a:rPr lang="en-US" sz="2600" dirty="0" smtClean="0">
                <a:solidFill>
                  <a:srgbClr val="000000"/>
                </a:solidFill>
                <a:latin typeface="Times New Roman" pitchFamily="18" charset="0"/>
                <a:cs typeface="Times New Roman" pitchFamily="18" charset="0"/>
              </a:rPr>
              <a:t>decrease phase 4 slope </a:t>
            </a:r>
          </a:p>
          <a:p>
            <a:pPr marL="757066" lvl="1" indent="-291179">
              <a:lnSpc>
                <a:spcPct val="90000"/>
              </a:lnSpc>
              <a:spcBef>
                <a:spcPct val="20000"/>
              </a:spcBef>
              <a:buFont typeface="Arial" pitchFamily="34" charset="0"/>
              <a:buChar char="–"/>
            </a:pPr>
            <a:r>
              <a:rPr lang="en-US" sz="2600" dirty="0" smtClean="0">
                <a:solidFill>
                  <a:srgbClr val="000000"/>
                </a:solidFill>
                <a:latin typeface="Times New Roman" pitchFamily="18" charset="0"/>
                <a:cs typeface="Times New Roman" pitchFamily="18" charset="0"/>
              </a:rPr>
              <a:t>increase threshold potential </a:t>
            </a:r>
          </a:p>
          <a:p>
            <a:pPr marL="757066" lvl="1" indent="-291179">
              <a:lnSpc>
                <a:spcPct val="90000"/>
              </a:lnSpc>
              <a:spcBef>
                <a:spcPct val="20000"/>
              </a:spcBef>
              <a:buFont typeface="Arial" pitchFamily="34" charset="0"/>
              <a:buChar char="–"/>
            </a:pPr>
            <a:r>
              <a:rPr lang="en-US" sz="2600" dirty="0" smtClean="0">
                <a:solidFill>
                  <a:srgbClr val="000000"/>
                </a:solidFill>
                <a:latin typeface="Times New Roman" pitchFamily="18" charset="0"/>
                <a:cs typeface="Times New Roman" pitchFamily="18" charset="0"/>
              </a:rPr>
              <a:t>increase maximum diastolic potential </a:t>
            </a:r>
          </a:p>
          <a:p>
            <a:pPr marL="757066" lvl="1" indent="-291179">
              <a:lnSpc>
                <a:spcPct val="90000"/>
              </a:lnSpc>
              <a:spcBef>
                <a:spcPct val="20000"/>
              </a:spcBef>
              <a:buFont typeface="Arial" pitchFamily="34" charset="0"/>
              <a:buChar char="–"/>
            </a:pPr>
            <a:r>
              <a:rPr lang="en-US" sz="2600" dirty="0" smtClean="0">
                <a:solidFill>
                  <a:srgbClr val="000000"/>
                </a:solidFill>
                <a:latin typeface="Times New Roman" pitchFamily="18" charset="0"/>
                <a:cs typeface="Times New Roman" pitchFamily="18" charset="0"/>
              </a:rPr>
              <a:t>increase APD</a:t>
            </a:r>
          </a:p>
          <a:p>
            <a:pPr eaLnBrk="1" hangingPunct="1">
              <a:lnSpc>
                <a:spcPct val="90000"/>
              </a:lnSpc>
            </a:pPr>
            <a:endParaRPr lang="en-US" sz="1100" dirty="0" smtClean="0"/>
          </a:p>
        </p:txBody>
      </p:sp>
      <p:sp>
        <p:nvSpPr>
          <p:cNvPr id="111620" name="Slide Number Placeholder 3"/>
          <p:cNvSpPr>
            <a:spLocks noGrp="1"/>
          </p:cNvSpPr>
          <p:nvPr>
            <p:ph type="sldNum" sz="quarter" idx="5"/>
          </p:nvPr>
        </p:nvSpPr>
        <p:spPr bwMode="auto">
          <a:noFill/>
          <a:ln>
            <a:miter lim="800000"/>
            <a:headEnd/>
            <a:tailEnd/>
          </a:ln>
        </p:spPr>
        <p:txBody>
          <a:bodyPr/>
          <a:lstStyle/>
          <a:p>
            <a:fld id="{1BEE1426-3008-46FD-B480-FCF6F43920F7}" type="slidenum">
              <a:rPr lang="en-US">
                <a:latin typeface="Arial" pitchFamily="34" charset="0"/>
              </a:rPr>
              <a:pPr/>
              <a:t>43</a:t>
            </a:fld>
            <a:endParaRPr lang="en-US">
              <a:latin typeface="Arial"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10BE61E-1D89-44BC-927D-26CD384C176D}" type="datetime1">
              <a:rPr lang="en-US" smtClean="0"/>
              <a:pPr/>
              <a:t>2/7/2016</a:t>
            </a:fld>
            <a:endParaRPr lang="en-US"/>
          </a:p>
        </p:txBody>
      </p:sp>
      <p:sp>
        <p:nvSpPr>
          <p:cNvPr id="5" name="Footer Placeholder 4"/>
          <p:cNvSpPr>
            <a:spLocks noGrp="1"/>
          </p:cNvSpPr>
          <p:nvPr>
            <p:ph type="ftr" sz="quarter" idx="11"/>
          </p:nvPr>
        </p:nvSpPr>
        <p:spPr/>
        <p:txBody>
          <a:bodyPr/>
          <a:lstStyle/>
          <a:p>
            <a:r>
              <a:rPr lang="en-US" smtClean="0"/>
              <a:t>Pharmacotherapy of Arrythmia</a:t>
            </a:r>
            <a:endParaRPr lang="en-US"/>
          </a:p>
        </p:txBody>
      </p:sp>
      <p:sp>
        <p:nvSpPr>
          <p:cNvPr id="6" name="Slide Number Placeholder 5"/>
          <p:cNvSpPr>
            <a:spLocks noGrp="1"/>
          </p:cNvSpPr>
          <p:nvPr>
            <p:ph type="sldNum" sz="quarter" idx="12"/>
          </p:nvPr>
        </p:nvSpPr>
        <p:spPr/>
        <p:txBody>
          <a:bodyPr/>
          <a:lstStyle/>
          <a:p>
            <a:fld id="{10378336-832C-49E1-A40D-F05F4719695D}"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F9A62D7-AD47-45FA-9813-87AEEC092FB8}" type="datetime1">
              <a:rPr lang="en-US" smtClean="0"/>
              <a:pPr/>
              <a:t>2/7/2016</a:t>
            </a:fld>
            <a:endParaRPr lang="en-US"/>
          </a:p>
        </p:txBody>
      </p:sp>
      <p:sp>
        <p:nvSpPr>
          <p:cNvPr id="5" name="Footer Placeholder 4"/>
          <p:cNvSpPr>
            <a:spLocks noGrp="1"/>
          </p:cNvSpPr>
          <p:nvPr>
            <p:ph type="ftr" sz="quarter" idx="11"/>
          </p:nvPr>
        </p:nvSpPr>
        <p:spPr/>
        <p:txBody>
          <a:bodyPr/>
          <a:lstStyle/>
          <a:p>
            <a:r>
              <a:rPr lang="en-US" smtClean="0"/>
              <a:t>Pharmacotherapy of Arrythmia</a:t>
            </a:r>
            <a:endParaRPr lang="en-US"/>
          </a:p>
        </p:txBody>
      </p:sp>
      <p:sp>
        <p:nvSpPr>
          <p:cNvPr id="6" name="Slide Number Placeholder 5"/>
          <p:cNvSpPr>
            <a:spLocks noGrp="1"/>
          </p:cNvSpPr>
          <p:nvPr>
            <p:ph type="sldNum" sz="quarter" idx="12"/>
          </p:nvPr>
        </p:nvSpPr>
        <p:spPr/>
        <p:txBody>
          <a:bodyPr/>
          <a:lstStyle/>
          <a:p>
            <a:fld id="{10378336-832C-49E1-A40D-F05F4719695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9F020D4-18B3-4FD8-B4EF-655997BD187A}" type="datetime1">
              <a:rPr lang="en-US" smtClean="0"/>
              <a:pPr/>
              <a:t>2/7/2016</a:t>
            </a:fld>
            <a:endParaRPr lang="en-US"/>
          </a:p>
        </p:txBody>
      </p:sp>
      <p:sp>
        <p:nvSpPr>
          <p:cNvPr id="5" name="Footer Placeholder 4"/>
          <p:cNvSpPr>
            <a:spLocks noGrp="1"/>
          </p:cNvSpPr>
          <p:nvPr>
            <p:ph type="ftr" sz="quarter" idx="11"/>
          </p:nvPr>
        </p:nvSpPr>
        <p:spPr/>
        <p:txBody>
          <a:bodyPr/>
          <a:lstStyle/>
          <a:p>
            <a:r>
              <a:rPr lang="en-US" smtClean="0"/>
              <a:t>Pharmacotherapy of Arrythmia</a:t>
            </a:r>
            <a:endParaRPr lang="en-US"/>
          </a:p>
        </p:txBody>
      </p:sp>
      <p:sp>
        <p:nvSpPr>
          <p:cNvPr id="6" name="Slide Number Placeholder 5"/>
          <p:cNvSpPr>
            <a:spLocks noGrp="1"/>
          </p:cNvSpPr>
          <p:nvPr>
            <p:ph type="sldNum" sz="quarter" idx="12"/>
          </p:nvPr>
        </p:nvSpPr>
        <p:spPr/>
        <p:txBody>
          <a:bodyPr/>
          <a:lstStyle/>
          <a:p>
            <a:fld id="{10378336-832C-49E1-A40D-F05F4719695D}"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FDAA56C-685D-4770-A15C-F46E69C493CB}" type="datetime1">
              <a:rPr lang="en-US" smtClean="0"/>
              <a:pPr/>
              <a:t>2/7/2016</a:t>
            </a:fld>
            <a:endParaRPr lang="en-US"/>
          </a:p>
        </p:txBody>
      </p:sp>
      <p:sp>
        <p:nvSpPr>
          <p:cNvPr id="6" name="Footer Placeholder 5"/>
          <p:cNvSpPr>
            <a:spLocks noGrp="1"/>
          </p:cNvSpPr>
          <p:nvPr>
            <p:ph type="ftr" sz="quarter" idx="11"/>
          </p:nvPr>
        </p:nvSpPr>
        <p:spPr/>
        <p:txBody>
          <a:bodyPr/>
          <a:lstStyle/>
          <a:p>
            <a:r>
              <a:rPr lang="en-US" smtClean="0"/>
              <a:t>Pharmacotherapy of Arrythmia</a:t>
            </a:r>
            <a:endParaRPr lang="en-US"/>
          </a:p>
        </p:txBody>
      </p:sp>
      <p:sp>
        <p:nvSpPr>
          <p:cNvPr id="7" name="Slide Number Placeholder 6"/>
          <p:cNvSpPr>
            <a:spLocks noGrp="1"/>
          </p:cNvSpPr>
          <p:nvPr>
            <p:ph type="sldNum" sz="quarter" idx="12"/>
          </p:nvPr>
        </p:nvSpPr>
        <p:spPr/>
        <p:txBody>
          <a:bodyPr/>
          <a:lstStyle/>
          <a:p>
            <a:fld id="{10378336-832C-49E1-A40D-F05F4719695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DF539C3-02E8-4980-9EDD-50D9833C0873}" type="datetime1">
              <a:rPr lang="en-US" smtClean="0"/>
              <a:pPr/>
              <a:t>2/7/2016</a:t>
            </a:fld>
            <a:endParaRPr lang="en-US"/>
          </a:p>
        </p:txBody>
      </p:sp>
      <p:sp>
        <p:nvSpPr>
          <p:cNvPr id="8" name="Footer Placeholder 7"/>
          <p:cNvSpPr>
            <a:spLocks noGrp="1"/>
          </p:cNvSpPr>
          <p:nvPr>
            <p:ph type="ftr" sz="quarter" idx="11"/>
          </p:nvPr>
        </p:nvSpPr>
        <p:spPr/>
        <p:txBody>
          <a:bodyPr/>
          <a:lstStyle/>
          <a:p>
            <a:r>
              <a:rPr lang="en-US" smtClean="0"/>
              <a:t>Pharmacotherapy of Arrythmia</a:t>
            </a:r>
            <a:endParaRPr lang="en-US"/>
          </a:p>
        </p:txBody>
      </p:sp>
      <p:sp>
        <p:nvSpPr>
          <p:cNvPr id="9" name="Slide Number Placeholder 8"/>
          <p:cNvSpPr>
            <a:spLocks noGrp="1"/>
          </p:cNvSpPr>
          <p:nvPr>
            <p:ph type="sldNum" sz="quarter" idx="12"/>
          </p:nvPr>
        </p:nvSpPr>
        <p:spPr/>
        <p:txBody>
          <a:bodyPr/>
          <a:lstStyle/>
          <a:p>
            <a:fld id="{10378336-832C-49E1-A40D-F05F4719695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B518D5C-CDD2-4CA5-A1E0-0F34221E50B5}" type="datetime1">
              <a:rPr lang="en-US" smtClean="0"/>
              <a:pPr/>
              <a:t>2/7/2016</a:t>
            </a:fld>
            <a:endParaRPr lang="en-US"/>
          </a:p>
        </p:txBody>
      </p:sp>
      <p:sp>
        <p:nvSpPr>
          <p:cNvPr id="4" name="Footer Placeholder 3"/>
          <p:cNvSpPr>
            <a:spLocks noGrp="1"/>
          </p:cNvSpPr>
          <p:nvPr>
            <p:ph type="ftr" sz="quarter" idx="11"/>
          </p:nvPr>
        </p:nvSpPr>
        <p:spPr/>
        <p:txBody>
          <a:bodyPr/>
          <a:lstStyle/>
          <a:p>
            <a:r>
              <a:rPr lang="en-US" smtClean="0"/>
              <a:t>Pharmacotherapy of Arrythmia</a:t>
            </a:r>
            <a:endParaRPr lang="en-US"/>
          </a:p>
        </p:txBody>
      </p:sp>
      <p:sp>
        <p:nvSpPr>
          <p:cNvPr id="5" name="Slide Number Placeholder 4"/>
          <p:cNvSpPr>
            <a:spLocks noGrp="1"/>
          </p:cNvSpPr>
          <p:nvPr>
            <p:ph type="sldNum" sz="quarter" idx="12"/>
          </p:nvPr>
        </p:nvSpPr>
        <p:spPr/>
        <p:txBody>
          <a:bodyPr/>
          <a:lstStyle/>
          <a:p>
            <a:fld id="{10378336-832C-49E1-A40D-F05F4719695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B4C58A-8A1E-4B01-A291-C583D53B5AF2}" type="datetime1">
              <a:rPr lang="en-US" smtClean="0"/>
              <a:pPr/>
              <a:t>2/7/2016</a:t>
            </a:fld>
            <a:endParaRPr lang="en-US"/>
          </a:p>
        </p:txBody>
      </p:sp>
      <p:sp>
        <p:nvSpPr>
          <p:cNvPr id="3" name="Footer Placeholder 2"/>
          <p:cNvSpPr>
            <a:spLocks noGrp="1"/>
          </p:cNvSpPr>
          <p:nvPr>
            <p:ph type="ftr" sz="quarter" idx="11"/>
          </p:nvPr>
        </p:nvSpPr>
        <p:spPr/>
        <p:txBody>
          <a:bodyPr/>
          <a:lstStyle/>
          <a:p>
            <a:r>
              <a:rPr lang="en-US" smtClean="0"/>
              <a:t>Pharmacotherapy of Arrythmia</a:t>
            </a:r>
            <a:endParaRPr lang="en-US"/>
          </a:p>
        </p:txBody>
      </p:sp>
      <p:sp>
        <p:nvSpPr>
          <p:cNvPr id="4" name="Slide Number Placeholder 3"/>
          <p:cNvSpPr>
            <a:spLocks noGrp="1"/>
          </p:cNvSpPr>
          <p:nvPr>
            <p:ph type="sldNum" sz="quarter" idx="12"/>
          </p:nvPr>
        </p:nvSpPr>
        <p:spPr/>
        <p:txBody>
          <a:bodyPr/>
          <a:lstStyle/>
          <a:p>
            <a:fld id="{10378336-832C-49E1-A40D-F05F4719695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9B9D08F-1A14-4B52-8186-A32CE4B143B9}" type="datetime1">
              <a:rPr lang="en-US" smtClean="0"/>
              <a:pPr/>
              <a:t>2/7/2016</a:t>
            </a:fld>
            <a:endParaRPr lang="en-US"/>
          </a:p>
        </p:txBody>
      </p:sp>
      <p:sp>
        <p:nvSpPr>
          <p:cNvPr id="6" name="Footer Placeholder 5"/>
          <p:cNvSpPr>
            <a:spLocks noGrp="1"/>
          </p:cNvSpPr>
          <p:nvPr>
            <p:ph type="ftr" sz="quarter" idx="11"/>
          </p:nvPr>
        </p:nvSpPr>
        <p:spPr/>
        <p:txBody>
          <a:bodyPr/>
          <a:lstStyle/>
          <a:p>
            <a:r>
              <a:rPr lang="en-US" smtClean="0"/>
              <a:t>Pharmacotherapy of Arrythmia</a:t>
            </a:r>
            <a:endParaRPr lang="en-US"/>
          </a:p>
        </p:txBody>
      </p:sp>
      <p:sp>
        <p:nvSpPr>
          <p:cNvPr id="7" name="Slide Number Placeholder 6"/>
          <p:cNvSpPr>
            <a:spLocks noGrp="1"/>
          </p:cNvSpPr>
          <p:nvPr>
            <p:ph type="sldNum" sz="quarter" idx="12"/>
          </p:nvPr>
        </p:nvSpPr>
        <p:spPr/>
        <p:txBody>
          <a:bodyPr/>
          <a:lstStyle/>
          <a:p>
            <a:fld id="{10378336-832C-49E1-A40D-F05F4719695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7C1EC8D-AB0E-4145-8F05-6146A1453DF4}" type="datetime1">
              <a:rPr lang="en-US" smtClean="0"/>
              <a:pPr/>
              <a:t>2/7/2016</a:t>
            </a:fld>
            <a:endParaRPr lang="en-US"/>
          </a:p>
        </p:txBody>
      </p:sp>
      <p:sp>
        <p:nvSpPr>
          <p:cNvPr id="6" name="Footer Placeholder 5"/>
          <p:cNvSpPr>
            <a:spLocks noGrp="1"/>
          </p:cNvSpPr>
          <p:nvPr>
            <p:ph type="ftr" sz="quarter" idx="11"/>
          </p:nvPr>
        </p:nvSpPr>
        <p:spPr/>
        <p:txBody>
          <a:bodyPr/>
          <a:lstStyle/>
          <a:p>
            <a:r>
              <a:rPr lang="en-US" smtClean="0"/>
              <a:t>Pharmacotherapy of Arrythmia</a:t>
            </a:r>
            <a:endParaRPr lang="en-US"/>
          </a:p>
        </p:txBody>
      </p:sp>
      <p:sp>
        <p:nvSpPr>
          <p:cNvPr id="7" name="Slide Number Placeholder 6"/>
          <p:cNvSpPr>
            <a:spLocks noGrp="1"/>
          </p:cNvSpPr>
          <p:nvPr>
            <p:ph type="sldNum" sz="quarter" idx="12"/>
          </p:nvPr>
        </p:nvSpPr>
        <p:spPr/>
        <p:txBody>
          <a:bodyPr/>
          <a:lstStyle/>
          <a:p>
            <a:fld id="{10378336-832C-49E1-A40D-F05F4719695D}"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A96C19D-C816-4677-9B5D-D9EB44806E9D}" type="datetime1">
              <a:rPr lang="en-US" smtClean="0"/>
              <a:pPr/>
              <a:t>2/7/2016</a:t>
            </a:fld>
            <a:endParaRPr lang="en-US"/>
          </a:p>
        </p:txBody>
      </p:sp>
      <p:sp>
        <p:nvSpPr>
          <p:cNvPr id="5" name="Footer Placeholder 4"/>
          <p:cNvSpPr>
            <a:spLocks noGrp="1"/>
          </p:cNvSpPr>
          <p:nvPr>
            <p:ph type="ftr" sz="quarter" idx="11"/>
          </p:nvPr>
        </p:nvSpPr>
        <p:spPr/>
        <p:txBody>
          <a:bodyPr/>
          <a:lstStyle/>
          <a:p>
            <a:r>
              <a:rPr lang="en-US" smtClean="0"/>
              <a:t>Pharmacotherapy of Arrythmia</a:t>
            </a:r>
            <a:endParaRPr lang="en-US"/>
          </a:p>
        </p:txBody>
      </p:sp>
      <p:sp>
        <p:nvSpPr>
          <p:cNvPr id="6" name="Slide Number Placeholder 5"/>
          <p:cNvSpPr>
            <a:spLocks noGrp="1"/>
          </p:cNvSpPr>
          <p:nvPr>
            <p:ph type="sldNum" sz="quarter" idx="12"/>
          </p:nvPr>
        </p:nvSpPr>
        <p:spPr/>
        <p:txBody>
          <a:bodyPr/>
          <a:lstStyle/>
          <a:p>
            <a:fld id="{10378336-832C-49E1-A40D-F05F4719695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49BB192-A8CD-45D8-BD74-F26382078042}" type="datetime1">
              <a:rPr lang="en-US" smtClean="0"/>
              <a:pPr/>
              <a:t>2/7/2016</a:t>
            </a:fld>
            <a:endParaRPr lang="en-US"/>
          </a:p>
        </p:txBody>
      </p:sp>
      <p:sp>
        <p:nvSpPr>
          <p:cNvPr id="5" name="Footer Placeholder 4"/>
          <p:cNvSpPr>
            <a:spLocks noGrp="1"/>
          </p:cNvSpPr>
          <p:nvPr>
            <p:ph type="ftr" sz="quarter" idx="11"/>
          </p:nvPr>
        </p:nvSpPr>
        <p:spPr/>
        <p:txBody>
          <a:bodyPr/>
          <a:lstStyle/>
          <a:p>
            <a:r>
              <a:rPr lang="en-US" smtClean="0"/>
              <a:t>Pharmacotherapy of Arrythmia</a:t>
            </a:r>
            <a:endParaRPr lang="en-US"/>
          </a:p>
        </p:txBody>
      </p:sp>
      <p:sp>
        <p:nvSpPr>
          <p:cNvPr id="6" name="Slide Number Placeholder 5"/>
          <p:cNvSpPr>
            <a:spLocks noGrp="1"/>
          </p:cNvSpPr>
          <p:nvPr>
            <p:ph type="sldNum" sz="quarter" idx="12"/>
          </p:nvPr>
        </p:nvSpPr>
        <p:spPr/>
        <p:txBody>
          <a:bodyPr/>
          <a:lstStyle/>
          <a:p>
            <a:fld id="{10378336-832C-49E1-A40D-F05F4719695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F4305B-C9E4-43F3-B657-9AA7F961C8FA}" type="datetime1">
              <a:rPr lang="en-US" smtClean="0"/>
              <a:pPr/>
              <a:t>2/7/2016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Pharmacotherapy of Arrythmia</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378336-832C-49E1-A40D-F05F4719695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ctrTitle"/>
          </p:nvPr>
        </p:nvSpPr>
        <p:spPr/>
        <p:txBody>
          <a:bodyPr/>
          <a:lstStyle/>
          <a:p>
            <a:pPr algn="l"/>
            <a:r>
              <a:rPr lang="en-US" b="1" dirty="0" smtClean="0">
                <a:solidFill>
                  <a:srgbClr val="7030A0"/>
                </a:solidFill>
                <a:latin typeface="Tw Cen MT" pitchFamily="34" charset="0"/>
              </a:rPr>
              <a:t>          Pharmacotherapy of </a:t>
            </a:r>
            <a:br>
              <a:rPr lang="en-US" b="1" dirty="0" smtClean="0">
                <a:solidFill>
                  <a:srgbClr val="7030A0"/>
                </a:solidFill>
                <a:latin typeface="Tw Cen MT" pitchFamily="34" charset="0"/>
              </a:rPr>
            </a:br>
            <a:r>
              <a:rPr lang="en-US" b="1" dirty="0" smtClean="0">
                <a:solidFill>
                  <a:srgbClr val="7030A0"/>
                </a:solidFill>
                <a:latin typeface="Tw Cen MT" pitchFamily="34" charset="0"/>
              </a:rPr>
              <a:t>          </a:t>
            </a:r>
            <a:r>
              <a:rPr lang="en-US" b="1" dirty="0" smtClean="0">
                <a:solidFill>
                  <a:srgbClr val="FF0000"/>
                </a:solidFill>
                <a:latin typeface="Tw Cen MT" pitchFamily="34" charset="0"/>
              </a:rPr>
              <a:t>Arrhythmias</a:t>
            </a:r>
          </a:p>
        </p:txBody>
      </p:sp>
      <p:sp>
        <p:nvSpPr>
          <p:cNvPr id="16387" name="Line 37"/>
          <p:cNvSpPr>
            <a:spLocks noChangeShapeType="1"/>
          </p:cNvSpPr>
          <p:nvPr/>
        </p:nvSpPr>
        <p:spPr bwMode="auto">
          <a:xfrm>
            <a:off x="381000" y="1676400"/>
            <a:ext cx="8458200" cy="0"/>
          </a:xfrm>
          <a:prstGeom prst="line">
            <a:avLst/>
          </a:prstGeom>
          <a:noFill/>
          <a:ln w="101600">
            <a:solidFill>
              <a:srgbClr val="7030A0"/>
            </a:solidFill>
            <a:round/>
            <a:headEnd/>
            <a:tailEnd/>
          </a:ln>
          <a:effectLst>
            <a:outerShdw blurRad="50800" dist="50800" dir="5400000" algn="ctr" rotWithShape="0">
              <a:srgbClr val="FF0000"/>
            </a:outerShdw>
          </a:effectLst>
        </p:spPr>
        <p:txBody>
          <a:bodyPr/>
          <a:lstStyle/>
          <a:p>
            <a:endParaRPr lang="en-US"/>
          </a:p>
        </p:txBody>
      </p:sp>
      <p:sp>
        <p:nvSpPr>
          <p:cNvPr id="16388" name="Line 37"/>
          <p:cNvSpPr>
            <a:spLocks noChangeShapeType="1"/>
          </p:cNvSpPr>
          <p:nvPr/>
        </p:nvSpPr>
        <p:spPr bwMode="auto">
          <a:xfrm>
            <a:off x="304800" y="3886200"/>
            <a:ext cx="8458200" cy="0"/>
          </a:xfrm>
          <a:prstGeom prst="line">
            <a:avLst/>
          </a:prstGeom>
          <a:noFill/>
          <a:ln w="101600">
            <a:solidFill>
              <a:srgbClr val="7030A0"/>
            </a:solidFill>
            <a:round/>
            <a:headEnd/>
            <a:tailEnd/>
          </a:ln>
          <a:effectLst>
            <a:outerShdw blurRad="50800" dist="50800" dir="5400000" algn="ctr" rotWithShape="0">
              <a:srgbClr val="FF0000"/>
            </a:outerShdw>
          </a:effectLst>
        </p:spPr>
        <p:txBody>
          <a:bodyPr/>
          <a:lstStyle/>
          <a:p>
            <a:endParaRPr lang="en-US"/>
          </a:p>
        </p:txBody>
      </p:sp>
      <p:sp>
        <p:nvSpPr>
          <p:cNvPr id="16389" name="Rectangle 6"/>
          <p:cNvSpPr>
            <a:spLocks noChangeArrowheads="1"/>
          </p:cNvSpPr>
          <p:nvPr/>
        </p:nvSpPr>
        <p:spPr bwMode="auto">
          <a:xfrm>
            <a:off x="609600" y="4648200"/>
            <a:ext cx="8229600" cy="1477963"/>
          </a:xfrm>
          <a:prstGeom prst="rect">
            <a:avLst/>
          </a:prstGeom>
          <a:noFill/>
          <a:ln w="9525">
            <a:noFill/>
            <a:miter lim="800000"/>
            <a:headEnd/>
            <a:tailEnd/>
          </a:ln>
        </p:spPr>
        <p:txBody>
          <a:bodyPr>
            <a:spAutoFit/>
          </a:bodyPr>
          <a:lstStyle/>
          <a:p>
            <a:pPr algn="r"/>
            <a:r>
              <a:rPr lang="en-US" sz="1800" b="1" dirty="0">
                <a:solidFill>
                  <a:srgbClr val="00B050"/>
                </a:solidFill>
                <a:latin typeface="Tw Cen MT" pitchFamily="34" charset="0"/>
              </a:rPr>
              <a:t>Tessema Tsehay (B.Pharm., M.Pharm., RPh.)</a:t>
            </a:r>
          </a:p>
          <a:p>
            <a:pPr algn="r"/>
            <a:r>
              <a:rPr lang="en-US" sz="1800" b="1" dirty="0">
                <a:solidFill>
                  <a:srgbClr val="0070C0"/>
                </a:solidFill>
                <a:latin typeface="Tw Cen MT" pitchFamily="34" charset="0"/>
              </a:rPr>
              <a:t>Clinical Pharmacy and Pharmacy Practice Course Team</a:t>
            </a:r>
          </a:p>
          <a:p>
            <a:pPr algn="r"/>
            <a:r>
              <a:rPr lang="en-US" sz="1800" b="1" dirty="0">
                <a:solidFill>
                  <a:srgbClr val="FF0000"/>
                </a:solidFill>
                <a:latin typeface="Tw Cen MT" pitchFamily="34" charset="0"/>
              </a:rPr>
              <a:t>Department of Pharmacy, CHS, Mizan Tepi University</a:t>
            </a:r>
          </a:p>
          <a:p>
            <a:pPr algn="r"/>
            <a:r>
              <a:rPr lang="en-US" b="1" dirty="0" smtClean="0">
                <a:latin typeface="Tw Cen MT" pitchFamily="34" charset="0"/>
              </a:rPr>
              <a:t>Email: </a:t>
            </a:r>
            <a:r>
              <a:rPr lang="en-US" sz="1800" b="1" u="sng" dirty="0" smtClean="0">
                <a:latin typeface="Tw Cen MT" pitchFamily="34" charset="0"/>
              </a:rPr>
              <a:t>tessema.tsehay@gmail.com</a:t>
            </a:r>
            <a:endParaRPr lang="en-US" sz="1800" b="1" u="sng" dirty="0">
              <a:latin typeface="Tw Cen MT" pitchFamily="34" charset="0"/>
            </a:endParaRPr>
          </a:p>
          <a:p>
            <a:endParaRPr lang="en-US" sz="1800" dirty="0"/>
          </a:p>
        </p:txBody>
      </p:sp>
      <p:pic>
        <p:nvPicPr>
          <p:cNvPr id="8" name="Picture 7" descr="2222"/>
          <p:cNvPicPr/>
          <p:nvPr/>
        </p:nvPicPr>
        <p:blipFill>
          <a:blip r:embed="rId2" cstate="print">
            <a:lum contrast="20000"/>
          </a:blip>
          <a:srcRect l="14285" t="12000" r="14285" b="12000"/>
          <a:stretch>
            <a:fillRect/>
          </a:stretch>
        </p:blipFill>
        <p:spPr bwMode="auto">
          <a:xfrm>
            <a:off x="1143000" y="4495800"/>
            <a:ext cx="1981200" cy="1354347"/>
          </a:xfrm>
          <a:prstGeom prst="rect">
            <a:avLst/>
          </a:prstGeom>
          <a:ln w="88900" cap="sq" cmpd="thickThin">
            <a:solidFill>
              <a:srgbClr val="000000"/>
            </a:solidFill>
            <a:prstDash val="solid"/>
            <a:miter lim="800000"/>
          </a:ln>
          <a:effectLst>
            <a:innerShdw blurRad="76200">
              <a:srgbClr val="000000"/>
            </a:innerShdw>
          </a:effectLst>
        </p:spPr>
      </p:pic>
      <p:sp>
        <p:nvSpPr>
          <p:cNvPr id="7" name="Date Placeholder 6"/>
          <p:cNvSpPr>
            <a:spLocks noGrp="1"/>
          </p:cNvSpPr>
          <p:nvPr>
            <p:ph type="dt" sz="half" idx="10"/>
          </p:nvPr>
        </p:nvSpPr>
        <p:spPr/>
        <p:txBody>
          <a:bodyPr/>
          <a:lstStyle/>
          <a:p>
            <a:fld id="{CF55F4EC-9EBB-4DE0-88B2-0C3A80FC6722}" type="datetime1">
              <a:rPr lang="en-US" smtClean="0"/>
              <a:pPr/>
              <a:t>2/7/2016</a:t>
            </a:fld>
            <a:endParaRPr lang="en-US"/>
          </a:p>
        </p:txBody>
      </p:sp>
      <p:sp>
        <p:nvSpPr>
          <p:cNvPr id="9" name="Slide Number Placeholder 8"/>
          <p:cNvSpPr>
            <a:spLocks noGrp="1"/>
          </p:cNvSpPr>
          <p:nvPr>
            <p:ph type="sldNum" sz="quarter" idx="12"/>
          </p:nvPr>
        </p:nvSpPr>
        <p:spPr/>
        <p:txBody>
          <a:bodyPr/>
          <a:lstStyle/>
          <a:p>
            <a:fld id="{EE6DAC04-9DC7-4F55-BD6E-39CA8D8394CD}" type="slidenum">
              <a:rPr lang="en-US" smtClean="0"/>
              <a:pPr/>
              <a:t>1</a:t>
            </a:fld>
            <a:endParaRPr lang="en-US"/>
          </a:p>
        </p:txBody>
      </p:sp>
      <p:sp>
        <p:nvSpPr>
          <p:cNvPr id="10" name="Footer Placeholder 9"/>
          <p:cNvSpPr>
            <a:spLocks noGrp="1"/>
          </p:cNvSpPr>
          <p:nvPr>
            <p:ph type="ftr" sz="quarter" idx="11"/>
          </p:nvPr>
        </p:nvSpPr>
        <p:spPr/>
        <p:txBody>
          <a:bodyPr/>
          <a:lstStyle/>
          <a:p>
            <a:r>
              <a:rPr lang="en-US" smtClean="0"/>
              <a:t>Pharmacotherapy of Arrythmia</a:t>
            </a:r>
            <a:endParaRPr lang="en-US"/>
          </a:p>
        </p:txBody>
      </p:sp>
      <p:pic>
        <p:nvPicPr>
          <p:cNvPr id="1027" name="Picture 3"/>
          <p:cNvPicPr>
            <a:picLocks noChangeAspect="1" noChangeArrowheads="1"/>
          </p:cNvPicPr>
          <p:nvPr/>
        </p:nvPicPr>
        <p:blipFill>
          <a:blip r:embed="rId3" cstate="print"/>
          <a:srcRect/>
          <a:stretch>
            <a:fillRect/>
          </a:stretch>
        </p:blipFill>
        <p:spPr bwMode="auto">
          <a:xfrm>
            <a:off x="609600" y="2286000"/>
            <a:ext cx="1371600" cy="145288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smtClean="0">
                <a:solidFill>
                  <a:srgbClr val="FF0000"/>
                </a:solidFill>
                <a:latin typeface="Tw Cen MT" pitchFamily="34" charset="0"/>
              </a:rPr>
              <a:t>Introduction: The Heart</a:t>
            </a:r>
            <a:endParaRPr lang="en-US" b="1" dirty="0">
              <a:solidFill>
                <a:srgbClr val="FF0000"/>
              </a:solidFill>
              <a:latin typeface="Tw Cen MT" pitchFamily="34" charset="0"/>
            </a:endParaRPr>
          </a:p>
        </p:txBody>
      </p:sp>
      <p:sp>
        <p:nvSpPr>
          <p:cNvPr id="3" name="Date Placeholder 2"/>
          <p:cNvSpPr>
            <a:spLocks noGrp="1"/>
          </p:cNvSpPr>
          <p:nvPr>
            <p:ph type="dt" sz="half" idx="10"/>
          </p:nvPr>
        </p:nvSpPr>
        <p:spPr/>
        <p:txBody>
          <a:bodyPr/>
          <a:lstStyle/>
          <a:p>
            <a:fld id="{AE6799CE-1EDE-4226-986E-F66052053843}" type="datetime1">
              <a:rPr lang="en-US" smtClean="0">
                <a:latin typeface="Tw Cen MT" pitchFamily="34" charset="0"/>
              </a:rPr>
              <a:pPr/>
              <a:t>2/7/2016</a:t>
            </a:fld>
            <a:endParaRPr lang="en-US">
              <a:latin typeface="Tw Cen MT" pitchFamily="34" charset="0"/>
            </a:endParaRPr>
          </a:p>
        </p:txBody>
      </p:sp>
      <p:sp>
        <p:nvSpPr>
          <p:cNvPr id="4" name="Slide Number Placeholder 3"/>
          <p:cNvSpPr>
            <a:spLocks noGrp="1"/>
          </p:cNvSpPr>
          <p:nvPr>
            <p:ph type="sldNum" sz="quarter" idx="12"/>
          </p:nvPr>
        </p:nvSpPr>
        <p:spPr/>
        <p:txBody>
          <a:bodyPr>
            <a:normAutofit/>
          </a:bodyPr>
          <a:lstStyle/>
          <a:p>
            <a:fld id="{5BFD1995-F927-42BD-9A42-2CC717EA96E8}" type="slidenum">
              <a:rPr lang="en-US" smtClean="0">
                <a:latin typeface="Tw Cen MT" pitchFamily="34" charset="0"/>
              </a:rPr>
              <a:pPr/>
              <a:t>2</a:t>
            </a:fld>
            <a:endParaRPr lang="en-US">
              <a:latin typeface="Tw Cen MT" pitchFamily="34" charset="0"/>
            </a:endParaRPr>
          </a:p>
        </p:txBody>
      </p:sp>
      <p:sp>
        <p:nvSpPr>
          <p:cNvPr id="5" name="Content Placeholder 4"/>
          <p:cNvSpPr>
            <a:spLocks noGrp="1"/>
          </p:cNvSpPr>
          <p:nvPr>
            <p:ph sz="quarter" idx="1"/>
          </p:nvPr>
        </p:nvSpPr>
        <p:spPr>
          <a:xfrm>
            <a:off x="457200" y="1600200"/>
            <a:ext cx="8308848" cy="4800600"/>
          </a:xfrm>
        </p:spPr>
        <p:txBody>
          <a:bodyPr>
            <a:normAutofit fontScale="85000" lnSpcReduction="20000"/>
          </a:bodyPr>
          <a:lstStyle/>
          <a:p>
            <a:r>
              <a:rPr lang="en-US" dirty="0" smtClean="0">
                <a:latin typeface="Tw Cen MT" pitchFamily="34" charset="0"/>
              </a:rPr>
              <a:t>The heart has two basic properties, namely an </a:t>
            </a:r>
          </a:p>
          <a:p>
            <a:pPr lvl="1"/>
            <a:r>
              <a:rPr lang="en-US" b="1" dirty="0" smtClean="0">
                <a:latin typeface="Tw Cen MT" pitchFamily="34" charset="0"/>
              </a:rPr>
              <a:t>Electrical property </a:t>
            </a:r>
          </a:p>
          <a:p>
            <a:pPr lvl="1"/>
            <a:r>
              <a:rPr lang="en-US" b="1" dirty="0" smtClean="0">
                <a:latin typeface="Tw Cen MT" pitchFamily="34" charset="0"/>
              </a:rPr>
              <a:t>Mechanical property</a:t>
            </a:r>
          </a:p>
          <a:p>
            <a:endParaRPr lang="en-US" dirty="0" smtClean="0">
              <a:latin typeface="Tw Cen MT" pitchFamily="34" charset="0"/>
            </a:endParaRPr>
          </a:p>
          <a:p>
            <a:r>
              <a:rPr lang="en-US" dirty="0" smtClean="0">
                <a:latin typeface="Tw Cen MT" pitchFamily="34" charset="0"/>
              </a:rPr>
              <a:t>Electrical activity is initiated by the sinoatrial (SA) node and moves through cardiac tissue by a </a:t>
            </a:r>
            <a:r>
              <a:rPr lang="en-US" b="1" dirty="0" smtClean="0">
                <a:latin typeface="Tw Cen MT" pitchFamily="34" charset="0"/>
              </a:rPr>
              <a:t>tree-like conduction network.</a:t>
            </a:r>
          </a:p>
          <a:p>
            <a:endParaRPr lang="en-US" dirty="0" smtClean="0">
              <a:latin typeface="Tw Cen MT" pitchFamily="34" charset="0"/>
            </a:endParaRPr>
          </a:p>
          <a:p>
            <a:r>
              <a:rPr lang="en-US" dirty="0" smtClean="0">
                <a:latin typeface="Tw Cen MT" pitchFamily="34" charset="0"/>
              </a:rPr>
              <a:t>The </a:t>
            </a:r>
            <a:r>
              <a:rPr lang="en-US" b="1" dirty="0" smtClean="0">
                <a:latin typeface="Tw Cen MT" pitchFamily="34" charset="0"/>
              </a:rPr>
              <a:t>SA node initiates cardiac rhythm </a:t>
            </a:r>
            <a:r>
              <a:rPr lang="en-US" dirty="0" smtClean="0">
                <a:latin typeface="Tw Cen MT" pitchFamily="34" charset="0"/>
              </a:rPr>
              <a:t>under normal circumstances because this tissue possesses the highest degree of automaticity or rate of spontaneous impulse generation.</a:t>
            </a:r>
            <a:endParaRPr lang="en-US" dirty="0">
              <a:latin typeface="Tw Cen MT" pitchFamily="34" charset="0"/>
            </a:endParaRPr>
          </a:p>
        </p:txBody>
      </p:sp>
      <p:sp>
        <p:nvSpPr>
          <p:cNvPr id="6" name="Rectangle 5"/>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0F9A62D7-AD47-45FA-9813-87AEEC092FB8}" type="datetime1">
              <a:rPr lang="en-US" smtClean="0"/>
              <a:pPr/>
              <a:t>2/7/2016</a:t>
            </a:fld>
            <a:endParaRPr lang="en-US"/>
          </a:p>
        </p:txBody>
      </p:sp>
      <p:sp>
        <p:nvSpPr>
          <p:cNvPr id="5" name="Footer Placeholder 4"/>
          <p:cNvSpPr>
            <a:spLocks noGrp="1"/>
          </p:cNvSpPr>
          <p:nvPr>
            <p:ph type="ftr" sz="quarter" idx="11"/>
          </p:nvPr>
        </p:nvSpPr>
        <p:spPr/>
        <p:txBody>
          <a:bodyPr/>
          <a:lstStyle/>
          <a:p>
            <a:r>
              <a:rPr lang="en-US" smtClean="0"/>
              <a:t>Pharmacotherapy of Arrythmia</a:t>
            </a:r>
            <a:endParaRPr lang="en-US"/>
          </a:p>
        </p:txBody>
      </p:sp>
      <p:sp>
        <p:nvSpPr>
          <p:cNvPr id="6" name="Slide Number Placeholder 5"/>
          <p:cNvSpPr>
            <a:spLocks noGrp="1"/>
          </p:cNvSpPr>
          <p:nvPr>
            <p:ph type="sldNum" sz="quarter" idx="12"/>
          </p:nvPr>
        </p:nvSpPr>
        <p:spPr/>
        <p:txBody>
          <a:bodyPr/>
          <a:lstStyle/>
          <a:p>
            <a:fld id="{10378336-832C-49E1-A40D-F05F4719695D}" type="slidenum">
              <a:rPr lang="en-US" smtClean="0"/>
              <a:pPr/>
              <a:t>3</a:t>
            </a:fld>
            <a:endParaRPr lang="en-US"/>
          </a:p>
        </p:txBody>
      </p:sp>
      <p:pic>
        <p:nvPicPr>
          <p:cNvPr id="7" name="Content Placeholder 3" descr="Heart_conduction_system.jpg"/>
          <p:cNvPicPr>
            <a:picLocks noChangeAspect="1"/>
          </p:cNvPicPr>
          <p:nvPr/>
        </p:nvPicPr>
        <p:blipFill>
          <a:blip r:embed="rId2" cstate="print"/>
          <a:stretch>
            <a:fillRect/>
          </a:stretch>
        </p:blipFill>
        <p:spPr>
          <a:xfrm>
            <a:off x="0" y="0"/>
            <a:ext cx="9144000" cy="6858000"/>
          </a:xfrm>
          <a:prstGeom prst="roundRect">
            <a:avLst>
              <a:gd name="adj" fmla="val 8594"/>
            </a:avLst>
          </a:prstGeom>
          <a:solidFill>
            <a:srgbClr val="FFFFFF">
              <a:shade val="85000"/>
            </a:srgbClr>
          </a:solidFill>
          <a:effectLst>
            <a:reflection blurRad="12700" stA="38000" endPos="28000" dist="5000" dir="5400000" sy="-100000" algn="bl" rotWithShape="0"/>
          </a:effectLst>
        </p:spPr>
      </p:pic>
      <p:pic>
        <p:nvPicPr>
          <p:cNvPr id="8" name="Content Placeholder 3"/>
          <p:cNvPicPr>
            <a:picLocks/>
          </p:cNvPicPr>
          <p:nvPr/>
        </p:nvPicPr>
        <p:blipFill>
          <a:blip r:embed="rId3" cstate="print"/>
          <a:srcRect/>
          <a:stretch>
            <a:fillRect/>
          </a:stretch>
        </p:blipFill>
        <p:spPr bwMode="auto">
          <a:xfrm>
            <a:off x="0" y="0"/>
            <a:ext cx="9144000" cy="6858000"/>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1E3A7AD-7020-4081-9293-DFFB7F8563A3}" type="datetime1">
              <a:rPr lang="en-US" smtClean="0">
                <a:latin typeface="Tw Cen MT" pitchFamily="34" charset="0"/>
              </a:rPr>
              <a:pPr/>
              <a:t>2/7/2016</a:t>
            </a:fld>
            <a:endParaRPr lang="en-US">
              <a:latin typeface="Tw Cen MT" pitchFamily="34" charset="0"/>
            </a:endParaRPr>
          </a:p>
        </p:txBody>
      </p:sp>
      <p:sp>
        <p:nvSpPr>
          <p:cNvPr id="5" name="Slide Number Placeholder 4"/>
          <p:cNvSpPr>
            <a:spLocks noGrp="1"/>
          </p:cNvSpPr>
          <p:nvPr>
            <p:ph type="sldNum" sz="quarter" idx="12"/>
          </p:nvPr>
        </p:nvSpPr>
        <p:spPr/>
        <p:txBody>
          <a:bodyPr>
            <a:normAutofit/>
          </a:bodyPr>
          <a:lstStyle/>
          <a:p>
            <a:fld id="{5BFD1995-F927-42BD-9A42-2CC717EA96E8}" type="slidenum">
              <a:rPr lang="en-US" smtClean="0">
                <a:latin typeface="Tw Cen MT" pitchFamily="34" charset="0"/>
              </a:rPr>
              <a:pPr/>
              <a:t>4</a:t>
            </a:fld>
            <a:endParaRPr lang="en-US">
              <a:latin typeface="Tw Cen MT" pitchFamily="34" charset="0"/>
            </a:endParaRPr>
          </a:p>
        </p:txBody>
      </p:sp>
      <p:sp>
        <p:nvSpPr>
          <p:cNvPr id="3" name="Content Placeholder 2"/>
          <p:cNvSpPr>
            <a:spLocks noGrp="1"/>
          </p:cNvSpPr>
          <p:nvPr>
            <p:ph sz="quarter" idx="1"/>
          </p:nvPr>
        </p:nvSpPr>
        <p:spPr>
          <a:xfrm>
            <a:off x="457200" y="914400"/>
            <a:ext cx="8229600" cy="5638800"/>
          </a:xfrm>
        </p:spPr>
        <p:txBody>
          <a:bodyPr>
            <a:normAutofit fontScale="85000" lnSpcReduction="20000"/>
          </a:bodyPr>
          <a:lstStyle/>
          <a:p>
            <a:endParaRPr lang="en-US" b="1" dirty="0" smtClean="0">
              <a:solidFill>
                <a:srgbClr val="0070C0"/>
              </a:solidFill>
              <a:latin typeface="Tw Cen MT" pitchFamily="34" charset="0"/>
            </a:endParaRPr>
          </a:p>
          <a:p>
            <a:endParaRPr lang="en-US" b="1" dirty="0" smtClean="0">
              <a:latin typeface="Tw Cen MT" pitchFamily="34" charset="0"/>
            </a:endParaRPr>
          </a:p>
          <a:p>
            <a:r>
              <a:rPr lang="en-US" b="1" dirty="0" smtClean="0">
                <a:latin typeface="Tw Cen MT" pitchFamily="34" charset="0"/>
              </a:rPr>
              <a:t>Automaticity</a:t>
            </a:r>
            <a:endParaRPr lang="en-US" b="1" dirty="0" smtClean="0">
              <a:solidFill>
                <a:srgbClr val="0070C0"/>
              </a:solidFill>
              <a:latin typeface="Tw Cen MT" pitchFamily="34" charset="0"/>
            </a:endParaRPr>
          </a:p>
          <a:p>
            <a:pPr lvl="1"/>
            <a:r>
              <a:rPr lang="en-US" dirty="0" smtClean="0">
                <a:latin typeface="Tw Cen MT" pitchFamily="34" charset="0"/>
              </a:rPr>
              <a:t>ability to  generate an electrical impulse spontaneously &amp; repetitively</a:t>
            </a:r>
          </a:p>
          <a:p>
            <a:r>
              <a:rPr lang="en-US" b="1" dirty="0" smtClean="0">
                <a:latin typeface="Tw Cen MT" pitchFamily="34" charset="0"/>
              </a:rPr>
              <a:t>Excitability</a:t>
            </a:r>
          </a:p>
          <a:p>
            <a:pPr lvl="1"/>
            <a:r>
              <a:rPr lang="en-US" dirty="0" smtClean="0">
                <a:latin typeface="Tw Cen MT" pitchFamily="34" charset="0"/>
              </a:rPr>
              <a:t>ability to be electrically stimulated or respond to an electrical stimulus</a:t>
            </a:r>
          </a:p>
          <a:p>
            <a:r>
              <a:rPr lang="en-US" b="1" dirty="0" smtClean="0">
                <a:latin typeface="Tw Cen MT" pitchFamily="34" charset="0"/>
              </a:rPr>
              <a:t>Conductivity</a:t>
            </a:r>
          </a:p>
          <a:p>
            <a:pPr lvl="1"/>
            <a:r>
              <a:rPr lang="en-US" dirty="0" smtClean="0">
                <a:latin typeface="Tw Cen MT" pitchFamily="34" charset="0"/>
              </a:rPr>
              <a:t>ability to receive an electrical stimulus and transmit to other cardiac cells</a:t>
            </a:r>
          </a:p>
          <a:p>
            <a:r>
              <a:rPr lang="en-US" b="1" dirty="0" smtClean="0">
                <a:latin typeface="Tw Cen MT" pitchFamily="34" charset="0"/>
              </a:rPr>
              <a:t>Contractility/rhythmicity</a:t>
            </a:r>
            <a:endParaRPr lang="en-US" dirty="0" smtClean="0">
              <a:latin typeface="Tw Cen MT" pitchFamily="34" charset="0"/>
            </a:endParaRPr>
          </a:p>
          <a:p>
            <a:pPr lvl="1"/>
            <a:r>
              <a:rPr lang="en-US" dirty="0" smtClean="0">
                <a:latin typeface="Tw Cen MT" pitchFamily="34" charset="0"/>
              </a:rPr>
              <a:t>the ability to shorten and cause contraction in response to an electrical stimulus-coordination of contraction to produce a regular heartbeat</a:t>
            </a:r>
          </a:p>
          <a:p>
            <a:endParaRPr lang="en-US" dirty="0">
              <a:latin typeface="Tw Cen MT" pitchFamily="34" charset="0"/>
            </a:endParaRPr>
          </a:p>
        </p:txBody>
      </p:sp>
      <p:sp>
        <p:nvSpPr>
          <p:cNvPr id="6" name="Rectangle 5"/>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7" name="Title 6"/>
          <p:cNvSpPr>
            <a:spLocks noGrp="1"/>
          </p:cNvSpPr>
          <p:nvPr>
            <p:ph type="title"/>
          </p:nvPr>
        </p:nvSpPr>
        <p:spPr/>
        <p:txBody>
          <a:bodyPr/>
          <a:lstStyle/>
          <a:p>
            <a:pPr algn="l"/>
            <a:r>
              <a:rPr lang="en-US" b="1" dirty="0" smtClean="0">
                <a:solidFill>
                  <a:srgbClr val="FF0000"/>
                </a:solidFill>
                <a:latin typeface="Tw Cen MT" pitchFamily="34" charset="0"/>
              </a:rPr>
              <a:t>Characteristics of Cardiac Muscle</a:t>
            </a:r>
            <a:endParaRPr lang="en-US" b="1" dirty="0">
              <a:solidFill>
                <a:srgbClr val="FF0000"/>
              </a:solidFill>
              <a:latin typeface="Tw Cen MT" pitchFamily="34" charset="0"/>
            </a:endParaRP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E6799CE-1EDE-4226-986E-F66052053843}" type="datetime1">
              <a:rPr lang="en-US" smtClean="0">
                <a:latin typeface="Tw Cen MT" pitchFamily="34" charset="0"/>
              </a:rPr>
              <a:pPr/>
              <a:t>2/7/2016</a:t>
            </a:fld>
            <a:endParaRPr lang="en-US">
              <a:latin typeface="Tw Cen MT" pitchFamily="34" charset="0"/>
            </a:endParaRPr>
          </a:p>
        </p:txBody>
      </p:sp>
      <p:sp>
        <p:nvSpPr>
          <p:cNvPr id="5" name="Slide Number Placeholder 4"/>
          <p:cNvSpPr>
            <a:spLocks noGrp="1"/>
          </p:cNvSpPr>
          <p:nvPr>
            <p:ph type="sldNum" sz="quarter" idx="12"/>
          </p:nvPr>
        </p:nvSpPr>
        <p:spPr/>
        <p:txBody>
          <a:bodyPr>
            <a:normAutofit/>
          </a:bodyPr>
          <a:lstStyle/>
          <a:p>
            <a:fld id="{5BFD1995-F927-42BD-9A42-2CC717EA96E8}" type="slidenum">
              <a:rPr lang="en-US" smtClean="0">
                <a:latin typeface="Tw Cen MT" pitchFamily="34" charset="0"/>
              </a:rPr>
              <a:pPr/>
              <a:t>5</a:t>
            </a:fld>
            <a:endParaRPr lang="en-US">
              <a:latin typeface="Tw Cen MT" pitchFamily="34" charset="0"/>
            </a:endParaRPr>
          </a:p>
        </p:txBody>
      </p:sp>
      <p:sp>
        <p:nvSpPr>
          <p:cNvPr id="3" name="Content Placeholder 2"/>
          <p:cNvSpPr>
            <a:spLocks noGrp="1"/>
          </p:cNvSpPr>
          <p:nvPr>
            <p:ph sz="quarter" idx="1"/>
          </p:nvPr>
        </p:nvSpPr>
        <p:spPr>
          <a:xfrm>
            <a:off x="457200" y="1143000"/>
            <a:ext cx="8458200" cy="4983163"/>
          </a:xfrm>
        </p:spPr>
        <p:txBody>
          <a:bodyPr>
            <a:normAutofit lnSpcReduction="10000"/>
          </a:bodyPr>
          <a:lstStyle/>
          <a:p>
            <a:pPr>
              <a:buNone/>
            </a:pPr>
            <a:endParaRPr lang="en-US" b="1" dirty="0" smtClean="0">
              <a:latin typeface="Tw Cen MT" pitchFamily="34" charset="0"/>
            </a:endParaRPr>
          </a:p>
          <a:p>
            <a:pPr>
              <a:buNone/>
            </a:pPr>
            <a:r>
              <a:rPr lang="en-US" sz="3200" b="1" dirty="0" smtClean="0">
                <a:solidFill>
                  <a:srgbClr val="6600FF"/>
                </a:solidFill>
                <a:latin typeface="Tw Cen MT" pitchFamily="34" charset="0"/>
              </a:rPr>
              <a:t>Automaticity</a:t>
            </a:r>
          </a:p>
          <a:p>
            <a:r>
              <a:rPr lang="en-US" sz="3200" b="1" dirty="0" smtClean="0">
                <a:latin typeface="Tw Cen MT" pitchFamily="34" charset="0"/>
              </a:rPr>
              <a:t>SA nodal cells: </a:t>
            </a:r>
            <a:r>
              <a:rPr lang="en-US" sz="3200" dirty="0" smtClean="0">
                <a:latin typeface="Tw Cen MT" pitchFamily="34" charset="0"/>
              </a:rPr>
              <a:t>Highest intrinsic rate, primary pacemaker of the heart (</a:t>
            </a:r>
            <a:r>
              <a:rPr lang="en-US" dirty="0" smtClean="0">
                <a:latin typeface="Tw Cen MT" pitchFamily="34" charset="0"/>
              </a:rPr>
              <a:t>100</a:t>
            </a:r>
            <a:r>
              <a:rPr lang="en-US" sz="3200" dirty="0" smtClean="0">
                <a:latin typeface="Tw Cen MT" pitchFamily="34" charset="0"/>
              </a:rPr>
              <a:t>-120/min)</a:t>
            </a:r>
          </a:p>
          <a:p>
            <a:endParaRPr lang="en-US" sz="3200" dirty="0" smtClean="0">
              <a:solidFill>
                <a:srgbClr val="0070C0"/>
              </a:solidFill>
              <a:latin typeface="Tw Cen MT" pitchFamily="34" charset="0"/>
            </a:endParaRPr>
          </a:p>
          <a:p>
            <a:r>
              <a:rPr lang="en-US" sz="3200" b="1" dirty="0" smtClean="0">
                <a:latin typeface="Tw Cen MT" pitchFamily="34" charset="0"/>
              </a:rPr>
              <a:t>AV nodal cell: </a:t>
            </a:r>
            <a:r>
              <a:rPr lang="en-US" sz="3200" dirty="0" smtClean="0">
                <a:latin typeface="Tw Cen MT" pitchFamily="34" charset="0"/>
              </a:rPr>
              <a:t>Second highest intrinsic rate, secondary pacemaker of the heart (40-60/min)</a:t>
            </a:r>
          </a:p>
          <a:p>
            <a:endParaRPr lang="en-US" sz="3200" dirty="0" smtClean="0">
              <a:solidFill>
                <a:srgbClr val="0070C0"/>
              </a:solidFill>
              <a:latin typeface="Tw Cen MT" pitchFamily="34" charset="0"/>
            </a:endParaRPr>
          </a:p>
          <a:p>
            <a:r>
              <a:rPr lang="en-US" sz="3200" b="1" dirty="0" smtClean="0">
                <a:latin typeface="Tw Cen MT" pitchFamily="34" charset="0"/>
              </a:rPr>
              <a:t>Purkinje cells: </a:t>
            </a:r>
            <a:r>
              <a:rPr lang="en-US" sz="3200" dirty="0" smtClean="0">
                <a:latin typeface="Tw Cen MT" pitchFamily="34" charset="0"/>
              </a:rPr>
              <a:t>Slowest intrinsic rate (30-40/min)</a:t>
            </a:r>
          </a:p>
          <a:p>
            <a:endParaRPr lang="en-US" b="1" dirty="0">
              <a:latin typeface="Tw Cen MT" pitchFamily="34" charset="0"/>
            </a:endParaRPr>
          </a:p>
        </p:txBody>
      </p:sp>
      <p:sp>
        <p:nvSpPr>
          <p:cNvPr id="6" name="Rectangle 5"/>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7" name="Title 6"/>
          <p:cNvSpPr>
            <a:spLocks noGrp="1"/>
          </p:cNvSpPr>
          <p:nvPr>
            <p:ph type="title"/>
          </p:nvPr>
        </p:nvSpPr>
        <p:spPr/>
        <p:txBody>
          <a:bodyPr/>
          <a:lstStyle/>
          <a:p>
            <a:pPr algn="l"/>
            <a:r>
              <a:rPr lang="en-US" b="1" dirty="0" smtClean="0">
                <a:solidFill>
                  <a:srgbClr val="FF0000"/>
                </a:solidFill>
                <a:latin typeface="Tw Cen MT" pitchFamily="34" charset="0"/>
              </a:rPr>
              <a:t>Cont…</a:t>
            </a:r>
            <a:endParaRPr lang="en-US" dirty="0"/>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3F6F211-4E3F-4923-B1BA-E45B55E030D4}" type="datetime1">
              <a:rPr lang="en-US" smtClean="0">
                <a:latin typeface="Tw Cen MT" pitchFamily="34" charset="0"/>
              </a:rPr>
              <a:pPr/>
              <a:t>2/7/2016</a:t>
            </a:fld>
            <a:endParaRPr lang="en-US">
              <a:latin typeface="Tw Cen MT" pitchFamily="34" charset="0"/>
            </a:endParaRPr>
          </a:p>
        </p:txBody>
      </p:sp>
      <p:sp>
        <p:nvSpPr>
          <p:cNvPr id="5" name="Slide Number Placeholder 4"/>
          <p:cNvSpPr>
            <a:spLocks noGrp="1"/>
          </p:cNvSpPr>
          <p:nvPr>
            <p:ph type="sldNum" sz="quarter" idx="12"/>
          </p:nvPr>
        </p:nvSpPr>
        <p:spPr/>
        <p:txBody>
          <a:bodyPr>
            <a:normAutofit/>
          </a:bodyPr>
          <a:lstStyle/>
          <a:p>
            <a:fld id="{5BFD1995-F927-42BD-9A42-2CC717EA96E8}" type="slidenum">
              <a:rPr lang="en-US" smtClean="0">
                <a:latin typeface="Tw Cen MT" pitchFamily="34" charset="0"/>
              </a:rPr>
              <a:pPr/>
              <a:t>6</a:t>
            </a:fld>
            <a:endParaRPr lang="en-US">
              <a:latin typeface="Tw Cen MT" pitchFamily="34" charset="0"/>
            </a:endParaRPr>
          </a:p>
        </p:txBody>
      </p:sp>
      <p:sp>
        <p:nvSpPr>
          <p:cNvPr id="3" name="Content Placeholder 2"/>
          <p:cNvSpPr>
            <a:spLocks noGrp="1"/>
          </p:cNvSpPr>
          <p:nvPr>
            <p:ph sz="quarter" idx="1"/>
          </p:nvPr>
        </p:nvSpPr>
        <p:spPr>
          <a:xfrm>
            <a:off x="457200" y="914400"/>
            <a:ext cx="8229600" cy="5562600"/>
          </a:xfrm>
        </p:spPr>
        <p:txBody>
          <a:bodyPr>
            <a:normAutofit/>
          </a:bodyPr>
          <a:lstStyle/>
          <a:p>
            <a:endParaRPr lang="en-US" dirty="0" smtClean="0">
              <a:latin typeface="Tw Cen MT" pitchFamily="34" charset="0"/>
            </a:endParaRPr>
          </a:p>
          <a:p>
            <a:r>
              <a:rPr lang="en-US" sz="3200" b="1" dirty="0" smtClean="0">
                <a:solidFill>
                  <a:srgbClr val="6600FF"/>
                </a:solidFill>
                <a:latin typeface="Tw Cen MT" pitchFamily="34" charset="0"/>
              </a:rPr>
              <a:t>Electrical Conduction System of the Heart</a:t>
            </a:r>
            <a:endParaRPr lang="en-US" dirty="0" smtClean="0">
              <a:solidFill>
                <a:srgbClr val="6600FF"/>
              </a:solidFill>
              <a:latin typeface="Tw Cen MT" pitchFamily="34" charset="0"/>
            </a:endParaRPr>
          </a:p>
          <a:p>
            <a:pPr lvl="1"/>
            <a:r>
              <a:rPr lang="en-US" dirty="0" smtClean="0">
                <a:latin typeface="Tw Cen MT" pitchFamily="34" charset="0"/>
              </a:rPr>
              <a:t>The heart is supplied with an electrical conduction system that generates and conducts electrical impulses along specialized pathways. </a:t>
            </a:r>
          </a:p>
          <a:p>
            <a:pPr lvl="1"/>
            <a:endParaRPr lang="en-US" dirty="0" smtClean="0">
              <a:latin typeface="Tw Cen MT" pitchFamily="34" charset="0"/>
            </a:endParaRPr>
          </a:p>
          <a:p>
            <a:pPr lvl="1"/>
            <a:r>
              <a:rPr lang="en-US" b="1" dirty="0" smtClean="0">
                <a:latin typeface="Tw Cen MT" pitchFamily="34" charset="0"/>
              </a:rPr>
              <a:t>Normal conduction pathway</a:t>
            </a:r>
          </a:p>
          <a:p>
            <a:pPr lvl="2"/>
            <a:r>
              <a:rPr lang="en-US" dirty="0" smtClean="0">
                <a:latin typeface="Tw Cen MT" pitchFamily="34" charset="0"/>
              </a:rPr>
              <a:t>SA node               internodal pathway                 AV node             bundle of His               Left and Right Bundle Branches                   purkinji fibers</a:t>
            </a:r>
          </a:p>
          <a:p>
            <a:endParaRPr lang="en-US" dirty="0">
              <a:latin typeface="Tw Cen MT" pitchFamily="34" charset="0"/>
            </a:endParaRPr>
          </a:p>
        </p:txBody>
      </p:sp>
      <p:sp>
        <p:nvSpPr>
          <p:cNvPr id="6" name="Right Arrow 5"/>
          <p:cNvSpPr/>
          <p:nvPr/>
        </p:nvSpPr>
        <p:spPr>
          <a:xfrm>
            <a:off x="3048000" y="4572000"/>
            <a:ext cx="762000" cy="228600"/>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7" name="Right Arrow 6"/>
          <p:cNvSpPr/>
          <p:nvPr/>
        </p:nvSpPr>
        <p:spPr>
          <a:xfrm>
            <a:off x="6477000" y="4572000"/>
            <a:ext cx="762000" cy="228600"/>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8" name="Right Arrow 7"/>
          <p:cNvSpPr/>
          <p:nvPr/>
        </p:nvSpPr>
        <p:spPr>
          <a:xfrm>
            <a:off x="2362200" y="4953000"/>
            <a:ext cx="749808" cy="228600"/>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9" name="Right Arrow 8"/>
          <p:cNvSpPr/>
          <p:nvPr/>
        </p:nvSpPr>
        <p:spPr>
          <a:xfrm>
            <a:off x="5257800" y="4953000"/>
            <a:ext cx="762000" cy="228600"/>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10" name="Right Arrow 9"/>
          <p:cNvSpPr/>
          <p:nvPr/>
        </p:nvSpPr>
        <p:spPr>
          <a:xfrm>
            <a:off x="3962400" y="5334000"/>
            <a:ext cx="978408" cy="228600"/>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11" name="Rectangle 10"/>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12" name="Title 11"/>
          <p:cNvSpPr>
            <a:spLocks noGrp="1"/>
          </p:cNvSpPr>
          <p:nvPr>
            <p:ph type="title"/>
          </p:nvPr>
        </p:nvSpPr>
        <p:spPr/>
        <p:txBody>
          <a:bodyPr/>
          <a:lstStyle/>
          <a:p>
            <a:pPr algn="l"/>
            <a:r>
              <a:rPr lang="en-US" b="1" dirty="0" smtClean="0">
                <a:solidFill>
                  <a:srgbClr val="FF0000"/>
                </a:solidFill>
                <a:latin typeface="Tw Cen MT" pitchFamily="34" charset="0"/>
              </a:rPr>
              <a:t>Cont…</a:t>
            </a:r>
            <a:endParaRPr lang="en-US" dirty="0"/>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D01F908-D634-4CB8-97F1-27D4D83D5790}" type="datetime1">
              <a:rPr lang="en-US" smtClean="0">
                <a:latin typeface="Tw Cen MT" pitchFamily="34" charset="0"/>
              </a:rPr>
              <a:pPr/>
              <a:t>2/7/2016</a:t>
            </a:fld>
            <a:endParaRPr lang="en-US">
              <a:latin typeface="Tw Cen MT" pitchFamily="34" charset="0"/>
            </a:endParaRPr>
          </a:p>
        </p:txBody>
      </p:sp>
      <p:sp>
        <p:nvSpPr>
          <p:cNvPr id="5" name="Slide Number Placeholder 4"/>
          <p:cNvSpPr>
            <a:spLocks noGrp="1"/>
          </p:cNvSpPr>
          <p:nvPr>
            <p:ph type="sldNum" sz="quarter" idx="12"/>
          </p:nvPr>
        </p:nvSpPr>
        <p:spPr/>
        <p:txBody>
          <a:bodyPr>
            <a:normAutofit/>
          </a:bodyPr>
          <a:lstStyle/>
          <a:p>
            <a:fld id="{5BFD1995-F927-42BD-9A42-2CC717EA96E8}" type="slidenum">
              <a:rPr lang="en-US" smtClean="0">
                <a:latin typeface="Tw Cen MT" pitchFamily="34" charset="0"/>
              </a:rPr>
              <a:pPr/>
              <a:t>7</a:t>
            </a:fld>
            <a:endParaRPr lang="en-US">
              <a:latin typeface="Tw Cen MT" pitchFamily="34" charset="0"/>
            </a:endParaRPr>
          </a:p>
        </p:txBody>
      </p:sp>
      <p:sp>
        <p:nvSpPr>
          <p:cNvPr id="3" name="Content Placeholder 2"/>
          <p:cNvSpPr>
            <a:spLocks noGrp="1"/>
          </p:cNvSpPr>
          <p:nvPr>
            <p:ph sz="quarter" idx="1"/>
          </p:nvPr>
        </p:nvSpPr>
        <p:spPr>
          <a:xfrm>
            <a:off x="457200" y="1752600"/>
            <a:ext cx="8229600" cy="4343400"/>
          </a:xfrm>
        </p:spPr>
        <p:txBody>
          <a:bodyPr>
            <a:normAutofit/>
          </a:bodyPr>
          <a:lstStyle/>
          <a:p>
            <a:pPr>
              <a:defRPr/>
            </a:pPr>
            <a:r>
              <a:rPr lang="en-US" sz="2800" dirty="0" smtClean="0">
                <a:latin typeface="Tw Cen MT" pitchFamily="34" charset="0"/>
              </a:rPr>
              <a:t>Momentary change in the electrical charge stored on the surface of a cell. </a:t>
            </a:r>
          </a:p>
          <a:p>
            <a:pPr>
              <a:defRPr/>
            </a:pPr>
            <a:r>
              <a:rPr lang="en-US" sz="2800" dirty="0" smtClean="0">
                <a:latin typeface="Tw Cen MT" pitchFamily="34" charset="0"/>
              </a:rPr>
              <a:t>It is a cyclic of depolarization and repolarization</a:t>
            </a:r>
          </a:p>
          <a:p>
            <a:pPr>
              <a:defRPr/>
            </a:pPr>
            <a:r>
              <a:rPr lang="en-GB" sz="2800" dirty="0" smtClean="0">
                <a:latin typeface="Tw Cen MT" pitchFamily="34" charset="0"/>
              </a:rPr>
              <a:t>Resting state - K</a:t>
            </a:r>
            <a:r>
              <a:rPr lang="en-GB" sz="2800" baseline="30000" dirty="0" smtClean="0">
                <a:latin typeface="Tw Cen MT" pitchFamily="34" charset="0"/>
              </a:rPr>
              <a:t>+ </a:t>
            </a:r>
            <a:r>
              <a:rPr lang="en-GB" sz="2800" dirty="0" smtClean="0">
                <a:latin typeface="Tw Cen MT" pitchFamily="34" charset="0"/>
              </a:rPr>
              <a:t>inside and Na</a:t>
            </a:r>
            <a:r>
              <a:rPr lang="en-GB" sz="2800" baseline="30000" dirty="0" smtClean="0">
                <a:latin typeface="Tw Cen MT" pitchFamily="34" charset="0"/>
              </a:rPr>
              <a:t>+</a:t>
            </a:r>
            <a:r>
              <a:rPr lang="en-GB" sz="2800" dirty="0" smtClean="0">
                <a:latin typeface="Tw Cen MT" pitchFamily="34" charset="0"/>
              </a:rPr>
              <a:t> outside cell (Na</a:t>
            </a:r>
            <a:r>
              <a:rPr lang="en-GB" sz="2800" baseline="30000" dirty="0" smtClean="0">
                <a:latin typeface="Tw Cen MT" pitchFamily="34" charset="0"/>
              </a:rPr>
              <a:t>+</a:t>
            </a:r>
            <a:r>
              <a:rPr lang="en-GB" sz="2800" dirty="0" smtClean="0">
                <a:latin typeface="Tw Cen MT" pitchFamily="34" charset="0"/>
              </a:rPr>
              <a:t>/K</a:t>
            </a:r>
            <a:r>
              <a:rPr lang="en-GB" sz="2800" baseline="30000" dirty="0" smtClean="0">
                <a:latin typeface="Tw Cen MT" pitchFamily="34" charset="0"/>
              </a:rPr>
              <a:t>+ </a:t>
            </a:r>
            <a:r>
              <a:rPr lang="en-GB" sz="2800" dirty="0" smtClean="0">
                <a:latin typeface="Tw Cen MT" pitchFamily="34" charset="0"/>
              </a:rPr>
              <a:t>pump)</a:t>
            </a:r>
          </a:p>
          <a:p>
            <a:pPr>
              <a:defRPr/>
            </a:pPr>
            <a:r>
              <a:rPr lang="en-GB" sz="2800" dirty="0" smtClean="0">
                <a:latin typeface="Tw Cen MT" pitchFamily="34" charset="0"/>
              </a:rPr>
              <a:t>AP occurs when Na</a:t>
            </a:r>
            <a:r>
              <a:rPr lang="en-GB" sz="2800" baseline="30000" dirty="0" smtClean="0">
                <a:latin typeface="Tw Cen MT" pitchFamily="34" charset="0"/>
              </a:rPr>
              <a:t>+</a:t>
            </a:r>
            <a:r>
              <a:rPr lang="en-GB" sz="2800" dirty="0" smtClean="0">
                <a:latin typeface="Tw Cen MT" pitchFamily="34" charset="0"/>
              </a:rPr>
              <a:t> enters the cell and sets up a depolarising current</a:t>
            </a:r>
          </a:p>
          <a:p>
            <a:endParaRPr lang="en-US" sz="2800" dirty="0">
              <a:latin typeface="Tw Cen MT" pitchFamily="34" charset="0"/>
            </a:endParaRPr>
          </a:p>
        </p:txBody>
      </p:sp>
      <p:sp>
        <p:nvSpPr>
          <p:cNvPr id="6" name="Rectangle 5"/>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7" name="Title 6"/>
          <p:cNvSpPr>
            <a:spLocks noGrp="1"/>
          </p:cNvSpPr>
          <p:nvPr>
            <p:ph type="title"/>
          </p:nvPr>
        </p:nvSpPr>
        <p:spPr/>
        <p:txBody>
          <a:bodyPr>
            <a:normAutofit fontScale="90000"/>
          </a:bodyPr>
          <a:lstStyle/>
          <a:p>
            <a:pPr algn="l"/>
            <a:r>
              <a:rPr lang="en-US" b="1" dirty="0" smtClean="0">
                <a:solidFill>
                  <a:srgbClr val="FF0000"/>
                </a:solidFill>
                <a:latin typeface="Tw Cen MT" pitchFamily="34" charset="0"/>
              </a:rPr>
              <a:t/>
            </a:r>
            <a:br>
              <a:rPr lang="en-US" b="1" dirty="0" smtClean="0">
                <a:solidFill>
                  <a:srgbClr val="FF0000"/>
                </a:solidFill>
                <a:latin typeface="Tw Cen MT" pitchFamily="34" charset="0"/>
              </a:rPr>
            </a:br>
            <a:r>
              <a:rPr lang="en-US" b="1" dirty="0" smtClean="0">
                <a:solidFill>
                  <a:srgbClr val="6600FF"/>
                </a:solidFill>
                <a:latin typeface="Tw Cen MT" pitchFamily="34" charset="0"/>
              </a:rPr>
              <a:t>Action potential </a:t>
            </a:r>
            <a:br>
              <a:rPr lang="en-US" b="1" dirty="0" smtClean="0">
                <a:solidFill>
                  <a:srgbClr val="6600FF"/>
                </a:solidFill>
                <a:latin typeface="Tw Cen MT" pitchFamily="34" charset="0"/>
              </a:rPr>
            </a:br>
            <a:endParaRPr lang="en-US" dirty="0">
              <a:latin typeface="Tw Cen MT" pitchFamily="34" charset="0"/>
            </a:endParaRP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457200" y="228600"/>
            <a:ext cx="8308975" cy="1143000"/>
          </a:xfrm>
        </p:spPr>
        <p:txBody>
          <a:bodyPr>
            <a:normAutofit/>
          </a:bodyPr>
          <a:lstStyle/>
          <a:p>
            <a:pPr algn="l" eaLnBrk="1" hangingPunct="1"/>
            <a:r>
              <a:rPr lang="en-US" sz="3600" b="1" dirty="0" smtClean="0">
                <a:solidFill>
                  <a:srgbClr val="6600FF"/>
                </a:solidFill>
                <a:latin typeface="Tw Cen MT" pitchFamily="34" charset="0"/>
              </a:rPr>
              <a:t>Phases of Action Potential</a:t>
            </a:r>
          </a:p>
        </p:txBody>
      </p:sp>
      <p:sp>
        <p:nvSpPr>
          <p:cNvPr id="10243" name="Content Placeholder 2"/>
          <p:cNvSpPr>
            <a:spLocks noGrp="1"/>
          </p:cNvSpPr>
          <p:nvPr>
            <p:ph sz="quarter" idx="1"/>
          </p:nvPr>
        </p:nvSpPr>
        <p:spPr>
          <a:xfrm>
            <a:off x="457201" y="1752600"/>
            <a:ext cx="8153399" cy="4343400"/>
          </a:xfrm>
        </p:spPr>
        <p:txBody>
          <a:bodyPr>
            <a:noAutofit/>
          </a:bodyPr>
          <a:lstStyle/>
          <a:p>
            <a:pPr>
              <a:lnSpc>
                <a:spcPct val="80000"/>
              </a:lnSpc>
            </a:pPr>
            <a:r>
              <a:rPr lang="en-US" sz="2400" dirty="0" smtClean="0">
                <a:latin typeface="Tw Cen MT" pitchFamily="34" charset="0"/>
              </a:rPr>
              <a:t>The action potential can be described in </a:t>
            </a:r>
            <a:r>
              <a:rPr lang="en-US" sz="2400" b="1" dirty="0" smtClean="0">
                <a:latin typeface="Tw Cen MT" pitchFamily="34" charset="0"/>
              </a:rPr>
              <a:t>five</a:t>
            </a:r>
            <a:r>
              <a:rPr lang="en-US" sz="2400" dirty="0" smtClean="0">
                <a:latin typeface="Tw Cen MT" pitchFamily="34" charset="0"/>
              </a:rPr>
              <a:t> phases.</a:t>
            </a:r>
            <a:endParaRPr lang="en-US" sz="2400" b="1" dirty="0" smtClean="0">
              <a:latin typeface="Tw Cen MT" pitchFamily="34" charset="0"/>
              <a:cs typeface="Times New Roman" pitchFamily="18" charset="0"/>
            </a:endParaRPr>
          </a:p>
          <a:p>
            <a:pPr eaLnBrk="1" hangingPunct="1">
              <a:lnSpc>
                <a:spcPct val="80000"/>
              </a:lnSpc>
            </a:pPr>
            <a:r>
              <a:rPr lang="en-US" sz="2400" b="1" dirty="0" smtClean="0">
                <a:latin typeface="Tw Cen MT" pitchFamily="34" charset="0"/>
                <a:cs typeface="Times New Roman" pitchFamily="18" charset="0"/>
              </a:rPr>
              <a:t>Phase 0</a:t>
            </a:r>
          </a:p>
          <a:p>
            <a:pPr lvl="1" eaLnBrk="1" hangingPunct="1">
              <a:lnSpc>
                <a:spcPct val="80000"/>
              </a:lnSpc>
            </a:pPr>
            <a:r>
              <a:rPr lang="en-US" sz="2400" dirty="0" smtClean="0">
                <a:latin typeface="Tw Cen MT" pitchFamily="34" charset="0"/>
                <a:cs typeface="Times New Roman" pitchFamily="18" charset="0"/>
              </a:rPr>
              <a:t>rapid depolarization in response to influx of sodium ions</a:t>
            </a:r>
          </a:p>
          <a:p>
            <a:pPr lvl="1" eaLnBrk="1" hangingPunct="1">
              <a:lnSpc>
                <a:spcPct val="80000"/>
              </a:lnSpc>
            </a:pPr>
            <a:r>
              <a:rPr lang="en-US" sz="2400" dirty="0" smtClean="0">
                <a:latin typeface="Tw Cen MT" pitchFamily="34" charset="0"/>
                <a:cs typeface="Times New Roman" pitchFamily="18" charset="0"/>
              </a:rPr>
              <a:t>determines the velocity of impulse conduction</a:t>
            </a:r>
          </a:p>
          <a:p>
            <a:pPr lvl="1" eaLnBrk="1" hangingPunct="1">
              <a:lnSpc>
                <a:spcPct val="80000"/>
              </a:lnSpc>
            </a:pPr>
            <a:r>
              <a:rPr lang="en-US" sz="2400" dirty="0" smtClean="0">
                <a:latin typeface="Tw Cen MT" pitchFamily="34" charset="0"/>
                <a:cs typeface="Times New Roman" pitchFamily="18" charset="0"/>
              </a:rPr>
              <a:t>Drugs that decrease the rate of phase 0 depolarization (by blocking sodium channels) </a:t>
            </a:r>
          </a:p>
          <a:p>
            <a:pPr lvl="2" eaLnBrk="1" hangingPunct="1">
              <a:lnSpc>
                <a:spcPct val="80000"/>
              </a:lnSpc>
            </a:pPr>
            <a:r>
              <a:rPr lang="en-US" dirty="0" smtClean="0">
                <a:latin typeface="Tw Cen MT" pitchFamily="34" charset="0"/>
                <a:cs typeface="Times New Roman" pitchFamily="18" charset="0"/>
              </a:rPr>
              <a:t>slow impulse conduction though the His-Purkinje system and myocardium</a:t>
            </a:r>
            <a:endParaRPr lang="en-US" sz="2400" b="1" dirty="0" smtClean="0">
              <a:latin typeface="Tw Cen MT" pitchFamily="34" charset="0"/>
              <a:cs typeface="Times New Roman" pitchFamily="18" charset="0"/>
            </a:endParaRPr>
          </a:p>
          <a:p>
            <a:r>
              <a:rPr lang="en-US" sz="2400" b="1" dirty="0" smtClean="0">
                <a:latin typeface="Tw Cen MT" pitchFamily="34" charset="0"/>
                <a:cs typeface="Times New Roman" pitchFamily="18" charset="0"/>
              </a:rPr>
              <a:t>Phase 1</a:t>
            </a:r>
          </a:p>
          <a:p>
            <a:pPr lvl="1"/>
            <a:r>
              <a:rPr lang="en-US" sz="2400" dirty="0" smtClean="0">
                <a:latin typeface="Tw Cen MT" pitchFamily="34" charset="0"/>
                <a:cs typeface="Times New Roman" pitchFamily="18" charset="0"/>
              </a:rPr>
              <a:t>rapid (but partial) repolarization takes place</a:t>
            </a:r>
          </a:p>
          <a:p>
            <a:pPr lvl="1"/>
            <a:r>
              <a:rPr lang="en-US" sz="2400" dirty="0" smtClean="0">
                <a:latin typeface="Tw Cen MT" pitchFamily="34" charset="0"/>
                <a:cs typeface="Times New Roman" pitchFamily="18" charset="0"/>
              </a:rPr>
              <a:t>has no relevance to antidysrhythmic drugs</a:t>
            </a:r>
          </a:p>
          <a:p>
            <a:pPr lvl="2" eaLnBrk="1" hangingPunct="1">
              <a:lnSpc>
                <a:spcPct val="80000"/>
              </a:lnSpc>
            </a:pPr>
            <a:endParaRPr lang="en-US" dirty="0" smtClean="0">
              <a:latin typeface="Tw Cen MT" pitchFamily="34" charset="0"/>
            </a:endParaRPr>
          </a:p>
          <a:p>
            <a:pPr eaLnBrk="1" hangingPunct="1">
              <a:lnSpc>
                <a:spcPct val="80000"/>
              </a:lnSpc>
            </a:pPr>
            <a:endParaRPr lang="en-US" sz="2400" dirty="0" smtClean="0">
              <a:latin typeface="Tw Cen MT" pitchFamily="34" charset="0"/>
            </a:endParaRPr>
          </a:p>
        </p:txBody>
      </p:sp>
      <p:sp>
        <p:nvSpPr>
          <p:cNvPr id="10244" name="Date Placeholder 3"/>
          <p:cNvSpPr>
            <a:spLocks noGrp="1"/>
          </p:cNvSpPr>
          <p:nvPr>
            <p:ph type="dt" sz="quarter" idx="10"/>
          </p:nvPr>
        </p:nvSpPr>
        <p:spPr bwMode="auto">
          <a:noFill/>
          <a:ln>
            <a:miter lim="800000"/>
            <a:headEnd/>
            <a:tailEnd/>
          </a:ln>
        </p:spPr>
        <p:txBody>
          <a:bodyPr/>
          <a:lstStyle/>
          <a:p>
            <a:fld id="{A27CE2BF-6AB3-4C48-8164-8245FECE2C22}" type="datetime1">
              <a:rPr lang="en-US">
                <a:latin typeface="Tw Cen MT" pitchFamily="34" charset="0"/>
              </a:rPr>
              <a:pPr/>
              <a:t>2/7/2016</a:t>
            </a:fld>
            <a:endParaRPr lang="en-US">
              <a:latin typeface="Tw Cen MT" pitchFamily="34" charset="0"/>
            </a:endParaRPr>
          </a:p>
        </p:txBody>
      </p:sp>
      <p:sp>
        <p:nvSpPr>
          <p:cNvPr id="10245" name="Slide Number Placeholder 4"/>
          <p:cNvSpPr>
            <a:spLocks noGrp="1"/>
          </p:cNvSpPr>
          <p:nvPr>
            <p:ph type="sldNum" sz="quarter" idx="12"/>
          </p:nvPr>
        </p:nvSpPr>
        <p:spPr bwMode="auto">
          <a:noFill/>
          <a:ln>
            <a:miter lim="800000"/>
            <a:headEnd/>
            <a:tailEnd/>
          </a:ln>
        </p:spPr>
        <p:txBody>
          <a:bodyPr/>
          <a:lstStyle/>
          <a:p>
            <a:pPr>
              <a:lnSpc>
                <a:spcPct val="80000"/>
              </a:lnSpc>
            </a:pPr>
            <a:fld id="{30487F73-3710-4782-AAB4-26C7691C1B73}" type="slidenum">
              <a:rPr lang="en-US" sz="1200">
                <a:latin typeface="Tw Cen MT" pitchFamily="34" charset="0"/>
              </a:rPr>
              <a:pPr>
                <a:lnSpc>
                  <a:spcPct val="80000"/>
                </a:lnSpc>
              </a:pPr>
              <a:t>8</a:t>
            </a:fld>
            <a:endParaRPr lang="en-US" sz="1200">
              <a:latin typeface="Tw Cen MT" pitchFamily="34" charset="0"/>
            </a:endParaRPr>
          </a:p>
        </p:txBody>
      </p:sp>
      <p:sp>
        <p:nvSpPr>
          <p:cNvPr id="6" name="Footer Placeholder 5"/>
          <p:cNvSpPr>
            <a:spLocks noGrp="1"/>
          </p:cNvSpPr>
          <p:nvPr>
            <p:ph type="ftr" sz="quarter" idx="11"/>
          </p:nvPr>
        </p:nvSpPr>
        <p:spPr/>
        <p:txBody>
          <a:bodyPr/>
          <a:lstStyle/>
          <a:p>
            <a:pPr>
              <a:defRPr/>
            </a:pPr>
            <a:r>
              <a:rPr lang="en-US">
                <a:latin typeface="Tw Cen MT" pitchFamily="34" charset="0"/>
              </a:rPr>
              <a:t>Cardiac arrhythmia</a:t>
            </a:r>
          </a:p>
        </p:txBody>
      </p:sp>
      <p:sp>
        <p:nvSpPr>
          <p:cNvPr id="7" name="Rectangle 6"/>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457200" y="228600"/>
            <a:ext cx="8308975" cy="1143000"/>
          </a:xfrm>
        </p:spPr>
        <p:txBody>
          <a:bodyPr>
            <a:normAutofit/>
          </a:bodyPr>
          <a:lstStyle/>
          <a:p>
            <a:pPr algn="l" eaLnBrk="1" hangingPunct="1"/>
            <a:r>
              <a:rPr lang="en-US" sz="4000" b="1" dirty="0" smtClean="0">
                <a:solidFill>
                  <a:srgbClr val="FF0000"/>
                </a:solidFill>
                <a:latin typeface="Tw Cen MT" pitchFamily="34" charset="0"/>
              </a:rPr>
              <a:t>Cont…</a:t>
            </a:r>
          </a:p>
        </p:txBody>
      </p:sp>
      <p:sp>
        <p:nvSpPr>
          <p:cNvPr id="10243" name="Content Placeholder 2"/>
          <p:cNvSpPr>
            <a:spLocks noGrp="1"/>
          </p:cNvSpPr>
          <p:nvPr>
            <p:ph sz="quarter" idx="1"/>
          </p:nvPr>
        </p:nvSpPr>
        <p:spPr>
          <a:xfrm>
            <a:off x="457201" y="1752600"/>
            <a:ext cx="8153399" cy="4343400"/>
          </a:xfrm>
        </p:spPr>
        <p:txBody>
          <a:bodyPr>
            <a:noAutofit/>
          </a:bodyPr>
          <a:lstStyle/>
          <a:p>
            <a:r>
              <a:rPr lang="en-US" sz="2400" b="1" dirty="0" smtClean="0">
                <a:latin typeface="Tw Cen MT" pitchFamily="34" charset="0"/>
                <a:cs typeface="Times New Roman" pitchFamily="18" charset="0"/>
              </a:rPr>
              <a:t>Phase 2</a:t>
            </a:r>
          </a:p>
          <a:p>
            <a:pPr lvl="1"/>
            <a:r>
              <a:rPr lang="en-US" sz="2400" dirty="0" smtClean="0">
                <a:latin typeface="Tw Cen MT" pitchFamily="34" charset="0"/>
                <a:cs typeface="Times New Roman" pitchFamily="18" charset="0"/>
              </a:rPr>
              <a:t>consists of a prolonged plateau in which the membrane potential remains relatively stable</a:t>
            </a:r>
          </a:p>
          <a:p>
            <a:pPr lvl="1"/>
            <a:r>
              <a:rPr lang="en-US" sz="2400" dirty="0" smtClean="0">
                <a:latin typeface="Tw Cen MT" pitchFamily="34" charset="0"/>
                <a:cs typeface="Times New Roman" pitchFamily="18" charset="0"/>
              </a:rPr>
              <a:t>calcium enters the cell and promotes contraction of atrial and ventricular muscle</a:t>
            </a:r>
          </a:p>
          <a:p>
            <a:pPr lvl="1"/>
            <a:r>
              <a:rPr lang="en-US" sz="2400" dirty="0" smtClean="0">
                <a:latin typeface="Tw Cen MT" pitchFamily="34" charset="0"/>
                <a:cs typeface="Times New Roman" pitchFamily="18" charset="0"/>
              </a:rPr>
              <a:t>Drugs that reduce calcium entry during phase 2 do not influence cardiac rhythm </a:t>
            </a:r>
          </a:p>
          <a:p>
            <a:pPr lvl="2"/>
            <a:r>
              <a:rPr lang="en-US" dirty="0" smtClean="0">
                <a:latin typeface="Tw Cen MT" pitchFamily="34" charset="0"/>
                <a:cs typeface="Times New Roman" pitchFamily="18" charset="0"/>
              </a:rPr>
              <a:t>can reduce myocardial contractility</a:t>
            </a:r>
          </a:p>
          <a:p>
            <a:pPr eaLnBrk="1" hangingPunct="1">
              <a:lnSpc>
                <a:spcPct val="80000"/>
              </a:lnSpc>
            </a:pPr>
            <a:endParaRPr lang="en-US" sz="2400" dirty="0" smtClean="0">
              <a:latin typeface="Tw Cen MT" pitchFamily="34" charset="0"/>
            </a:endParaRPr>
          </a:p>
        </p:txBody>
      </p:sp>
      <p:sp>
        <p:nvSpPr>
          <p:cNvPr id="10244" name="Date Placeholder 3"/>
          <p:cNvSpPr>
            <a:spLocks noGrp="1"/>
          </p:cNvSpPr>
          <p:nvPr>
            <p:ph type="dt" sz="quarter" idx="10"/>
          </p:nvPr>
        </p:nvSpPr>
        <p:spPr bwMode="auto">
          <a:noFill/>
          <a:ln>
            <a:miter lim="800000"/>
            <a:headEnd/>
            <a:tailEnd/>
          </a:ln>
        </p:spPr>
        <p:txBody>
          <a:bodyPr/>
          <a:lstStyle/>
          <a:p>
            <a:fld id="{A27CE2BF-6AB3-4C48-8164-8245FECE2C22}" type="datetime1">
              <a:rPr lang="en-US">
                <a:latin typeface="Tw Cen MT" pitchFamily="34" charset="0"/>
              </a:rPr>
              <a:pPr/>
              <a:t>2/7/2016</a:t>
            </a:fld>
            <a:endParaRPr lang="en-US">
              <a:latin typeface="Tw Cen MT" pitchFamily="34" charset="0"/>
            </a:endParaRPr>
          </a:p>
        </p:txBody>
      </p:sp>
      <p:sp>
        <p:nvSpPr>
          <p:cNvPr id="10245" name="Slide Number Placeholder 4"/>
          <p:cNvSpPr>
            <a:spLocks noGrp="1"/>
          </p:cNvSpPr>
          <p:nvPr>
            <p:ph type="sldNum" sz="quarter" idx="12"/>
          </p:nvPr>
        </p:nvSpPr>
        <p:spPr bwMode="auto">
          <a:noFill/>
          <a:ln>
            <a:miter lim="800000"/>
            <a:headEnd/>
            <a:tailEnd/>
          </a:ln>
        </p:spPr>
        <p:txBody>
          <a:bodyPr/>
          <a:lstStyle/>
          <a:p>
            <a:pPr>
              <a:lnSpc>
                <a:spcPct val="80000"/>
              </a:lnSpc>
            </a:pPr>
            <a:fld id="{30487F73-3710-4782-AAB4-26C7691C1B73}" type="slidenum">
              <a:rPr lang="en-US" sz="1200">
                <a:latin typeface="Tw Cen MT" pitchFamily="34" charset="0"/>
              </a:rPr>
              <a:pPr>
                <a:lnSpc>
                  <a:spcPct val="80000"/>
                </a:lnSpc>
              </a:pPr>
              <a:t>9</a:t>
            </a:fld>
            <a:endParaRPr lang="en-US" sz="1200">
              <a:latin typeface="Tw Cen MT" pitchFamily="34" charset="0"/>
            </a:endParaRPr>
          </a:p>
        </p:txBody>
      </p:sp>
      <p:sp>
        <p:nvSpPr>
          <p:cNvPr id="6" name="Footer Placeholder 5"/>
          <p:cNvSpPr>
            <a:spLocks noGrp="1"/>
          </p:cNvSpPr>
          <p:nvPr>
            <p:ph type="ftr" sz="quarter" idx="11"/>
          </p:nvPr>
        </p:nvSpPr>
        <p:spPr/>
        <p:txBody>
          <a:bodyPr/>
          <a:lstStyle/>
          <a:p>
            <a:pPr>
              <a:defRPr/>
            </a:pPr>
            <a:r>
              <a:rPr lang="en-US">
                <a:latin typeface="Tw Cen MT" pitchFamily="34" charset="0"/>
              </a:rPr>
              <a:t>Cardiac arrhythmia</a:t>
            </a:r>
          </a:p>
        </p:txBody>
      </p:sp>
      <p:sp>
        <p:nvSpPr>
          <p:cNvPr id="7" name="Rectangle 6"/>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612775" y="228600"/>
            <a:ext cx="8153400" cy="990600"/>
          </a:xfrm>
        </p:spPr>
        <p:txBody>
          <a:bodyPr>
            <a:normAutofit fontScale="90000"/>
          </a:bodyPr>
          <a:lstStyle/>
          <a:p>
            <a:pPr eaLnBrk="1" hangingPunct="1"/>
            <a:r>
              <a:rPr lang="en-US" sz="3600" dirty="0" smtClean="0">
                <a:latin typeface="Tw Cen MT" pitchFamily="34" charset="0"/>
              </a:rPr>
              <a:t/>
            </a:r>
            <a:br>
              <a:rPr lang="en-US" sz="3600" dirty="0" smtClean="0">
                <a:latin typeface="Tw Cen MT" pitchFamily="34" charset="0"/>
              </a:rPr>
            </a:br>
            <a:endParaRPr lang="en-US" sz="3600" dirty="0" smtClean="0">
              <a:latin typeface="Tw Cen MT" pitchFamily="34" charset="0"/>
            </a:endParaRPr>
          </a:p>
        </p:txBody>
      </p:sp>
      <p:sp>
        <p:nvSpPr>
          <p:cNvPr id="12291" name="Content Placeholder 2"/>
          <p:cNvSpPr>
            <a:spLocks noGrp="1"/>
          </p:cNvSpPr>
          <p:nvPr>
            <p:ph sz="quarter" idx="1"/>
          </p:nvPr>
        </p:nvSpPr>
        <p:spPr>
          <a:xfrm>
            <a:off x="457200" y="1600200"/>
            <a:ext cx="8308975" cy="4495800"/>
          </a:xfrm>
        </p:spPr>
        <p:txBody>
          <a:bodyPr>
            <a:noAutofit/>
          </a:bodyPr>
          <a:lstStyle/>
          <a:p>
            <a:pPr eaLnBrk="1" hangingPunct="1"/>
            <a:r>
              <a:rPr lang="en-US" sz="2000" b="1" dirty="0" smtClean="0">
                <a:latin typeface="Tw Cen MT" pitchFamily="34" charset="0"/>
                <a:cs typeface="Times New Roman" pitchFamily="18" charset="0"/>
              </a:rPr>
              <a:t>Phase 3</a:t>
            </a:r>
          </a:p>
          <a:p>
            <a:pPr lvl="1" eaLnBrk="1" hangingPunct="1"/>
            <a:r>
              <a:rPr lang="en-US" sz="2000" dirty="0" smtClean="0">
                <a:latin typeface="Tw Cen MT" pitchFamily="34" charset="0"/>
                <a:cs typeface="Times New Roman" pitchFamily="18" charset="0"/>
              </a:rPr>
              <a:t>rapid repolarization takes place</a:t>
            </a:r>
          </a:p>
          <a:p>
            <a:pPr lvl="1" eaLnBrk="1" hangingPunct="1"/>
            <a:r>
              <a:rPr lang="en-US" sz="2000" dirty="0" smtClean="0">
                <a:latin typeface="Tw Cen MT" pitchFamily="34" charset="0"/>
                <a:cs typeface="Times New Roman" pitchFamily="18" charset="0"/>
              </a:rPr>
              <a:t>extrusion of potassium from the cell</a:t>
            </a:r>
          </a:p>
          <a:p>
            <a:pPr lvl="1" eaLnBrk="1" hangingPunct="1"/>
            <a:r>
              <a:rPr lang="en-US" sz="2000" dirty="0" smtClean="0">
                <a:latin typeface="Tw Cen MT" pitchFamily="34" charset="0"/>
                <a:cs typeface="Times New Roman" pitchFamily="18" charset="0"/>
              </a:rPr>
              <a:t>relevant in that delay of repolarization prolongs the action potential duration, and </a:t>
            </a:r>
          </a:p>
          <a:p>
            <a:pPr lvl="1" eaLnBrk="1" hangingPunct="1"/>
            <a:r>
              <a:rPr lang="en-US" sz="2000" dirty="0" smtClean="0">
                <a:latin typeface="Tw Cen MT" pitchFamily="34" charset="0"/>
                <a:cs typeface="Times New Roman" pitchFamily="18" charset="0"/>
              </a:rPr>
              <a:t>thereby prolongs the effective refractory period (ERP)</a:t>
            </a:r>
          </a:p>
          <a:p>
            <a:pPr lvl="1" eaLnBrk="1" hangingPunct="1"/>
            <a:r>
              <a:rPr lang="en-US" sz="2000" dirty="0" smtClean="0">
                <a:latin typeface="Tw Cen MT" pitchFamily="34" charset="0"/>
                <a:cs typeface="Times New Roman" pitchFamily="18" charset="0"/>
              </a:rPr>
              <a:t>ERP is the time during which a cell is unable to respond to excitation and initiate a new action potential</a:t>
            </a:r>
          </a:p>
          <a:p>
            <a:pPr eaLnBrk="1" hangingPunct="1"/>
            <a:r>
              <a:rPr lang="en-US" sz="2000" b="1" dirty="0" smtClean="0">
                <a:latin typeface="Tw Cen MT" pitchFamily="34" charset="0"/>
                <a:cs typeface="Times New Roman" pitchFamily="18" charset="0"/>
              </a:rPr>
              <a:t>Phase 4</a:t>
            </a:r>
          </a:p>
          <a:p>
            <a:pPr lvl="1" eaLnBrk="1" hangingPunct="1"/>
            <a:r>
              <a:rPr lang="en-US" sz="2000" dirty="0" smtClean="0">
                <a:latin typeface="Tw Cen MT" pitchFamily="34" charset="0"/>
                <a:cs typeface="Times New Roman" pitchFamily="18" charset="0"/>
              </a:rPr>
              <a:t>two types of electrical activity are possible: </a:t>
            </a:r>
          </a:p>
          <a:p>
            <a:pPr lvl="2"/>
            <a:r>
              <a:rPr lang="en-US" sz="2000" dirty="0" smtClean="0">
                <a:latin typeface="Tw Cen MT" pitchFamily="34" charset="0"/>
                <a:cs typeface="Times New Roman" pitchFamily="18" charset="0"/>
              </a:rPr>
              <a:t>the membrane potential may remain stable or </a:t>
            </a:r>
          </a:p>
          <a:p>
            <a:pPr lvl="2"/>
            <a:r>
              <a:rPr lang="en-US" sz="2000" dirty="0" smtClean="0">
                <a:latin typeface="Tw Cen MT" pitchFamily="34" charset="0"/>
                <a:cs typeface="Times New Roman" pitchFamily="18" charset="0"/>
              </a:rPr>
              <a:t>the membrane may undergo spontaneous depolarization </a:t>
            </a:r>
          </a:p>
          <a:p>
            <a:pPr eaLnBrk="1" hangingPunct="1"/>
            <a:endParaRPr lang="en-US" sz="2000" dirty="0" smtClean="0">
              <a:latin typeface="Tw Cen MT" pitchFamily="34" charset="0"/>
            </a:endParaRPr>
          </a:p>
        </p:txBody>
      </p:sp>
      <p:sp>
        <p:nvSpPr>
          <p:cNvPr id="12292" name="Date Placeholder 3"/>
          <p:cNvSpPr>
            <a:spLocks noGrp="1"/>
          </p:cNvSpPr>
          <p:nvPr>
            <p:ph type="dt" sz="quarter" idx="10"/>
          </p:nvPr>
        </p:nvSpPr>
        <p:spPr bwMode="auto">
          <a:noFill/>
          <a:ln>
            <a:miter lim="800000"/>
            <a:headEnd/>
            <a:tailEnd/>
          </a:ln>
        </p:spPr>
        <p:txBody>
          <a:bodyPr/>
          <a:lstStyle/>
          <a:p>
            <a:fld id="{15C61000-682F-49CF-A4A3-73ADBB7D2C9F}" type="datetime1">
              <a:rPr lang="en-US">
                <a:latin typeface="Tw Cen MT" pitchFamily="34" charset="0"/>
              </a:rPr>
              <a:pPr/>
              <a:t>2/7/2016</a:t>
            </a:fld>
            <a:endParaRPr lang="en-US">
              <a:latin typeface="Tw Cen MT" pitchFamily="34" charset="0"/>
            </a:endParaRPr>
          </a:p>
        </p:txBody>
      </p:sp>
      <p:sp>
        <p:nvSpPr>
          <p:cNvPr id="12293" name="Slide Number Placeholder 4"/>
          <p:cNvSpPr>
            <a:spLocks noGrp="1"/>
          </p:cNvSpPr>
          <p:nvPr>
            <p:ph type="sldNum" sz="quarter" idx="12"/>
          </p:nvPr>
        </p:nvSpPr>
        <p:spPr bwMode="auto">
          <a:noFill/>
          <a:ln>
            <a:miter lim="800000"/>
            <a:headEnd/>
            <a:tailEnd/>
          </a:ln>
        </p:spPr>
        <p:txBody>
          <a:bodyPr/>
          <a:lstStyle/>
          <a:p>
            <a:pPr>
              <a:lnSpc>
                <a:spcPct val="80000"/>
              </a:lnSpc>
            </a:pPr>
            <a:fld id="{AE30E3E8-D002-432F-9FB6-48500006C8FA}" type="slidenum">
              <a:rPr lang="en-US" sz="1200">
                <a:latin typeface="Tw Cen MT" pitchFamily="34" charset="0"/>
              </a:rPr>
              <a:pPr>
                <a:lnSpc>
                  <a:spcPct val="80000"/>
                </a:lnSpc>
              </a:pPr>
              <a:t>10</a:t>
            </a:fld>
            <a:endParaRPr lang="en-US" sz="1200">
              <a:latin typeface="Tw Cen MT" pitchFamily="34" charset="0"/>
            </a:endParaRPr>
          </a:p>
        </p:txBody>
      </p:sp>
      <p:sp>
        <p:nvSpPr>
          <p:cNvPr id="6" name="Footer Placeholder 5"/>
          <p:cNvSpPr>
            <a:spLocks noGrp="1"/>
          </p:cNvSpPr>
          <p:nvPr>
            <p:ph type="ftr" sz="quarter" idx="11"/>
          </p:nvPr>
        </p:nvSpPr>
        <p:spPr/>
        <p:txBody>
          <a:bodyPr/>
          <a:lstStyle/>
          <a:p>
            <a:pPr>
              <a:defRPr/>
            </a:pPr>
            <a:r>
              <a:rPr lang="en-US">
                <a:latin typeface="Tw Cen MT" pitchFamily="34" charset="0"/>
              </a:rPr>
              <a:t>Cardiac arrhythmia</a:t>
            </a:r>
          </a:p>
        </p:txBody>
      </p:sp>
      <p:sp>
        <p:nvSpPr>
          <p:cNvPr id="7" name="Rectangle 6"/>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8" name="Title 1"/>
          <p:cNvSpPr txBox="1">
            <a:spLocks/>
          </p:cNvSpPr>
          <p:nvPr/>
        </p:nvSpPr>
        <p:spPr>
          <a:xfrm>
            <a:off x="457200" y="228600"/>
            <a:ext cx="8308975" cy="1143000"/>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4000" b="1" i="0" u="none" strike="noStrike" kern="1200" cap="none" spc="0" normalizeH="0" baseline="0" noProof="0" smtClean="0">
                <a:ln>
                  <a:noFill/>
                </a:ln>
                <a:solidFill>
                  <a:srgbClr val="FF0000"/>
                </a:solidFill>
                <a:effectLst/>
                <a:uLnTx/>
                <a:uFillTx/>
                <a:latin typeface="Tw Cen MT" pitchFamily="34" charset="0"/>
                <a:ea typeface="+mj-ea"/>
                <a:cs typeface="+mj-cs"/>
              </a:rPr>
              <a:t>Cont…</a:t>
            </a:r>
            <a:endParaRPr kumimoji="0" lang="en-US" sz="4000" b="1" i="0" u="none" strike="noStrike" kern="1200" cap="none" spc="0" normalizeH="0" baseline="0" noProof="0" dirty="0" smtClean="0">
              <a:ln>
                <a:noFill/>
              </a:ln>
              <a:solidFill>
                <a:srgbClr val="FF0000"/>
              </a:solidFill>
              <a:effectLst/>
              <a:uLnTx/>
              <a:uFillTx/>
              <a:latin typeface="Tw Cen MT" pitchFamily="34" charset="0"/>
              <a:ea typeface="+mj-ea"/>
              <a:cs typeface="+mj-cs"/>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Date Placeholder 28"/>
          <p:cNvSpPr>
            <a:spLocks noGrp="1"/>
          </p:cNvSpPr>
          <p:nvPr>
            <p:ph type="dt" sz="half" idx="10"/>
          </p:nvPr>
        </p:nvSpPr>
        <p:spPr/>
        <p:txBody>
          <a:bodyPr/>
          <a:lstStyle/>
          <a:p>
            <a:fld id="{7132192E-C4B7-4FA6-AA6F-19C2DA9D7422}" type="datetime1">
              <a:rPr lang="en-US" smtClean="0">
                <a:latin typeface="Tw Cen MT" pitchFamily="34" charset="0"/>
              </a:rPr>
              <a:pPr/>
              <a:t>2/7/2016</a:t>
            </a:fld>
            <a:endParaRPr lang="en-US">
              <a:latin typeface="Tw Cen MT" pitchFamily="34" charset="0"/>
            </a:endParaRPr>
          </a:p>
        </p:txBody>
      </p:sp>
      <p:sp>
        <p:nvSpPr>
          <p:cNvPr id="30" name="Slide Number Placeholder 29"/>
          <p:cNvSpPr>
            <a:spLocks noGrp="1"/>
          </p:cNvSpPr>
          <p:nvPr>
            <p:ph type="sldNum" sz="quarter" idx="12"/>
          </p:nvPr>
        </p:nvSpPr>
        <p:spPr/>
        <p:txBody>
          <a:bodyPr>
            <a:normAutofit/>
          </a:bodyPr>
          <a:lstStyle/>
          <a:p>
            <a:fld id="{5BFD1995-F927-42BD-9A42-2CC717EA96E8}" type="slidenum">
              <a:rPr lang="en-US" smtClean="0">
                <a:latin typeface="Tw Cen MT" pitchFamily="34" charset="0"/>
              </a:rPr>
              <a:pPr/>
              <a:t>11</a:t>
            </a:fld>
            <a:endParaRPr lang="en-US">
              <a:latin typeface="Tw Cen MT" pitchFamily="34" charset="0"/>
            </a:endParaRPr>
          </a:p>
        </p:txBody>
      </p:sp>
      <p:pic>
        <p:nvPicPr>
          <p:cNvPr id="1026" name="Picture 2"/>
          <p:cNvPicPr>
            <a:picLocks noChangeAspect="1" noChangeArrowheads="1"/>
          </p:cNvPicPr>
          <p:nvPr/>
        </p:nvPicPr>
        <p:blipFill>
          <a:blip r:embed="rId2" cstate="print">
            <a:lum contrast="53000"/>
          </a:blip>
          <a:srcRect/>
          <a:stretch>
            <a:fillRect/>
          </a:stretch>
        </p:blipFill>
        <p:spPr bwMode="auto">
          <a:xfrm>
            <a:off x="685800" y="1828800"/>
            <a:ext cx="8077200" cy="4419600"/>
          </a:xfrm>
          <a:prstGeom prst="rect">
            <a:avLst/>
          </a:prstGeom>
          <a:noFill/>
          <a:ln w="9525">
            <a:noFill/>
            <a:miter lim="800000"/>
            <a:headEnd/>
            <a:tailEnd/>
          </a:ln>
        </p:spPr>
      </p:pic>
      <p:sp>
        <p:nvSpPr>
          <p:cNvPr id="11" name="Rectangle 10"/>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381000" y="609600"/>
            <a:ext cx="6781800" cy="769441"/>
          </a:xfrm>
          <a:prstGeom prst="rect">
            <a:avLst/>
          </a:prstGeom>
        </p:spPr>
        <p:txBody>
          <a:bodyPr wrap="square">
            <a:spAutoFit/>
          </a:bodyPr>
          <a:lstStyle/>
          <a:p>
            <a:r>
              <a:rPr lang="en-GB" sz="4400" b="1" dirty="0" smtClean="0">
                <a:solidFill>
                  <a:srgbClr val="FF0000"/>
                </a:solidFill>
                <a:latin typeface="Tw Cen MT" pitchFamily="34" charset="0"/>
              </a:rPr>
              <a:t>Cont...</a:t>
            </a:r>
          </a:p>
        </p:txBody>
      </p:sp>
      <p:pic>
        <p:nvPicPr>
          <p:cNvPr id="7" name="Picture 2" descr="C:\Users\Acer\Downloads\ECG Pics\ActionPotential.png"/>
          <p:cNvPicPr>
            <a:picLocks noChangeAspect="1" noChangeArrowheads="1"/>
          </p:cNvPicPr>
          <p:nvPr/>
        </p:nvPicPr>
        <p:blipFill>
          <a:blip r:embed="rId3" cstate="print"/>
          <a:srcRect/>
          <a:stretch>
            <a:fillRect/>
          </a:stretch>
        </p:blipFill>
        <p:spPr bwMode="auto">
          <a:xfrm>
            <a:off x="304800" y="1752600"/>
            <a:ext cx="8077200" cy="4929188"/>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4EF2035-6D8C-41E2-A953-652610D9A545}" type="datetime1">
              <a:rPr lang="en-US" smtClean="0">
                <a:latin typeface="Tw Cen MT" pitchFamily="34" charset="0"/>
              </a:rPr>
              <a:pPr/>
              <a:t>2/7/2016</a:t>
            </a:fld>
            <a:endParaRPr lang="en-US">
              <a:latin typeface="Tw Cen MT" pitchFamily="34" charset="0"/>
            </a:endParaRPr>
          </a:p>
        </p:txBody>
      </p:sp>
      <p:sp>
        <p:nvSpPr>
          <p:cNvPr id="5" name="Slide Number Placeholder 4"/>
          <p:cNvSpPr>
            <a:spLocks noGrp="1"/>
          </p:cNvSpPr>
          <p:nvPr>
            <p:ph type="sldNum" sz="quarter" idx="12"/>
          </p:nvPr>
        </p:nvSpPr>
        <p:spPr/>
        <p:txBody>
          <a:bodyPr>
            <a:normAutofit/>
          </a:bodyPr>
          <a:lstStyle/>
          <a:p>
            <a:fld id="{5BFD1995-F927-42BD-9A42-2CC717EA96E8}" type="slidenum">
              <a:rPr lang="en-US" smtClean="0">
                <a:latin typeface="Tw Cen MT" pitchFamily="34" charset="0"/>
              </a:rPr>
              <a:pPr/>
              <a:t>12</a:t>
            </a:fld>
            <a:endParaRPr lang="en-US">
              <a:latin typeface="Tw Cen MT" pitchFamily="34" charset="0"/>
            </a:endParaRPr>
          </a:p>
        </p:txBody>
      </p:sp>
      <p:sp>
        <p:nvSpPr>
          <p:cNvPr id="3" name="Content Placeholder 2"/>
          <p:cNvSpPr>
            <a:spLocks noGrp="1"/>
          </p:cNvSpPr>
          <p:nvPr>
            <p:ph sz="quarter" idx="1"/>
          </p:nvPr>
        </p:nvSpPr>
        <p:spPr>
          <a:xfrm>
            <a:off x="457200" y="1752600"/>
            <a:ext cx="8229600" cy="4800600"/>
          </a:xfrm>
        </p:spPr>
        <p:txBody>
          <a:bodyPr>
            <a:noAutofit/>
          </a:bodyPr>
          <a:lstStyle/>
          <a:p>
            <a:r>
              <a:rPr lang="en-GB" sz="2000" b="1" dirty="0" smtClean="0">
                <a:latin typeface="Tw Cen MT" pitchFamily="34" charset="0"/>
              </a:rPr>
              <a:t> </a:t>
            </a:r>
            <a:r>
              <a:rPr lang="en-US" sz="2800" b="1" dirty="0" smtClean="0">
                <a:latin typeface="Tw Cen MT" pitchFamily="34" charset="0"/>
              </a:rPr>
              <a:t>ECG</a:t>
            </a:r>
          </a:p>
          <a:p>
            <a:pPr lvl="1"/>
            <a:r>
              <a:rPr lang="en-US" sz="2400" dirty="0" smtClean="0">
                <a:latin typeface="Tw Cen MT" pitchFamily="34" charset="0"/>
              </a:rPr>
              <a:t>A recording of the electrical activity of the heart over time.</a:t>
            </a:r>
          </a:p>
          <a:p>
            <a:pPr lvl="1"/>
            <a:r>
              <a:rPr lang="en-US" sz="2400" dirty="0" smtClean="0">
                <a:latin typeface="Tw Cen MT" pitchFamily="34" charset="0"/>
              </a:rPr>
              <a:t>is a non-invasive means of measuring the electrical activity of the heart</a:t>
            </a:r>
            <a:r>
              <a:rPr lang="en-US" sz="1200" dirty="0" smtClean="0">
                <a:latin typeface="Tw Cen MT" pitchFamily="34" charset="0"/>
              </a:rPr>
              <a:t>.</a:t>
            </a:r>
            <a:endParaRPr lang="en-US" sz="2400" dirty="0" smtClean="0">
              <a:latin typeface="Tw Cen MT" pitchFamily="34" charset="0"/>
            </a:endParaRPr>
          </a:p>
          <a:p>
            <a:pPr lvl="1"/>
            <a:r>
              <a:rPr lang="en-US" sz="2400" dirty="0" smtClean="0">
                <a:latin typeface="Tw Cen MT" pitchFamily="34" charset="0"/>
              </a:rPr>
              <a:t>Gold standard for diagnosis of cardiac arrhythmias</a:t>
            </a:r>
          </a:p>
          <a:p>
            <a:pPr lvl="1"/>
            <a:r>
              <a:rPr lang="en-GB" sz="2400" dirty="0" smtClean="0">
                <a:latin typeface="Tw Cen MT" pitchFamily="34" charset="0"/>
              </a:rPr>
              <a:t>Net sum of depolarisation and repolarisation potentials of all myocardial cells</a:t>
            </a:r>
          </a:p>
          <a:p>
            <a:pPr lvl="1"/>
            <a:r>
              <a:rPr lang="en-GB" sz="2400" dirty="0" smtClean="0">
                <a:latin typeface="Tw Cen MT" pitchFamily="34" charset="0"/>
              </a:rPr>
              <a:t>P-QRS-T pattern</a:t>
            </a:r>
            <a:endParaRPr lang="en-GB" sz="1800" dirty="0" smtClean="0">
              <a:latin typeface="Tw Cen MT" pitchFamily="34" charset="0"/>
            </a:endParaRPr>
          </a:p>
          <a:p>
            <a:pPr>
              <a:spcBef>
                <a:spcPct val="50000"/>
              </a:spcBef>
              <a:buNone/>
            </a:pPr>
            <a:endParaRPr lang="en-US" sz="1800" dirty="0" smtClean="0">
              <a:latin typeface="Tw Cen MT" pitchFamily="34" charset="0"/>
            </a:endParaRPr>
          </a:p>
          <a:p>
            <a:endParaRPr lang="en-GB" sz="2000" dirty="0" smtClean="0">
              <a:latin typeface="Tw Cen MT" pitchFamily="34" charset="0"/>
            </a:endParaRPr>
          </a:p>
          <a:p>
            <a:endParaRPr lang="en-GB" sz="2000" dirty="0" smtClean="0">
              <a:latin typeface="Tw Cen MT" pitchFamily="34" charset="0"/>
            </a:endParaRPr>
          </a:p>
          <a:p>
            <a:endParaRPr lang="en-US" sz="2000" dirty="0">
              <a:latin typeface="Tw Cen MT" pitchFamily="34" charset="0"/>
            </a:endParaRPr>
          </a:p>
        </p:txBody>
      </p:sp>
      <p:sp>
        <p:nvSpPr>
          <p:cNvPr id="6" name="Rectangle 5"/>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7" name="Title 6"/>
          <p:cNvSpPr>
            <a:spLocks noGrp="1"/>
          </p:cNvSpPr>
          <p:nvPr>
            <p:ph type="title"/>
          </p:nvPr>
        </p:nvSpPr>
        <p:spPr/>
        <p:txBody>
          <a:bodyPr/>
          <a:lstStyle/>
          <a:p>
            <a:pPr algn="l"/>
            <a:r>
              <a:rPr lang="en-US" b="1" dirty="0" smtClean="0">
                <a:solidFill>
                  <a:srgbClr val="FF0000"/>
                </a:solidFill>
                <a:latin typeface="Tw Cen MT" pitchFamily="34" charset="0"/>
              </a:rPr>
              <a:t>Cont…</a:t>
            </a:r>
            <a:endParaRPr lang="en-US" b="1" dirty="0">
              <a:solidFill>
                <a:srgbClr val="FF0000"/>
              </a:solidFill>
              <a:latin typeface="Tw Cen MT" pitchFamily="34" charset="0"/>
            </a:endParaRP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AE6799CE-1EDE-4226-986E-F66052053843}" type="datetime1">
              <a:rPr lang="en-US" smtClean="0">
                <a:latin typeface="Tw Cen MT" pitchFamily="34" charset="0"/>
              </a:rPr>
              <a:pPr/>
              <a:t>2/7/2016</a:t>
            </a:fld>
            <a:endParaRPr lang="en-US">
              <a:latin typeface="Tw Cen MT" pitchFamily="34" charset="0"/>
            </a:endParaRPr>
          </a:p>
        </p:txBody>
      </p:sp>
      <p:sp>
        <p:nvSpPr>
          <p:cNvPr id="4" name="Slide Number Placeholder 3"/>
          <p:cNvSpPr>
            <a:spLocks noGrp="1"/>
          </p:cNvSpPr>
          <p:nvPr>
            <p:ph type="sldNum" sz="quarter" idx="12"/>
          </p:nvPr>
        </p:nvSpPr>
        <p:spPr/>
        <p:txBody>
          <a:bodyPr>
            <a:normAutofit/>
          </a:bodyPr>
          <a:lstStyle/>
          <a:p>
            <a:fld id="{5BFD1995-F927-42BD-9A42-2CC717EA96E8}" type="slidenum">
              <a:rPr lang="en-US" smtClean="0">
                <a:latin typeface="Tw Cen MT" pitchFamily="34" charset="0"/>
              </a:rPr>
              <a:pPr/>
              <a:t>13</a:t>
            </a:fld>
            <a:endParaRPr lang="en-US">
              <a:latin typeface="Tw Cen MT" pitchFamily="34" charset="0"/>
            </a:endParaRPr>
          </a:p>
        </p:txBody>
      </p:sp>
      <p:pic>
        <p:nvPicPr>
          <p:cNvPr id="8" name="Picture 4" descr="SinusRhythmLabels"/>
          <p:cNvPicPr>
            <a:picLocks noGrp="1" noChangeAspect="1" noChangeArrowheads="1"/>
          </p:cNvPicPr>
          <p:nvPr>
            <p:ph sz="quarter" idx="1"/>
          </p:nvPr>
        </p:nvPicPr>
        <p:blipFill>
          <a:blip r:embed="rId2" cstate="print"/>
          <a:srcRect/>
          <a:stretch>
            <a:fillRect/>
          </a:stretch>
        </p:blipFill>
        <p:spPr bwMode="auto">
          <a:xfrm>
            <a:off x="0" y="609600"/>
            <a:ext cx="9143999" cy="6248400"/>
          </a:xfrm>
          <a:prstGeom prst="rect">
            <a:avLst/>
          </a:prstGeom>
          <a:noFill/>
        </p:spPr>
      </p:pic>
      <p:sp>
        <p:nvSpPr>
          <p:cNvPr id="10" name="Text Box 8"/>
          <p:cNvSpPr txBox="1">
            <a:spLocks noChangeArrowheads="1"/>
          </p:cNvSpPr>
          <p:nvPr/>
        </p:nvSpPr>
        <p:spPr bwMode="auto">
          <a:xfrm>
            <a:off x="6781800" y="990600"/>
            <a:ext cx="2057400" cy="646331"/>
          </a:xfrm>
          <a:prstGeom prst="rect">
            <a:avLst/>
          </a:prstGeom>
          <a:noFill/>
          <a:ln w="9525">
            <a:noFill/>
            <a:miter lim="800000"/>
            <a:headEnd/>
            <a:tailEnd/>
          </a:ln>
          <a:effectLst/>
        </p:spPr>
        <p:txBody>
          <a:bodyPr wrap="square">
            <a:spAutoFit/>
          </a:bodyPr>
          <a:lstStyle/>
          <a:p>
            <a:pPr algn="l" eaLnBrk="1" hangingPunct="1">
              <a:spcBef>
                <a:spcPct val="50000"/>
              </a:spcBef>
            </a:pPr>
            <a:r>
              <a:rPr lang="en-US" b="1" dirty="0" smtClean="0">
                <a:solidFill>
                  <a:srgbClr val="C00000"/>
                </a:solidFill>
                <a:latin typeface="Tw Cen MT" pitchFamily="34" charset="0"/>
              </a:rPr>
              <a:t>Contraction/</a:t>
            </a:r>
            <a:r>
              <a:rPr lang="en-US" b="1" dirty="0" err="1" smtClean="0">
                <a:solidFill>
                  <a:srgbClr val="C00000"/>
                </a:solidFill>
                <a:latin typeface="Tw Cen MT" pitchFamily="34" charset="0"/>
              </a:rPr>
              <a:t>dep’n</a:t>
            </a:r>
            <a:r>
              <a:rPr lang="en-US" b="1" dirty="0" smtClean="0">
                <a:solidFill>
                  <a:srgbClr val="C00000"/>
                </a:solidFill>
                <a:latin typeface="Tw Cen MT" pitchFamily="34" charset="0"/>
              </a:rPr>
              <a:t> </a:t>
            </a:r>
            <a:r>
              <a:rPr lang="en-US" b="1" dirty="0">
                <a:solidFill>
                  <a:srgbClr val="C00000"/>
                </a:solidFill>
                <a:latin typeface="Tw Cen MT" pitchFamily="34" charset="0"/>
              </a:rPr>
              <a:t>of ventricles</a:t>
            </a:r>
          </a:p>
        </p:txBody>
      </p:sp>
      <p:sp>
        <p:nvSpPr>
          <p:cNvPr id="11" name="Line 9"/>
          <p:cNvSpPr>
            <a:spLocks noChangeShapeType="1"/>
          </p:cNvSpPr>
          <p:nvPr/>
        </p:nvSpPr>
        <p:spPr bwMode="auto">
          <a:xfrm flipH="1" flipV="1">
            <a:off x="5257800" y="1066800"/>
            <a:ext cx="1371600" cy="152400"/>
          </a:xfrm>
          <a:prstGeom prst="line">
            <a:avLst/>
          </a:prstGeom>
          <a:noFill/>
          <a:ln w="9525">
            <a:solidFill>
              <a:srgbClr val="0B0B11"/>
            </a:solidFill>
            <a:round/>
            <a:headEnd/>
            <a:tailEnd type="triangle" w="med" len="med"/>
          </a:ln>
          <a:effectLst/>
        </p:spPr>
        <p:txBody>
          <a:bodyPr/>
          <a:lstStyle/>
          <a:p>
            <a:endParaRPr lang="en-US">
              <a:latin typeface="Tw Cen MT" pitchFamily="34" charset="0"/>
            </a:endParaRPr>
          </a:p>
        </p:txBody>
      </p:sp>
      <p:sp>
        <p:nvSpPr>
          <p:cNvPr id="12" name="Text Box 10"/>
          <p:cNvSpPr txBox="1">
            <a:spLocks noChangeArrowheads="1"/>
          </p:cNvSpPr>
          <p:nvPr/>
        </p:nvSpPr>
        <p:spPr bwMode="auto">
          <a:xfrm>
            <a:off x="7239000" y="2438400"/>
            <a:ext cx="1905000" cy="641350"/>
          </a:xfrm>
          <a:prstGeom prst="rect">
            <a:avLst/>
          </a:prstGeom>
          <a:noFill/>
          <a:ln w="9525">
            <a:noFill/>
            <a:miter lim="800000"/>
            <a:headEnd/>
            <a:tailEnd/>
          </a:ln>
          <a:effectLst/>
        </p:spPr>
        <p:txBody>
          <a:bodyPr>
            <a:spAutoFit/>
          </a:bodyPr>
          <a:lstStyle/>
          <a:p>
            <a:pPr algn="l" eaLnBrk="1" hangingPunct="1">
              <a:spcBef>
                <a:spcPct val="50000"/>
              </a:spcBef>
            </a:pPr>
            <a:r>
              <a:rPr lang="en-US" b="1" dirty="0">
                <a:solidFill>
                  <a:srgbClr val="C00000"/>
                </a:solidFill>
                <a:latin typeface="Tw Cen MT" pitchFamily="34" charset="0"/>
              </a:rPr>
              <a:t>Repolarization of ventricles</a:t>
            </a:r>
          </a:p>
        </p:txBody>
      </p:sp>
      <p:sp>
        <p:nvSpPr>
          <p:cNvPr id="13" name="Line 9"/>
          <p:cNvSpPr>
            <a:spLocks noChangeShapeType="1"/>
          </p:cNvSpPr>
          <p:nvPr/>
        </p:nvSpPr>
        <p:spPr bwMode="auto">
          <a:xfrm flipH="1">
            <a:off x="7162800" y="3048000"/>
            <a:ext cx="533400" cy="609600"/>
          </a:xfrm>
          <a:prstGeom prst="line">
            <a:avLst/>
          </a:prstGeom>
          <a:noFill/>
          <a:ln w="9525">
            <a:solidFill>
              <a:srgbClr val="0B0B11"/>
            </a:solidFill>
            <a:round/>
            <a:headEnd/>
            <a:tailEnd type="triangle" w="med" len="med"/>
          </a:ln>
          <a:effectLst/>
        </p:spPr>
        <p:txBody>
          <a:bodyPr/>
          <a:lstStyle/>
          <a:p>
            <a:endParaRPr lang="en-US">
              <a:latin typeface="Tw Cen MT" pitchFamily="34" charset="0"/>
            </a:endParaRPr>
          </a:p>
        </p:txBody>
      </p:sp>
      <p:sp>
        <p:nvSpPr>
          <p:cNvPr id="14" name="Text Box 6"/>
          <p:cNvSpPr txBox="1">
            <a:spLocks noChangeArrowheads="1"/>
          </p:cNvSpPr>
          <p:nvPr/>
        </p:nvSpPr>
        <p:spPr bwMode="auto">
          <a:xfrm>
            <a:off x="457200" y="2667000"/>
            <a:ext cx="1600200" cy="641350"/>
          </a:xfrm>
          <a:prstGeom prst="rect">
            <a:avLst/>
          </a:prstGeom>
          <a:noFill/>
          <a:ln w="9525">
            <a:noFill/>
            <a:miter lim="800000"/>
            <a:headEnd/>
            <a:tailEnd/>
          </a:ln>
          <a:effectLst/>
        </p:spPr>
        <p:txBody>
          <a:bodyPr>
            <a:spAutoFit/>
          </a:bodyPr>
          <a:lstStyle/>
          <a:p>
            <a:pPr algn="l" eaLnBrk="1" hangingPunct="1">
              <a:spcBef>
                <a:spcPct val="50000"/>
              </a:spcBef>
            </a:pPr>
            <a:r>
              <a:rPr lang="en-US" b="1" dirty="0">
                <a:solidFill>
                  <a:srgbClr val="C00000"/>
                </a:solidFill>
                <a:latin typeface="Tw Cen MT" pitchFamily="34" charset="0"/>
              </a:rPr>
              <a:t>Contraction of atria</a:t>
            </a:r>
          </a:p>
        </p:txBody>
      </p:sp>
      <p:sp>
        <p:nvSpPr>
          <p:cNvPr id="15" name="Line 9"/>
          <p:cNvSpPr>
            <a:spLocks noChangeShapeType="1"/>
          </p:cNvSpPr>
          <p:nvPr/>
        </p:nvSpPr>
        <p:spPr bwMode="auto">
          <a:xfrm>
            <a:off x="1143000" y="3124200"/>
            <a:ext cx="1066800" cy="838200"/>
          </a:xfrm>
          <a:prstGeom prst="line">
            <a:avLst/>
          </a:prstGeom>
          <a:noFill/>
          <a:ln w="9525">
            <a:solidFill>
              <a:srgbClr val="0B0B11"/>
            </a:solidFill>
            <a:round/>
            <a:headEnd/>
            <a:tailEnd type="triangle" w="med" len="med"/>
          </a:ln>
          <a:effectLst/>
        </p:spPr>
        <p:txBody>
          <a:bodyPr/>
          <a:lstStyle/>
          <a:p>
            <a:endParaRPr lang="en-US">
              <a:latin typeface="Tw Cen MT" pitchFamily="34" charset="0"/>
            </a:endParaRPr>
          </a:p>
        </p:txBody>
      </p:sp>
      <p:sp>
        <p:nvSpPr>
          <p:cNvPr id="20" name="Rectangle 19"/>
          <p:cNvSpPr/>
          <p:nvPr/>
        </p:nvSpPr>
        <p:spPr>
          <a:xfrm>
            <a:off x="0" y="914400"/>
            <a:ext cx="3048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smtClean="0">
                <a:solidFill>
                  <a:schemeClr val="bg1"/>
                </a:solidFill>
                <a:latin typeface="Tw Cen MT" pitchFamily="34" charset="0"/>
              </a:rPr>
              <a:t>Shape and duration of P may indicate atrial enlargement</a:t>
            </a:r>
            <a:endParaRPr lang="en-US" sz="1600" dirty="0">
              <a:solidFill>
                <a:schemeClr val="bg1"/>
              </a:solidFill>
              <a:latin typeface="Tw Cen MT" pitchFamily="34" charset="0"/>
            </a:endParaRPr>
          </a:p>
        </p:txBody>
      </p:sp>
      <p:sp>
        <p:nvSpPr>
          <p:cNvPr id="25" name="Line 9"/>
          <p:cNvSpPr>
            <a:spLocks noChangeShapeType="1"/>
          </p:cNvSpPr>
          <p:nvPr/>
        </p:nvSpPr>
        <p:spPr bwMode="auto">
          <a:xfrm>
            <a:off x="685800" y="1600200"/>
            <a:ext cx="76200" cy="1066800"/>
          </a:xfrm>
          <a:prstGeom prst="line">
            <a:avLst/>
          </a:prstGeom>
          <a:noFill/>
          <a:ln w="9525">
            <a:solidFill>
              <a:srgbClr val="0B0B11"/>
            </a:solidFill>
            <a:round/>
            <a:headEnd/>
            <a:tailEnd type="triangle" w="med" len="med"/>
          </a:ln>
          <a:effectLst/>
        </p:spPr>
        <p:txBody>
          <a:bodyPr/>
          <a:lstStyle/>
          <a:p>
            <a:endParaRPr lang="en-US">
              <a:latin typeface="Tw Cen MT" pitchFamily="34" charset="0"/>
            </a:endParaRPr>
          </a:p>
        </p:txBody>
      </p:sp>
      <p:sp>
        <p:nvSpPr>
          <p:cNvPr id="26" name="Rectangle 25"/>
          <p:cNvSpPr/>
          <p:nvPr/>
        </p:nvSpPr>
        <p:spPr>
          <a:xfrm>
            <a:off x="5638800" y="152400"/>
            <a:ext cx="33528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err="1" smtClean="0">
                <a:latin typeface="Tw Cen MT" pitchFamily="34" charset="0"/>
              </a:rPr>
              <a:t>Dx</a:t>
            </a:r>
            <a:r>
              <a:rPr lang="en-US" b="1" dirty="0" smtClean="0">
                <a:latin typeface="Tw Cen MT" pitchFamily="34" charset="0"/>
              </a:rPr>
              <a:t> of ventricular hypertrophy, MI, electrolyte derangement</a:t>
            </a:r>
            <a:endParaRPr lang="en-US" b="1" dirty="0">
              <a:latin typeface="Tw Cen MT" pitchFamily="34" charset="0"/>
            </a:endParaRPr>
          </a:p>
        </p:txBody>
      </p:sp>
      <p:sp>
        <p:nvSpPr>
          <p:cNvPr id="27" name="Line 9"/>
          <p:cNvSpPr>
            <a:spLocks noChangeShapeType="1"/>
          </p:cNvSpPr>
          <p:nvPr/>
        </p:nvSpPr>
        <p:spPr bwMode="auto">
          <a:xfrm flipH="1">
            <a:off x="4724400" y="533400"/>
            <a:ext cx="838200" cy="228600"/>
          </a:xfrm>
          <a:prstGeom prst="line">
            <a:avLst/>
          </a:prstGeom>
          <a:noFill/>
          <a:ln w="9525">
            <a:solidFill>
              <a:srgbClr val="0B0B11"/>
            </a:solidFill>
            <a:round/>
            <a:headEnd/>
            <a:tailEnd type="triangle" w="med" len="med"/>
          </a:ln>
          <a:effectLst/>
        </p:spPr>
        <p:txBody>
          <a:bodyPr/>
          <a:lstStyle/>
          <a:p>
            <a:endParaRPr lang="en-US">
              <a:latin typeface="Tw Cen MT" pitchFamily="34" charset="0"/>
            </a:endParaRPr>
          </a:p>
        </p:txBody>
      </p:sp>
      <p:sp>
        <p:nvSpPr>
          <p:cNvPr id="28" name="Rectangle 27"/>
          <p:cNvSpPr/>
          <p:nvPr/>
        </p:nvSpPr>
        <p:spPr>
          <a:xfrm>
            <a:off x="0" y="6324600"/>
            <a:ext cx="31242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smtClean="0">
                <a:solidFill>
                  <a:schemeClr val="bg1"/>
                </a:solidFill>
                <a:latin typeface="Tw Cen MT" pitchFamily="34" charset="0"/>
              </a:rPr>
              <a:t>Atria to Vent. Conduction time</a:t>
            </a:r>
          </a:p>
          <a:p>
            <a:pPr algn="ctr"/>
            <a:r>
              <a:rPr lang="en-US" sz="1600" b="1" dirty="0" smtClean="0">
                <a:solidFill>
                  <a:schemeClr val="bg1"/>
                </a:solidFill>
                <a:latin typeface="Tw Cen MT" pitchFamily="34" charset="0"/>
              </a:rPr>
              <a:t>Prolonged PR shows AV block</a:t>
            </a:r>
            <a:endParaRPr lang="en-US" sz="1600" b="1" dirty="0">
              <a:solidFill>
                <a:schemeClr val="bg1"/>
              </a:solidFill>
              <a:latin typeface="Tw Cen MT" pitchFamily="34" charset="0"/>
            </a:endParaRPr>
          </a:p>
        </p:txBody>
      </p:sp>
      <p:sp>
        <p:nvSpPr>
          <p:cNvPr id="29" name="Line 9"/>
          <p:cNvSpPr>
            <a:spLocks noChangeShapeType="1"/>
          </p:cNvSpPr>
          <p:nvPr/>
        </p:nvSpPr>
        <p:spPr bwMode="auto">
          <a:xfrm flipV="1">
            <a:off x="990600" y="5715000"/>
            <a:ext cx="914400" cy="533400"/>
          </a:xfrm>
          <a:prstGeom prst="line">
            <a:avLst/>
          </a:prstGeom>
          <a:noFill/>
          <a:ln w="9525">
            <a:solidFill>
              <a:srgbClr val="0B0B11"/>
            </a:solidFill>
            <a:round/>
            <a:headEnd/>
            <a:tailEnd type="triangle" w="med" len="med"/>
          </a:ln>
          <a:effectLst/>
        </p:spPr>
        <p:txBody>
          <a:bodyPr/>
          <a:lstStyle/>
          <a:p>
            <a:endParaRPr lang="en-US">
              <a:latin typeface="Tw Cen MT" pitchFamily="34" charset="0"/>
            </a:endParaRPr>
          </a:p>
        </p:txBody>
      </p:sp>
      <p:sp>
        <p:nvSpPr>
          <p:cNvPr id="30" name="Rectangle 29"/>
          <p:cNvSpPr/>
          <p:nvPr/>
        </p:nvSpPr>
        <p:spPr>
          <a:xfrm>
            <a:off x="8001000" y="5029200"/>
            <a:ext cx="1143000" cy="1828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smtClean="0">
                <a:latin typeface="Tw Cen MT" pitchFamily="34" charset="0"/>
              </a:rPr>
              <a:t>-absolute refractory period</a:t>
            </a:r>
          </a:p>
          <a:p>
            <a:pPr algn="ctr"/>
            <a:r>
              <a:rPr lang="en-US" sz="1600" b="1" dirty="0" smtClean="0">
                <a:solidFill>
                  <a:schemeClr val="bg1"/>
                </a:solidFill>
                <a:latin typeface="Tw Cen MT" pitchFamily="34" charset="0"/>
              </a:rPr>
              <a:t>-Varies based on HR</a:t>
            </a:r>
            <a:endParaRPr lang="en-US" sz="1600" b="1" dirty="0">
              <a:solidFill>
                <a:schemeClr val="bg1"/>
              </a:solidFill>
              <a:latin typeface="Tw Cen MT" pitchFamily="34" charset="0"/>
            </a:endParaRPr>
          </a:p>
        </p:txBody>
      </p:sp>
      <p:sp>
        <p:nvSpPr>
          <p:cNvPr id="31" name="Line 9"/>
          <p:cNvSpPr>
            <a:spLocks noChangeShapeType="1"/>
          </p:cNvSpPr>
          <p:nvPr/>
        </p:nvSpPr>
        <p:spPr bwMode="auto">
          <a:xfrm flipH="1">
            <a:off x="7086600" y="5791200"/>
            <a:ext cx="838200" cy="533400"/>
          </a:xfrm>
          <a:prstGeom prst="line">
            <a:avLst/>
          </a:prstGeom>
          <a:noFill/>
          <a:ln w="9525">
            <a:solidFill>
              <a:srgbClr val="0B0B11"/>
            </a:solidFill>
            <a:round/>
            <a:headEnd/>
            <a:tailEnd type="triangle" w="med" len="med"/>
          </a:ln>
          <a:effectLst/>
        </p:spPr>
        <p:txBody>
          <a:bodyPr/>
          <a:lstStyle/>
          <a:p>
            <a:endParaRPr lang="en-US">
              <a:latin typeface="Tw Cen MT"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childTnLst>
                                </p:cTn>
                              </p:par>
                              <p:par>
                                <p:cTn id="9" presetID="39" presetClass="entr" presetSubtype="0" accel="10000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p:cTn id="11" dur="500" fill="hold"/>
                                        <p:tgtEl>
                                          <p:spTgt spid="11"/>
                                        </p:tgtEl>
                                        <p:attrNameLst>
                                          <p:attrName>ppt_h</p:attrName>
                                        </p:attrNameLst>
                                      </p:cBhvr>
                                      <p:tavLst>
                                        <p:tav tm="0">
                                          <p:val>
                                            <p:strVal val="#ppt_h/20"/>
                                          </p:val>
                                        </p:tav>
                                        <p:tav tm="50000">
                                          <p:val>
                                            <p:strVal val="#ppt_h/20"/>
                                          </p:val>
                                        </p:tav>
                                        <p:tav tm="100000">
                                          <p:val>
                                            <p:strVal val="#ppt_h"/>
                                          </p:val>
                                        </p:tav>
                                      </p:tavLst>
                                    </p:anim>
                                    <p:anim calcmode="lin" valueType="num">
                                      <p:cBhvr>
                                        <p:cTn id="12" dur="500" fill="hold"/>
                                        <p:tgtEl>
                                          <p:spTgt spid="11"/>
                                        </p:tgtEl>
                                        <p:attrNameLst>
                                          <p:attrName>ppt_w</p:attrName>
                                        </p:attrNameLst>
                                      </p:cBhvr>
                                      <p:tavLst>
                                        <p:tav tm="0">
                                          <p:val>
                                            <p:strVal val="#ppt_w+.3"/>
                                          </p:val>
                                        </p:tav>
                                        <p:tav tm="50000">
                                          <p:val>
                                            <p:strVal val="#ppt_w+.3"/>
                                          </p:val>
                                        </p:tav>
                                        <p:tav tm="100000">
                                          <p:val>
                                            <p:strVal val="#ppt_w"/>
                                          </p:val>
                                        </p:tav>
                                      </p:tavLst>
                                    </p:anim>
                                    <p:anim calcmode="lin" valueType="num">
                                      <p:cBhvr>
                                        <p:cTn id="13" dur="500" fill="hold"/>
                                        <p:tgtEl>
                                          <p:spTgt spid="11"/>
                                        </p:tgtEl>
                                        <p:attrNameLst>
                                          <p:attrName>ppt_x</p:attrName>
                                        </p:attrNameLst>
                                      </p:cBhvr>
                                      <p:tavLst>
                                        <p:tav tm="0">
                                          <p:val>
                                            <p:strVal val="#ppt_x-.3"/>
                                          </p:val>
                                        </p:tav>
                                        <p:tav tm="50000">
                                          <p:val>
                                            <p:strVal val="#ppt_x"/>
                                          </p:val>
                                        </p:tav>
                                        <p:tav tm="100000">
                                          <p:val>
                                            <p:strVal val="#ppt_x"/>
                                          </p:val>
                                        </p:tav>
                                      </p:tavLst>
                                    </p:anim>
                                    <p:anim calcmode="lin" valueType="num">
                                      <p:cBhvr>
                                        <p:cTn id="1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p:cTn id="19" dur="500" fill="hold"/>
                                        <p:tgtEl>
                                          <p:spTgt spid="12"/>
                                        </p:tgtEl>
                                        <p:attrNameLst>
                                          <p:attrName>ppt_w</p:attrName>
                                        </p:attrNameLst>
                                      </p:cBhvr>
                                      <p:tavLst>
                                        <p:tav tm="0">
                                          <p:val>
                                            <p:fltVal val="0"/>
                                          </p:val>
                                        </p:tav>
                                        <p:tav tm="100000">
                                          <p:val>
                                            <p:strVal val="#ppt_w"/>
                                          </p:val>
                                        </p:tav>
                                      </p:tavLst>
                                    </p:anim>
                                    <p:anim calcmode="lin" valueType="num">
                                      <p:cBhvr>
                                        <p:cTn id="20" dur="500" fill="hold"/>
                                        <p:tgtEl>
                                          <p:spTgt spid="12"/>
                                        </p:tgtEl>
                                        <p:attrNameLst>
                                          <p:attrName>ppt_h</p:attrName>
                                        </p:attrNameLst>
                                      </p:cBhvr>
                                      <p:tavLst>
                                        <p:tav tm="0">
                                          <p:val>
                                            <p:fltVal val="0"/>
                                          </p:val>
                                        </p:tav>
                                        <p:tav tm="100000">
                                          <p:val>
                                            <p:strVal val="#ppt_h"/>
                                          </p:val>
                                        </p:tav>
                                      </p:tavLst>
                                    </p:anim>
                                  </p:childTnLst>
                                </p:cTn>
                              </p:par>
                              <p:par>
                                <p:cTn id="21" presetID="39" presetClass="entr" presetSubtype="0" accel="10000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p:cTn id="23" dur="500" fill="hold"/>
                                        <p:tgtEl>
                                          <p:spTgt spid="13"/>
                                        </p:tgtEl>
                                        <p:attrNameLst>
                                          <p:attrName>ppt_h</p:attrName>
                                        </p:attrNameLst>
                                      </p:cBhvr>
                                      <p:tavLst>
                                        <p:tav tm="0">
                                          <p:val>
                                            <p:strVal val="#ppt_h/20"/>
                                          </p:val>
                                        </p:tav>
                                        <p:tav tm="50000">
                                          <p:val>
                                            <p:strVal val="#ppt_h/20"/>
                                          </p:val>
                                        </p:tav>
                                        <p:tav tm="100000">
                                          <p:val>
                                            <p:strVal val="#ppt_h"/>
                                          </p:val>
                                        </p:tav>
                                      </p:tavLst>
                                    </p:anim>
                                    <p:anim calcmode="lin" valueType="num">
                                      <p:cBhvr>
                                        <p:cTn id="24" dur="500" fill="hold"/>
                                        <p:tgtEl>
                                          <p:spTgt spid="13"/>
                                        </p:tgtEl>
                                        <p:attrNameLst>
                                          <p:attrName>ppt_w</p:attrName>
                                        </p:attrNameLst>
                                      </p:cBhvr>
                                      <p:tavLst>
                                        <p:tav tm="0">
                                          <p:val>
                                            <p:strVal val="#ppt_w+.3"/>
                                          </p:val>
                                        </p:tav>
                                        <p:tav tm="50000">
                                          <p:val>
                                            <p:strVal val="#ppt_w+.3"/>
                                          </p:val>
                                        </p:tav>
                                        <p:tav tm="100000">
                                          <p:val>
                                            <p:strVal val="#ppt_w"/>
                                          </p:val>
                                        </p:tav>
                                      </p:tavLst>
                                    </p:anim>
                                    <p:anim calcmode="lin" valueType="num">
                                      <p:cBhvr>
                                        <p:cTn id="25" dur="500" fill="hold"/>
                                        <p:tgtEl>
                                          <p:spTgt spid="13"/>
                                        </p:tgtEl>
                                        <p:attrNameLst>
                                          <p:attrName>ppt_x</p:attrName>
                                        </p:attrNameLst>
                                      </p:cBhvr>
                                      <p:tavLst>
                                        <p:tav tm="0">
                                          <p:val>
                                            <p:strVal val="#ppt_x-.3"/>
                                          </p:val>
                                        </p:tav>
                                        <p:tav tm="50000">
                                          <p:val>
                                            <p:strVal val="#ppt_x"/>
                                          </p:val>
                                        </p:tav>
                                        <p:tav tm="100000">
                                          <p:val>
                                            <p:strVal val="#ppt_x"/>
                                          </p:val>
                                        </p:tav>
                                      </p:tavLst>
                                    </p:anim>
                                    <p:anim calcmode="lin" valueType="num">
                                      <p:cBhvr>
                                        <p:cTn id="26"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p:cTn id="31" dur="500" fill="hold"/>
                                        <p:tgtEl>
                                          <p:spTgt spid="14"/>
                                        </p:tgtEl>
                                        <p:attrNameLst>
                                          <p:attrName>ppt_w</p:attrName>
                                        </p:attrNameLst>
                                      </p:cBhvr>
                                      <p:tavLst>
                                        <p:tav tm="0">
                                          <p:val>
                                            <p:fltVal val="0"/>
                                          </p:val>
                                        </p:tav>
                                        <p:tav tm="100000">
                                          <p:val>
                                            <p:strVal val="#ppt_w"/>
                                          </p:val>
                                        </p:tav>
                                      </p:tavLst>
                                    </p:anim>
                                    <p:anim calcmode="lin" valueType="num">
                                      <p:cBhvr>
                                        <p:cTn id="32" dur="500" fill="hold"/>
                                        <p:tgtEl>
                                          <p:spTgt spid="14"/>
                                        </p:tgtEl>
                                        <p:attrNameLst>
                                          <p:attrName>ppt_h</p:attrName>
                                        </p:attrNameLst>
                                      </p:cBhvr>
                                      <p:tavLst>
                                        <p:tav tm="0">
                                          <p:val>
                                            <p:fltVal val="0"/>
                                          </p:val>
                                        </p:tav>
                                        <p:tav tm="100000">
                                          <p:val>
                                            <p:strVal val="#ppt_h"/>
                                          </p:val>
                                        </p:tav>
                                      </p:tavLst>
                                    </p:anim>
                                  </p:childTnLst>
                                </p:cTn>
                              </p:par>
                              <p:par>
                                <p:cTn id="33" presetID="39" presetClass="entr" presetSubtype="0" accel="10000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 calcmode="lin" valueType="num">
                                      <p:cBhvr>
                                        <p:cTn id="35" dur="500" fill="hold"/>
                                        <p:tgtEl>
                                          <p:spTgt spid="15"/>
                                        </p:tgtEl>
                                        <p:attrNameLst>
                                          <p:attrName>ppt_h</p:attrName>
                                        </p:attrNameLst>
                                      </p:cBhvr>
                                      <p:tavLst>
                                        <p:tav tm="0">
                                          <p:val>
                                            <p:strVal val="#ppt_h/20"/>
                                          </p:val>
                                        </p:tav>
                                        <p:tav tm="50000">
                                          <p:val>
                                            <p:strVal val="#ppt_h/20"/>
                                          </p:val>
                                        </p:tav>
                                        <p:tav tm="100000">
                                          <p:val>
                                            <p:strVal val="#ppt_h"/>
                                          </p:val>
                                        </p:tav>
                                      </p:tavLst>
                                    </p:anim>
                                    <p:anim calcmode="lin" valueType="num">
                                      <p:cBhvr>
                                        <p:cTn id="36" dur="500" fill="hold"/>
                                        <p:tgtEl>
                                          <p:spTgt spid="15"/>
                                        </p:tgtEl>
                                        <p:attrNameLst>
                                          <p:attrName>ppt_w</p:attrName>
                                        </p:attrNameLst>
                                      </p:cBhvr>
                                      <p:tavLst>
                                        <p:tav tm="0">
                                          <p:val>
                                            <p:strVal val="#ppt_w+.3"/>
                                          </p:val>
                                        </p:tav>
                                        <p:tav tm="50000">
                                          <p:val>
                                            <p:strVal val="#ppt_w+.3"/>
                                          </p:val>
                                        </p:tav>
                                        <p:tav tm="100000">
                                          <p:val>
                                            <p:strVal val="#ppt_w"/>
                                          </p:val>
                                        </p:tav>
                                      </p:tavLst>
                                    </p:anim>
                                    <p:anim calcmode="lin" valueType="num">
                                      <p:cBhvr>
                                        <p:cTn id="37" dur="500" fill="hold"/>
                                        <p:tgtEl>
                                          <p:spTgt spid="15"/>
                                        </p:tgtEl>
                                        <p:attrNameLst>
                                          <p:attrName>ppt_x</p:attrName>
                                        </p:attrNameLst>
                                      </p:cBhvr>
                                      <p:tavLst>
                                        <p:tav tm="0">
                                          <p:val>
                                            <p:strVal val="#ppt_x-.3"/>
                                          </p:val>
                                        </p:tav>
                                        <p:tav tm="50000">
                                          <p:val>
                                            <p:strVal val="#ppt_x"/>
                                          </p:val>
                                        </p:tav>
                                        <p:tav tm="100000">
                                          <p:val>
                                            <p:strVal val="#ppt_x"/>
                                          </p:val>
                                        </p:tav>
                                      </p:tavLst>
                                    </p:anim>
                                    <p:anim calcmode="lin" valueType="num">
                                      <p:cBhvr>
                                        <p:cTn id="38" dur="500" fill="hold"/>
                                        <p:tgtEl>
                                          <p:spTgt spid="15"/>
                                        </p:tgtEl>
                                        <p:attrNameLst>
                                          <p:attrName>ppt_y</p:attrName>
                                        </p:attrNameLst>
                                      </p:cBhvr>
                                      <p:tavLst>
                                        <p:tav tm="0">
                                          <p:val>
                                            <p:strVal val="#ppt_y"/>
                                          </p:val>
                                        </p:tav>
                                        <p:tav tm="100000">
                                          <p:val>
                                            <p:strVal val="#ppt_y"/>
                                          </p:val>
                                        </p:tav>
                                      </p:tavLst>
                                    </p:anim>
                                  </p:childTnLst>
                                </p:cTn>
                              </p:par>
                              <p:par>
                                <p:cTn id="39" presetID="39" presetClass="entr" presetSubtype="0" accel="100000" fill="hold" grpId="0" nodeType="withEffect">
                                  <p:stCondLst>
                                    <p:cond delay="0"/>
                                  </p:stCondLst>
                                  <p:childTnLst>
                                    <p:set>
                                      <p:cBhvr>
                                        <p:cTn id="40" dur="1" fill="hold">
                                          <p:stCondLst>
                                            <p:cond delay="0"/>
                                          </p:stCondLst>
                                        </p:cTn>
                                        <p:tgtEl>
                                          <p:spTgt spid="25"/>
                                        </p:tgtEl>
                                        <p:attrNameLst>
                                          <p:attrName>style.visibility</p:attrName>
                                        </p:attrNameLst>
                                      </p:cBhvr>
                                      <p:to>
                                        <p:strVal val="visible"/>
                                      </p:to>
                                    </p:set>
                                    <p:anim calcmode="lin" valueType="num">
                                      <p:cBhvr>
                                        <p:cTn id="41" dur="500" fill="hold"/>
                                        <p:tgtEl>
                                          <p:spTgt spid="25"/>
                                        </p:tgtEl>
                                        <p:attrNameLst>
                                          <p:attrName>ppt_h</p:attrName>
                                        </p:attrNameLst>
                                      </p:cBhvr>
                                      <p:tavLst>
                                        <p:tav tm="0">
                                          <p:val>
                                            <p:strVal val="#ppt_h/20"/>
                                          </p:val>
                                        </p:tav>
                                        <p:tav tm="50000">
                                          <p:val>
                                            <p:strVal val="#ppt_h/20"/>
                                          </p:val>
                                        </p:tav>
                                        <p:tav tm="100000">
                                          <p:val>
                                            <p:strVal val="#ppt_h"/>
                                          </p:val>
                                        </p:tav>
                                      </p:tavLst>
                                    </p:anim>
                                    <p:anim calcmode="lin" valueType="num">
                                      <p:cBhvr>
                                        <p:cTn id="42" dur="500" fill="hold"/>
                                        <p:tgtEl>
                                          <p:spTgt spid="25"/>
                                        </p:tgtEl>
                                        <p:attrNameLst>
                                          <p:attrName>ppt_w</p:attrName>
                                        </p:attrNameLst>
                                      </p:cBhvr>
                                      <p:tavLst>
                                        <p:tav tm="0">
                                          <p:val>
                                            <p:strVal val="#ppt_w+.3"/>
                                          </p:val>
                                        </p:tav>
                                        <p:tav tm="50000">
                                          <p:val>
                                            <p:strVal val="#ppt_w+.3"/>
                                          </p:val>
                                        </p:tav>
                                        <p:tav tm="100000">
                                          <p:val>
                                            <p:strVal val="#ppt_w"/>
                                          </p:val>
                                        </p:tav>
                                      </p:tavLst>
                                    </p:anim>
                                    <p:anim calcmode="lin" valueType="num">
                                      <p:cBhvr>
                                        <p:cTn id="43" dur="500" fill="hold"/>
                                        <p:tgtEl>
                                          <p:spTgt spid="25"/>
                                        </p:tgtEl>
                                        <p:attrNameLst>
                                          <p:attrName>ppt_x</p:attrName>
                                        </p:attrNameLst>
                                      </p:cBhvr>
                                      <p:tavLst>
                                        <p:tav tm="0">
                                          <p:val>
                                            <p:strVal val="#ppt_x-.3"/>
                                          </p:val>
                                        </p:tav>
                                        <p:tav tm="50000">
                                          <p:val>
                                            <p:strVal val="#ppt_x"/>
                                          </p:val>
                                        </p:tav>
                                        <p:tav tm="100000">
                                          <p:val>
                                            <p:strVal val="#ppt_x"/>
                                          </p:val>
                                        </p:tav>
                                      </p:tavLst>
                                    </p:anim>
                                    <p:anim calcmode="lin" valueType="num">
                                      <p:cBhvr>
                                        <p:cTn id="44" dur="500" fill="hold"/>
                                        <p:tgtEl>
                                          <p:spTgt spid="25"/>
                                        </p:tgtEl>
                                        <p:attrNameLst>
                                          <p:attrName>ppt_y</p:attrName>
                                        </p:attrNameLst>
                                      </p:cBhvr>
                                      <p:tavLst>
                                        <p:tav tm="0">
                                          <p:val>
                                            <p:strVal val="#ppt_y"/>
                                          </p:val>
                                        </p:tav>
                                        <p:tav tm="100000">
                                          <p:val>
                                            <p:strVal val="#ppt_y"/>
                                          </p:val>
                                        </p:tav>
                                      </p:tavLst>
                                    </p:anim>
                                  </p:childTnLst>
                                </p:cTn>
                              </p:par>
                              <p:par>
                                <p:cTn id="45" presetID="39" presetClass="entr" presetSubtype="0" accel="100000"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anim calcmode="lin" valueType="num">
                                      <p:cBhvr>
                                        <p:cTn id="47" dur="500" fill="hold"/>
                                        <p:tgtEl>
                                          <p:spTgt spid="27"/>
                                        </p:tgtEl>
                                        <p:attrNameLst>
                                          <p:attrName>ppt_h</p:attrName>
                                        </p:attrNameLst>
                                      </p:cBhvr>
                                      <p:tavLst>
                                        <p:tav tm="0">
                                          <p:val>
                                            <p:strVal val="#ppt_h/20"/>
                                          </p:val>
                                        </p:tav>
                                        <p:tav tm="50000">
                                          <p:val>
                                            <p:strVal val="#ppt_h/20"/>
                                          </p:val>
                                        </p:tav>
                                        <p:tav tm="100000">
                                          <p:val>
                                            <p:strVal val="#ppt_h"/>
                                          </p:val>
                                        </p:tav>
                                      </p:tavLst>
                                    </p:anim>
                                    <p:anim calcmode="lin" valueType="num">
                                      <p:cBhvr>
                                        <p:cTn id="48" dur="500" fill="hold"/>
                                        <p:tgtEl>
                                          <p:spTgt spid="27"/>
                                        </p:tgtEl>
                                        <p:attrNameLst>
                                          <p:attrName>ppt_w</p:attrName>
                                        </p:attrNameLst>
                                      </p:cBhvr>
                                      <p:tavLst>
                                        <p:tav tm="0">
                                          <p:val>
                                            <p:strVal val="#ppt_w+.3"/>
                                          </p:val>
                                        </p:tav>
                                        <p:tav tm="50000">
                                          <p:val>
                                            <p:strVal val="#ppt_w+.3"/>
                                          </p:val>
                                        </p:tav>
                                        <p:tav tm="100000">
                                          <p:val>
                                            <p:strVal val="#ppt_w"/>
                                          </p:val>
                                        </p:tav>
                                      </p:tavLst>
                                    </p:anim>
                                    <p:anim calcmode="lin" valueType="num">
                                      <p:cBhvr>
                                        <p:cTn id="49" dur="500" fill="hold"/>
                                        <p:tgtEl>
                                          <p:spTgt spid="27"/>
                                        </p:tgtEl>
                                        <p:attrNameLst>
                                          <p:attrName>ppt_x</p:attrName>
                                        </p:attrNameLst>
                                      </p:cBhvr>
                                      <p:tavLst>
                                        <p:tav tm="0">
                                          <p:val>
                                            <p:strVal val="#ppt_x-.3"/>
                                          </p:val>
                                        </p:tav>
                                        <p:tav tm="50000">
                                          <p:val>
                                            <p:strVal val="#ppt_x"/>
                                          </p:val>
                                        </p:tav>
                                        <p:tav tm="100000">
                                          <p:val>
                                            <p:strVal val="#ppt_x"/>
                                          </p:val>
                                        </p:tav>
                                      </p:tavLst>
                                    </p:anim>
                                    <p:anim calcmode="lin" valueType="num">
                                      <p:cBhvr>
                                        <p:cTn id="50" dur="500" fill="hold"/>
                                        <p:tgtEl>
                                          <p:spTgt spid="27"/>
                                        </p:tgtEl>
                                        <p:attrNameLst>
                                          <p:attrName>ppt_y</p:attrName>
                                        </p:attrNameLst>
                                      </p:cBhvr>
                                      <p:tavLst>
                                        <p:tav tm="0">
                                          <p:val>
                                            <p:strVal val="#ppt_y"/>
                                          </p:val>
                                        </p:tav>
                                        <p:tav tm="100000">
                                          <p:val>
                                            <p:strVal val="#ppt_y"/>
                                          </p:val>
                                        </p:tav>
                                      </p:tavLst>
                                    </p:anim>
                                  </p:childTnLst>
                                </p:cTn>
                              </p:par>
                              <p:par>
                                <p:cTn id="51" presetID="39" presetClass="entr" presetSubtype="0" accel="100000" fill="hold" grpId="0" nodeType="withEffect">
                                  <p:stCondLst>
                                    <p:cond delay="0"/>
                                  </p:stCondLst>
                                  <p:childTnLst>
                                    <p:set>
                                      <p:cBhvr>
                                        <p:cTn id="52" dur="1" fill="hold">
                                          <p:stCondLst>
                                            <p:cond delay="0"/>
                                          </p:stCondLst>
                                        </p:cTn>
                                        <p:tgtEl>
                                          <p:spTgt spid="29"/>
                                        </p:tgtEl>
                                        <p:attrNameLst>
                                          <p:attrName>style.visibility</p:attrName>
                                        </p:attrNameLst>
                                      </p:cBhvr>
                                      <p:to>
                                        <p:strVal val="visible"/>
                                      </p:to>
                                    </p:set>
                                    <p:anim calcmode="lin" valueType="num">
                                      <p:cBhvr>
                                        <p:cTn id="53" dur="500" fill="hold"/>
                                        <p:tgtEl>
                                          <p:spTgt spid="29"/>
                                        </p:tgtEl>
                                        <p:attrNameLst>
                                          <p:attrName>ppt_h</p:attrName>
                                        </p:attrNameLst>
                                      </p:cBhvr>
                                      <p:tavLst>
                                        <p:tav tm="0">
                                          <p:val>
                                            <p:strVal val="#ppt_h/20"/>
                                          </p:val>
                                        </p:tav>
                                        <p:tav tm="50000">
                                          <p:val>
                                            <p:strVal val="#ppt_h/20"/>
                                          </p:val>
                                        </p:tav>
                                        <p:tav tm="100000">
                                          <p:val>
                                            <p:strVal val="#ppt_h"/>
                                          </p:val>
                                        </p:tav>
                                      </p:tavLst>
                                    </p:anim>
                                    <p:anim calcmode="lin" valueType="num">
                                      <p:cBhvr>
                                        <p:cTn id="54" dur="500" fill="hold"/>
                                        <p:tgtEl>
                                          <p:spTgt spid="29"/>
                                        </p:tgtEl>
                                        <p:attrNameLst>
                                          <p:attrName>ppt_w</p:attrName>
                                        </p:attrNameLst>
                                      </p:cBhvr>
                                      <p:tavLst>
                                        <p:tav tm="0">
                                          <p:val>
                                            <p:strVal val="#ppt_w+.3"/>
                                          </p:val>
                                        </p:tav>
                                        <p:tav tm="50000">
                                          <p:val>
                                            <p:strVal val="#ppt_w+.3"/>
                                          </p:val>
                                        </p:tav>
                                        <p:tav tm="100000">
                                          <p:val>
                                            <p:strVal val="#ppt_w"/>
                                          </p:val>
                                        </p:tav>
                                      </p:tavLst>
                                    </p:anim>
                                    <p:anim calcmode="lin" valueType="num">
                                      <p:cBhvr>
                                        <p:cTn id="55" dur="500" fill="hold"/>
                                        <p:tgtEl>
                                          <p:spTgt spid="29"/>
                                        </p:tgtEl>
                                        <p:attrNameLst>
                                          <p:attrName>ppt_x</p:attrName>
                                        </p:attrNameLst>
                                      </p:cBhvr>
                                      <p:tavLst>
                                        <p:tav tm="0">
                                          <p:val>
                                            <p:strVal val="#ppt_x-.3"/>
                                          </p:val>
                                        </p:tav>
                                        <p:tav tm="50000">
                                          <p:val>
                                            <p:strVal val="#ppt_x"/>
                                          </p:val>
                                        </p:tav>
                                        <p:tav tm="100000">
                                          <p:val>
                                            <p:strVal val="#ppt_x"/>
                                          </p:val>
                                        </p:tav>
                                      </p:tavLst>
                                    </p:anim>
                                    <p:anim calcmode="lin" valueType="num">
                                      <p:cBhvr>
                                        <p:cTn id="56" dur="500" fill="hold"/>
                                        <p:tgtEl>
                                          <p:spTgt spid="29"/>
                                        </p:tgtEl>
                                        <p:attrNameLst>
                                          <p:attrName>ppt_y</p:attrName>
                                        </p:attrNameLst>
                                      </p:cBhvr>
                                      <p:tavLst>
                                        <p:tav tm="0">
                                          <p:val>
                                            <p:strVal val="#ppt_y"/>
                                          </p:val>
                                        </p:tav>
                                        <p:tav tm="100000">
                                          <p:val>
                                            <p:strVal val="#ppt_y"/>
                                          </p:val>
                                        </p:tav>
                                      </p:tavLst>
                                    </p:anim>
                                  </p:childTnLst>
                                </p:cTn>
                              </p:par>
                              <p:par>
                                <p:cTn id="57" presetID="39" presetClass="entr" presetSubtype="0" accel="100000" fill="hold" grpId="0" nodeType="withEffect">
                                  <p:stCondLst>
                                    <p:cond delay="0"/>
                                  </p:stCondLst>
                                  <p:childTnLst>
                                    <p:set>
                                      <p:cBhvr>
                                        <p:cTn id="58" dur="1" fill="hold">
                                          <p:stCondLst>
                                            <p:cond delay="0"/>
                                          </p:stCondLst>
                                        </p:cTn>
                                        <p:tgtEl>
                                          <p:spTgt spid="31"/>
                                        </p:tgtEl>
                                        <p:attrNameLst>
                                          <p:attrName>style.visibility</p:attrName>
                                        </p:attrNameLst>
                                      </p:cBhvr>
                                      <p:to>
                                        <p:strVal val="visible"/>
                                      </p:to>
                                    </p:set>
                                    <p:anim calcmode="lin" valueType="num">
                                      <p:cBhvr>
                                        <p:cTn id="59" dur="500" fill="hold"/>
                                        <p:tgtEl>
                                          <p:spTgt spid="31"/>
                                        </p:tgtEl>
                                        <p:attrNameLst>
                                          <p:attrName>ppt_h</p:attrName>
                                        </p:attrNameLst>
                                      </p:cBhvr>
                                      <p:tavLst>
                                        <p:tav tm="0">
                                          <p:val>
                                            <p:strVal val="#ppt_h/20"/>
                                          </p:val>
                                        </p:tav>
                                        <p:tav tm="50000">
                                          <p:val>
                                            <p:strVal val="#ppt_h/20"/>
                                          </p:val>
                                        </p:tav>
                                        <p:tav tm="100000">
                                          <p:val>
                                            <p:strVal val="#ppt_h"/>
                                          </p:val>
                                        </p:tav>
                                      </p:tavLst>
                                    </p:anim>
                                    <p:anim calcmode="lin" valueType="num">
                                      <p:cBhvr>
                                        <p:cTn id="60" dur="500" fill="hold"/>
                                        <p:tgtEl>
                                          <p:spTgt spid="31"/>
                                        </p:tgtEl>
                                        <p:attrNameLst>
                                          <p:attrName>ppt_w</p:attrName>
                                        </p:attrNameLst>
                                      </p:cBhvr>
                                      <p:tavLst>
                                        <p:tav tm="0">
                                          <p:val>
                                            <p:strVal val="#ppt_w+.3"/>
                                          </p:val>
                                        </p:tav>
                                        <p:tav tm="50000">
                                          <p:val>
                                            <p:strVal val="#ppt_w+.3"/>
                                          </p:val>
                                        </p:tav>
                                        <p:tav tm="100000">
                                          <p:val>
                                            <p:strVal val="#ppt_w"/>
                                          </p:val>
                                        </p:tav>
                                      </p:tavLst>
                                    </p:anim>
                                    <p:anim calcmode="lin" valueType="num">
                                      <p:cBhvr>
                                        <p:cTn id="61" dur="500" fill="hold"/>
                                        <p:tgtEl>
                                          <p:spTgt spid="31"/>
                                        </p:tgtEl>
                                        <p:attrNameLst>
                                          <p:attrName>ppt_x</p:attrName>
                                        </p:attrNameLst>
                                      </p:cBhvr>
                                      <p:tavLst>
                                        <p:tav tm="0">
                                          <p:val>
                                            <p:strVal val="#ppt_x-.3"/>
                                          </p:val>
                                        </p:tav>
                                        <p:tav tm="50000">
                                          <p:val>
                                            <p:strVal val="#ppt_x"/>
                                          </p:val>
                                        </p:tav>
                                        <p:tav tm="100000">
                                          <p:val>
                                            <p:strVal val="#ppt_x"/>
                                          </p:val>
                                        </p:tav>
                                      </p:tavLst>
                                    </p:anim>
                                    <p:anim calcmode="lin" valueType="num">
                                      <p:cBhvr>
                                        <p:cTn id="62" dur="500" fill="hold"/>
                                        <p:tgtEl>
                                          <p:spTgt spid="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P spid="12" grpId="0"/>
      <p:bldP spid="13" grpId="0" animBg="1"/>
      <p:bldP spid="14" grpId="0"/>
      <p:bldP spid="15" grpId="0" animBg="1"/>
      <p:bldP spid="25" grpId="0" animBg="1"/>
      <p:bldP spid="27" grpId="0" animBg="1"/>
      <p:bldP spid="29" grpId="0" animBg="1"/>
      <p:bldP spid="3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E6799CE-1EDE-4226-986E-F66052053843}" type="datetime1">
              <a:rPr lang="en-US" smtClean="0">
                <a:latin typeface="Tw Cen MT" pitchFamily="34" charset="0"/>
              </a:rPr>
              <a:pPr/>
              <a:t>2/7/2016</a:t>
            </a:fld>
            <a:endParaRPr lang="en-US">
              <a:latin typeface="Tw Cen MT" pitchFamily="34" charset="0"/>
            </a:endParaRPr>
          </a:p>
        </p:txBody>
      </p:sp>
      <p:sp>
        <p:nvSpPr>
          <p:cNvPr id="5" name="Slide Number Placeholder 4"/>
          <p:cNvSpPr>
            <a:spLocks noGrp="1"/>
          </p:cNvSpPr>
          <p:nvPr>
            <p:ph type="sldNum" sz="quarter" idx="12"/>
          </p:nvPr>
        </p:nvSpPr>
        <p:spPr/>
        <p:txBody>
          <a:bodyPr>
            <a:normAutofit/>
          </a:bodyPr>
          <a:lstStyle/>
          <a:p>
            <a:fld id="{5BFD1995-F927-42BD-9A42-2CC717EA96E8}" type="slidenum">
              <a:rPr lang="en-US" smtClean="0">
                <a:latin typeface="Tw Cen MT" pitchFamily="34" charset="0"/>
              </a:rPr>
              <a:pPr/>
              <a:t>14</a:t>
            </a:fld>
            <a:endParaRPr lang="en-US">
              <a:latin typeface="Tw Cen MT" pitchFamily="34" charset="0"/>
            </a:endParaRPr>
          </a:p>
        </p:txBody>
      </p:sp>
      <p:sp>
        <p:nvSpPr>
          <p:cNvPr id="3" name="Content Placeholder 2"/>
          <p:cNvSpPr>
            <a:spLocks noGrp="1"/>
          </p:cNvSpPr>
          <p:nvPr>
            <p:ph sz="quarter" idx="1"/>
          </p:nvPr>
        </p:nvSpPr>
        <p:spPr>
          <a:xfrm>
            <a:off x="457200" y="1752600"/>
            <a:ext cx="8305800" cy="4724400"/>
          </a:xfrm>
        </p:spPr>
        <p:txBody>
          <a:bodyPr>
            <a:normAutofit fontScale="85000" lnSpcReduction="10000"/>
          </a:bodyPr>
          <a:lstStyle/>
          <a:p>
            <a:r>
              <a:rPr lang="en-US" sz="3200" dirty="0" smtClean="0">
                <a:latin typeface="Tw Cen MT" pitchFamily="34" charset="0"/>
              </a:rPr>
              <a:t>An abnormality of the cardiac rhythm: rate and regularity</a:t>
            </a:r>
          </a:p>
          <a:p>
            <a:r>
              <a:rPr lang="en-US" sz="3200" dirty="0" smtClean="0">
                <a:latin typeface="Tw Cen MT" pitchFamily="34" charset="0"/>
              </a:rPr>
              <a:t>Arrhythmias may cause sudden death, syncope, heart failure, dizziness, palpitations or no symptoms at all. </a:t>
            </a:r>
          </a:p>
          <a:p>
            <a:r>
              <a:rPr lang="en-US" sz="3200" dirty="0" smtClean="0">
                <a:latin typeface="Tw Cen MT" pitchFamily="34" charset="0"/>
              </a:rPr>
              <a:t>In general, cardiac arrhythmias are classified into two broad categories:</a:t>
            </a:r>
          </a:p>
          <a:p>
            <a:pPr lvl="1"/>
            <a:r>
              <a:rPr lang="en-US" sz="2900" b="1" dirty="0" smtClean="0">
                <a:latin typeface="Tw Cen MT" pitchFamily="34" charset="0"/>
              </a:rPr>
              <a:t>Supraventricula</a:t>
            </a:r>
            <a:r>
              <a:rPr lang="en-US" b="1" dirty="0" smtClean="0">
                <a:latin typeface="Tw Cen MT" pitchFamily="34" charset="0"/>
              </a:rPr>
              <a:t>r</a:t>
            </a:r>
            <a:r>
              <a:rPr lang="en-US" dirty="0" smtClean="0">
                <a:latin typeface="Tw Cen MT" pitchFamily="34" charset="0"/>
              </a:rPr>
              <a:t> </a:t>
            </a:r>
            <a:r>
              <a:rPr lang="en-US" sz="2800" dirty="0" smtClean="0">
                <a:latin typeface="Tw Cen MT" pitchFamily="34" charset="0"/>
              </a:rPr>
              <a:t>(those occurring above the ventricles)</a:t>
            </a:r>
          </a:p>
          <a:p>
            <a:pPr lvl="1"/>
            <a:r>
              <a:rPr lang="en-US" sz="2900" b="1" dirty="0" smtClean="0">
                <a:latin typeface="Tw Cen MT" pitchFamily="34" charset="0"/>
              </a:rPr>
              <a:t>Ventricular</a:t>
            </a:r>
            <a:r>
              <a:rPr lang="en-US" dirty="0" smtClean="0">
                <a:latin typeface="Tw Cen MT" pitchFamily="34" charset="0"/>
              </a:rPr>
              <a:t> </a:t>
            </a:r>
            <a:r>
              <a:rPr lang="en-US" sz="2800" dirty="0" smtClean="0">
                <a:latin typeface="Tw Cen MT" pitchFamily="34" charset="0"/>
              </a:rPr>
              <a:t>(those occurring in the ventricles). </a:t>
            </a:r>
          </a:p>
          <a:p>
            <a:r>
              <a:rPr lang="en-US" sz="3200" dirty="0" smtClean="0">
                <a:latin typeface="Tw Cen MT" pitchFamily="34" charset="0"/>
              </a:rPr>
              <a:t>base on the hear rate:</a:t>
            </a:r>
            <a:endParaRPr lang="ar-SA" sz="3200" dirty="0" smtClean="0">
              <a:latin typeface="Tw Cen MT" pitchFamily="34" charset="0"/>
            </a:endParaRPr>
          </a:p>
          <a:p>
            <a:pPr lvl="1"/>
            <a:r>
              <a:rPr lang="en-US" sz="2800" b="1" dirty="0" smtClean="0">
                <a:latin typeface="Tw Cen MT" pitchFamily="34" charset="0"/>
              </a:rPr>
              <a:t>bradycardia</a:t>
            </a:r>
            <a:r>
              <a:rPr lang="en-US" sz="2800" dirty="0" smtClean="0">
                <a:latin typeface="Tw Cen MT" pitchFamily="34" charset="0"/>
              </a:rPr>
              <a:t>: the HR is slow (&lt; 60 </a:t>
            </a:r>
            <a:r>
              <a:rPr lang="en-US" sz="2800" dirty="0" err="1" smtClean="0">
                <a:latin typeface="Tw Cen MT" pitchFamily="34" charset="0"/>
              </a:rPr>
              <a:t>b.p.m</a:t>
            </a:r>
            <a:r>
              <a:rPr lang="en-US" sz="2800" dirty="0" smtClean="0">
                <a:latin typeface="Tw Cen MT" pitchFamily="34" charset="0"/>
              </a:rPr>
              <a:t>).   </a:t>
            </a:r>
            <a:endParaRPr lang="ar-SA" sz="2800" dirty="0" smtClean="0">
              <a:latin typeface="Tw Cen MT" pitchFamily="34" charset="0"/>
            </a:endParaRPr>
          </a:p>
          <a:p>
            <a:pPr lvl="1"/>
            <a:r>
              <a:rPr lang="en-US" sz="2800" b="1" dirty="0" smtClean="0">
                <a:latin typeface="Tw Cen MT" pitchFamily="34" charset="0"/>
              </a:rPr>
              <a:t>tachycardia</a:t>
            </a:r>
            <a:r>
              <a:rPr lang="en-US" sz="2800" dirty="0" smtClean="0">
                <a:latin typeface="Tw Cen MT" pitchFamily="34" charset="0"/>
              </a:rPr>
              <a:t>: the HR is fast (&gt; 100 </a:t>
            </a:r>
            <a:r>
              <a:rPr lang="en-US" sz="2800" dirty="0" err="1" smtClean="0">
                <a:latin typeface="Tw Cen MT" pitchFamily="34" charset="0"/>
              </a:rPr>
              <a:t>b.p.m</a:t>
            </a:r>
            <a:r>
              <a:rPr lang="en-US" sz="2800" dirty="0" smtClean="0">
                <a:latin typeface="Tw Cen MT" pitchFamily="34" charset="0"/>
              </a:rPr>
              <a:t>).</a:t>
            </a:r>
            <a:endParaRPr lang="ar-SA" sz="2800" dirty="0" smtClean="0">
              <a:latin typeface="Tw Cen MT" pitchFamily="34" charset="0"/>
            </a:endParaRPr>
          </a:p>
        </p:txBody>
      </p:sp>
      <p:sp>
        <p:nvSpPr>
          <p:cNvPr id="6" name="Rectangle 5"/>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7" name="Title 6"/>
          <p:cNvSpPr>
            <a:spLocks noGrp="1"/>
          </p:cNvSpPr>
          <p:nvPr>
            <p:ph type="title"/>
          </p:nvPr>
        </p:nvSpPr>
        <p:spPr/>
        <p:txBody>
          <a:bodyPr/>
          <a:lstStyle/>
          <a:p>
            <a:pPr algn="l"/>
            <a:r>
              <a:rPr lang="en-US" b="1" dirty="0" smtClean="0">
                <a:solidFill>
                  <a:srgbClr val="FF0000"/>
                </a:solidFill>
                <a:latin typeface="Tw Cen MT" pitchFamily="34" charset="0"/>
              </a:rPr>
              <a:t>Definition </a:t>
            </a:r>
            <a:endParaRPr lang="en-US" b="1" dirty="0">
              <a:solidFill>
                <a:srgbClr val="FF0000"/>
              </a:solidFill>
              <a:latin typeface="Tw Cen MT" pitchFamily="34" charset="0"/>
            </a:endParaRP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0F9A62D7-AD47-45FA-9813-87AEEC092FB8}" type="datetime1">
              <a:rPr lang="en-US" smtClean="0"/>
              <a:pPr/>
              <a:t>2/7/2016</a:t>
            </a:fld>
            <a:endParaRPr lang="en-US"/>
          </a:p>
        </p:txBody>
      </p:sp>
      <p:sp>
        <p:nvSpPr>
          <p:cNvPr id="5" name="Footer Placeholder 4"/>
          <p:cNvSpPr>
            <a:spLocks noGrp="1"/>
          </p:cNvSpPr>
          <p:nvPr>
            <p:ph type="ftr" sz="quarter" idx="11"/>
          </p:nvPr>
        </p:nvSpPr>
        <p:spPr/>
        <p:txBody>
          <a:bodyPr/>
          <a:lstStyle/>
          <a:p>
            <a:r>
              <a:rPr lang="en-US" smtClean="0"/>
              <a:t>Pharmacotherapy of Arrythmia</a:t>
            </a:r>
            <a:endParaRPr lang="en-US"/>
          </a:p>
        </p:txBody>
      </p:sp>
      <p:sp>
        <p:nvSpPr>
          <p:cNvPr id="6" name="Slide Number Placeholder 5"/>
          <p:cNvSpPr>
            <a:spLocks noGrp="1"/>
          </p:cNvSpPr>
          <p:nvPr>
            <p:ph type="sldNum" sz="quarter" idx="12"/>
          </p:nvPr>
        </p:nvSpPr>
        <p:spPr/>
        <p:txBody>
          <a:bodyPr/>
          <a:lstStyle/>
          <a:p>
            <a:fld id="{10378336-832C-49E1-A40D-F05F4719695D}" type="slidenum">
              <a:rPr lang="en-US" smtClean="0"/>
              <a:pPr/>
              <a:t>15</a:t>
            </a:fld>
            <a:endParaRPr lang="en-US"/>
          </a:p>
        </p:txBody>
      </p:sp>
      <p:pic>
        <p:nvPicPr>
          <p:cNvPr id="7" name="Picture 2" descr="C:\Users\Acer\Downloads\ECG Pics\CVS_ecg_reading.gif"/>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73162"/>
          </a:xfrm>
        </p:spPr>
        <p:txBody>
          <a:bodyPr>
            <a:normAutofit fontScale="90000"/>
          </a:bodyPr>
          <a:lstStyle/>
          <a:p>
            <a:r>
              <a:rPr lang="en-US" b="1" dirty="0" smtClean="0">
                <a:solidFill>
                  <a:srgbClr val="FF0000"/>
                </a:solidFill>
                <a:latin typeface="Tw Cen MT" pitchFamily="34" charset="0"/>
              </a:rPr>
              <a:t>Mechanisms of Cardiac Arrhythmias</a:t>
            </a:r>
            <a:endParaRPr lang="en-US" b="1" dirty="0">
              <a:solidFill>
                <a:srgbClr val="FF0000"/>
              </a:solidFill>
              <a:latin typeface="Tw Cen MT" pitchFamily="34" charset="0"/>
            </a:endParaRPr>
          </a:p>
        </p:txBody>
      </p:sp>
      <p:sp>
        <p:nvSpPr>
          <p:cNvPr id="4" name="Date Placeholder 3"/>
          <p:cNvSpPr>
            <a:spLocks noGrp="1"/>
          </p:cNvSpPr>
          <p:nvPr>
            <p:ph type="dt" sz="half" idx="10"/>
          </p:nvPr>
        </p:nvSpPr>
        <p:spPr/>
        <p:txBody>
          <a:bodyPr/>
          <a:lstStyle/>
          <a:p>
            <a:fld id="{AE6799CE-1EDE-4226-986E-F66052053843}" type="datetime1">
              <a:rPr lang="en-US" smtClean="0">
                <a:solidFill>
                  <a:schemeClr val="tx1"/>
                </a:solidFill>
                <a:latin typeface="Tw Cen MT" pitchFamily="34" charset="0"/>
              </a:rPr>
              <a:pPr/>
              <a:t>2/7/2016</a:t>
            </a:fld>
            <a:endParaRPr lang="en-US">
              <a:solidFill>
                <a:schemeClr val="tx1"/>
              </a:solidFill>
              <a:latin typeface="Tw Cen MT" pitchFamily="34" charset="0"/>
            </a:endParaRPr>
          </a:p>
        </p:txBody>
      </p:sp>
      <p:sp>
        <p:nvSpPr>
          <p:cNvPr id="5" name="Slide Number Placeholder 4"/>
          <p:cNvSpPr>
            <a:spLocks noGrp="1"/>
          </p:cNvSpPr>
          <p:nvPr>
            <p:ph type="sldNum" sz="quarter" idx="12"/>
          </p:nvPr>
        </p:nvSpPr>
        <p:spPr/>
        <p:txBody>
          <a:bodyPr>
            <a:normAutofit/>
          </a:bodyPr>
          <a:lstStyle/>
          <a:p>
            <a:fld id="{5BFD1995-F927-42BD-9A42-2CC717EA96E8}" type="slidenum">
              <a:rPr lang="en-US" smtClean="0">
                <a:solidFill>
                  <a:schemeClr val="tx1"/>
                </a:solidFill>
                <a:latin typeface="Tw Cen MT" pitchFamily="34" charset="0"/>
              </a:rPr>
              <a:pPr/>
              <a:t>16</a:t>
            </a:fld>
            <a:endParaRPr lang="en-US">
              <a:solidFill>
                <a:schemeClr val="tx1"/>
              </a:solidFill>
              <a:latin typeface="Tw Cen MT" pitchFamily="34" charset="0"/>
            </a:endParaRPr>
          </a:p>
        </p:txBody>
      </p:sp>
      <p:sp>
        <p:nvSpPr>
          <p:cNvPr id="3" name="Content Placeholder 2"/>
          <p:cNvSpPr>
            <a:spLocks noGrp="1"/>
          </p:cNvSpPr>
          <p:nvPr>
            <p:ph sz="quarter" idx="1"/>
          </p:nvPr>
        </p:nvSpPr>
        <p:spPr>
          <a:xfrm>
            <a:off x="457200" y="1752600"/>
            <a:ext cx="8229600" cy="4800600"/>
          </a:xfrm>
        </p:spPr>
        <p:txBody>
          <a:bodyPr>
            <a:normAutofit fontScale="92500" lnSpcReduction="10000"/>
          </a:bodyPr>
          <a:lstStyle/>
          <a:p>
            <a:r>
              <a:rPr lang="en-US" b="1" dirty="0" smtClean="0">
                <a:solidFill>
                  <a:srgbClr val="6600FF"/>
                </a:solidFill>
                <a:latin typeface="Tw Cen MT" pitchFamily="34" charset="0"/>
              </a:rPr>
              <a:t>Mechanisms generating bradycardia</a:t>
            </a:r>
          </a:p>
          <a:p>
            <a:pPr lvl="1"/>
            <a:r>
              <a:rPr lang="en-US" dirty="0" smtClean="0">
                <a:latin typeface="Tw Cen MT" pitchFamily="34" charset="0"/>
              </a:rPr>
              <a:t>Sinus bradycardia is a result of </a:t>
            </a:r>
            <a:r>
              <a:rPr lang="en-US" b="1" dirty="0" smtClean="0">
                <a:latin typeface="Tw Cen MT" pitchFamily="34" charset="0"/>
              </a:rPr>
              <a:t>abnormally slow automaticity </a:t>
            </a:r>
          </a:p>
          <a:p>
            <a:pPr lvl="1"/>
            <a:r>
              <a:rPr lang="en-US" dirty="0" smtClean="0">
                <a:latin typeface="Tw Cen MT" pitchFamily="34" charset="0"/>
              </a:rPr>
              <a:t>AV block -by </a:t>
            </a:r>
            <a:r>
              <a:rPr lang="en-US" b="1" dirty="0" smtClean="0">
                <a:latin typeface="Tw Cen MT" pitchFamily="34" charset="0"/>
              </a:rPr>
              <a:t>abnormal conduction </a:t>
            </a:r>
            <a:r>
              <a:rPr lang="en-US" dirty="0" smtClean="0">
                <a:latin typeface="Tw Cen MT" pitchFamily="34" charset="0"/>
              </a:rPr>
              <a:t>within the AV node or the distal AV conduction system.</a:t>
            </a:r>
          </a:p>
          <a:p>
            <a:pPr>
              <a:buNone/>
            </a:pPr>
            <a:endParaRPr lang="en-US" dirty="0" smtClean="0">
              <a:latin typeface="Tw Cen MT" pitchFamily="34" charset="0"/>
            </a:endParaRPr>
          </a:p>
          <a:p>
            <a:r>
              <a:rPr lang="en-US" b="1" dirty="0" smtClean="0">
                <a:solidFill>
                  <a:srgbClr val="6600FF"/>
                </a:solidFill>
                <a:latin typeface="Tw Cen MT" pitchFamily="34" charset="0"/>
              </a:rPr>
              <a:t>Mechanisms generating tachycardia</a:t>
            </a:r>
          </a:p>
          <a:p>
            <a:pPr lvl="1"/>
            <a:r>
              <a:rPr lang="en-US" dirty="0" smtClean="0">
                <a:latin typeface="Tw Cen MT" pitchFamily="34" charset="0"/>
              </a:rPr>
              <a:t>Accelerated automaticity</a:t>
            </a:r>
          </a:p>
          <a:p>
            <a:pPr lvl="1"/>
            <a:r>
              <a:rPr lang="en-US" dirty="0" smtClean="0">
                <a:latin typeface="Tw Cen MT" pitchFamily="34" charset="0"/>
              </a:rPr>
              <a:t>Triggered activity</a:t>
            </a:r>
          </a:p>
          <a:p>
            <a:pPr lvl="1"/>
            <a:r>
              <a:rPr lang="en-US" dirty="0" smtClean="0">
                <a:latin typeface="Tw Cen MT" pitchFamily="34" charset="0"/>
              </a:rPr>
              <a:t>Re-entry (or circus movements)</a:t>
            </a:r>
          </a:p>
          <a:p>
            <a:endParaRPr lang="en-US" dirty="0">
              <a:latin typeface="Tw Cen MT" pitchFamily="34" charset="0"/>
            </a:endParaRPr>
          </a:p>
        </p:txBody>
      </p:sp>
      <p:sp>
        <p:nvSpPr>
          <p:cNvPr id="6" name="Rectangle 5"/>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Tw Cen MT" pitchFamily="34" charset="0"/>
            </a:endParaRPr>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73162"/>
          </a:xfrm>
        </p:spPr>
        <p:txBody>
          <a:bodyPr>
            <a:noAutofit/>
          </a:bodyPr>
          <a:lstStyle/>
          <a:p>
            <a:pPr algn="l"/>
            <a:r>
              <a:rPr lang="en-US" sz="3600" b="1" dirty="0" smtClean="0">
                <a:solidFill>
                  <a:srgbClr val="6600FF"/>
                </a:solidFill>
                <a:latin typeface="Tw Cen MT" pitchFamily="34" charset="0"/>
              </a:rPr>
              <a:t>Accelerated   automaticity</a:t>
            </a:r>
            <a:endParaRPr lang="en-US" sz="3600" b="1" dirty="0">
              <a:solidFill>
                <a:srgbClr val="6600FF"/>
              </a:solidFill>
              <a:latin typeface="Tw Cen MT" pitchFamily="34" charset="0"/>
            </a:endParaRPr>
          </a:p>
        </p:txBody>
      </p:sp>
      <p:sp>
        <p:nvSpPr>
          <p:cNvPr id="4" name="Date Placeholder 3"/>
          <p:cNvSpPr>
            <a:spLocks noGrp="1"/>
          </p:cNvSpPr>
          <p:nvPr>
            <p:ph type="dt" sz="half" idx="10"/>
          </p:nvPr>
        </p:nvSpPr>
        <p:spPr/>
        <p:txBody>
          <a:bodyPr/>
          <a:lstStyle/>
          <a:p>
            <a:fld id="{AE6799CE-1EDE-4226-986E-F66052053843}" type="datetime1">
              <a:rPr lang="en-US" smtClean="0">
                <a:solidFill>
                  <a:schemeClr val="tx1"/>
                </a:solidFill>
                <a:latin typeface="Tw Cen MT" pitchFamily="34" charset="0"/>
              </a:rPr>
              <a:pPr/>
              <a:t>2/7/2016</a:t>
            </a:fld>
            <a:endParaRPr lang="en-US">
              <a:solidFill>
                <a:schemeClr val="tx1"/>
              </a:solidFill>
              <a:latin typeface="Tw Cen MT" pitchFamily="34" charset="0"/>
            </a:endParaRPr>
          </a:p>
        </p:txBody>
      </p:sp>
      <p:sp>
        <p:nvSpPr>
          <p:cNvPr id="5" name="Slide Number Placeholder 4"/>
          <p:cNvSpPr>
            <a:spLocks noGrp="1"/>
          </p:cNvSpPr>
          <p:nvPr>
            <p:ph type="sldNum" sz="quarter" idx="12"/>
          </p:nvPr>
        </p:nvSpPr>
        <p:spPr/>
        <p:txBody>
          <a:bodyPr>
            <a:normAutofit/>
          </a:bodyPr>
          <a:lstStyle/>
          <a:p>
            <a:fld id="{5BFD1995-F927-42BD-9A42-2CC717EA96E8}" type="slidenum">
              <a:rPr lang="en-US" smtClean="0">
                <a:solidFill>
                  <a:schemeClr val="tx1"/>
                </a:solidFill>
                <a:latin typeface="Tw Cen MT" pitchFamily="34" charset="0"/>
              </a:rPr>
              <a:pPr/>
              <a:t>17</a:t>
            </a:fld>
            <a:endParaRPr lang="en-US">
              <a:solidFill>
                <a:schemeClr val="tx1"/>
              </a:solidFill>
              <a:latin typeface="Tw Cen MT" pitchFamily="34" charset="0"/>
            </a:endParaRPr>
          </a:p>
        </p:txBody>
      </p:sp>
      <p:sp>
        <p:nvSpPr>
          <p:cNvPr id="3" name="Content Placeholder 2"/>
          <p:cNvSpPr>
            <a:spLocks noGrp="1"/>
          </p:cNvSpPr>
          <p:nvPr>
            <p:ph sz="quarter" idx="1"/>
          </p:nvPr>
        </p:nvSpPr>
        <p:spPr>
          <a:xfrm>
            <a:off x="457200" y="1752600"/>
            <a:ext cx="8229600" cy="4648200"/>
          </a:xfrm>
        </p:spPr>
        <p:txBody>
          <a:bodyPr>
            <a:normAutofit fontScale="85000" lnSpcReduction="20000"/>
          </a:bodyPr>
          <a:lstStyle/>
          <a:p>
            <a:r>
              <a:rPr lang="en-US" dirty="0" smtClean="0">
                <a:latin typeface="Tw Cen MT" pitchFamily="34" charset="0"/>
              </a:rPr>
              <a:t>It occurs due to increasing the rate of  depolarization or changing the threshold potential. </a:t>
            </a:r>
          </a:p>
          <a:p>
            <a:endParaRPr lang="en-US" dirty="0" smtClean="0">
              <a:latin typeface="Tw Cen MT" pitchFamily="34" charset="0"/>
            </a:endParaRPr>
          </a:p>
          <a:p>
            <a:r>
              <a:rPr lang="en-US" dirty="0" smtClean="0">
                <a:latin typeface="Tw Cen MT" pitchFamily="34" charset="0"/>
              </a:rPr>
              <a:t>Such changes are thought to produce sinus tachycardia, escape rhythms and accelerated AV nodal (junctional) rhythms. </a:t>
            </a:r>
          </a:p>
          <a:p>
            <a:endParaRPr lang="en-US" dirty="0" smtClean="0">
              <a:latin typeface="Tw Cen MT" pitchFamily="34" charset="0"/>
            </a:endParaRPr>
          </a:p>
          <a:p>
            <a:r>
              <a:rPr lang="en-US" dirty="0" smtClean="0">
                <a:latin typeface="Tw Cen MT" pitchFamily="34" charset="0"/>
              </a:rPr>
              <a:t>an increased slope of phase 4 depolarization in cardiac tissues other than the SA node due to the following drugs and conditions;</a:t>
            </a:r>
          </a:p>
          <a:p>
            <a:pPr lvl="1"/>
            <a:r>
              <a:rPr lang="en-US" dirty="0" smtClean="0">
                <a:latin typeface="Tw Cen MT" pitchFamily="34" charset="0"/>
              </a:rPr>
              <a:t>digitalis glycosides, catecholamines , hypoxemia, electrolyte abnormalities, fiber stretch (cardiac dilation)</a:t>
            </a:r>
          </a:p>
        </p:txBody>
      </p:sp>
      <p:sp>
        <p:nvSpPr>
          <p:cNvPr id="6" name="Rectangle 5"/>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Tw Cen MT" pitchFamily="34" charset="0"/>
            </a:endParaRPr>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p:spPr>
        <p:txBody>
          <a:bodyPr>
            <a:normAutofit/>
          </a:bodyPr>
          <a:lstStyle/>
          <a:p>
            <a:pPr algn="l"/>
            <a:r>
              <a:rPr lang="en-US" sz="4000" b="1" dirty="0" smtClean="0">
                <a:solidFill>
                  <a:srgbClr val="6600FF"/>
                </a:solidFill>
                <a:latin typeface="Tw Cen MT" pitchFamily="34" charset="0"/>
              </a:rPr>
              <a:t>Triggered  activity</a:t>
            </a:r>
            <a:endParaRPr lang="en-US" sz="4000" b="1" dirty="0">
              <a:solidFill>
                <a:srgbClr val="6600FF"/>
              </a:solidFill>
              <a:latin typeface="Tw Cen MT" pitchFamily="34" charset="0"/>
            </a:endParaRPr>
          </a:p>
        </p:txBody>
      </p:sp>
      <p:sp>
        <p:nvSpPr>
          <p:cNvPr id="4" name="Date Placeholder 3"/>
          <p:cNvSpPr>
            <a:spLocks noGrp="1"/>
          </p:cNvSpPr>
          <p:nvPr>
            <p:ph type="dt" sz="half" idx="10"/>
          </p:nvPr>
        </p:nvSpPr>
        <p:spPr/>
        <p:txBody>
          <a:bodyPr/>
          <a:lstStyle/>
          <a:p>
            <a:fld id="{AE6799CE-1EDE-4226-986E-F66052053843}" type="datetime1">
              <a:rPr lang="en-US" smtClean="0">
                <a:solidFill>
                  <a:schemeClr val="tx1"/>
                </a:solidFill>
                <a:latin typeface="Tw Cen MT" pitchFamily="34" charset="0"/>
              </a:rPr>
              <a:pPr/>
              <a:t>2/7/2016</a:t>
            </a:fld>
            <a:endParaRPr lang="en-US">
              <a:solidFill>
                <a:schemeClr val="tx1"/>
              </a:solidFill>
              <a:latin typeface="Tw Cen MT" pitchFamily="34" charset="0"/>
            </a:endParaRPr>
          </a:p>
        </p:txBody>
      </p:sp>
      <p:sp>
        <p:nvSpPr>
          <p:cNvPr id="5" name="Slide Number Placeholder 4"/>
          <p:cNvSpPr>
            <a:spLocks noGrp="1"/>
          </p:cNvSpPr>
          <p:nvPr>
            <p:ph type="sldNum" sz="quarter" idx="12"/>
          </p:nvPr>
        </p:nvSpPr>
        <p:spPr/>
        <p:txBody>
          <a:bodyPr>
            <a:normAutofit/>
          </a:bodyPr>
          <a:lstStyle/>
          <a:p>
            <a:fld id="{5BFD1995-F927-42BD-9A42-2CC717EA96E8}" type="slidenum">
              <a:rPr lang="en-US" smtClean="0">
                <a:solidFill>
                  <a:schemeClr val="tx1"/>
                </a:solidFill>
                <a:latin typeface="Tw Cen MT" pitchFamily="34" charset="0"/>
              </a:rPr>
              <a:pPr/>
              <a:t>18</a:t>
            </a:fld>
            <a:endParaRPr lang="en-US">
              <a:solidFill>
                <a:schemeClr val="tx1"/>
              </a:solidFill>
              <a:latin typeface="Tw Cen MT" pitchFamily="34" charset="0"/>
            </a:endParaRPr>
          </a:p>
        </p:txBody>
      </p:sp>
      <p:sp>
        <p:nvSpPr>
          <p:cNvPr id="3" name="Content Placeholder 2"/>
          <p:cNvSpPr>
            <a:spLocks noGrp="1"/>
          </p:cNvSpPr>
          <p:nvPr>
            <p:ph sz="quarter" idx="1"/>
          </p:nvPr>
        </p:nvSpPr>
        <p:spPr>
          <a:xfrm>
            <a:off x="457200" y="1676400"/>
            <a:ext cx="8229600" cy="4800600"/>
          </a:xfrm>
        </p:spPr>
        <p:txBody>
          <a:bodyPr>
            <a:normAutofit fontScale="92500" lnSpcReduction="20000"/>
          </a:bodyPr>
          <a:lstStyle/>
          <a:p>
            <a:r>
              <a:rPr lang="en-US" dirty="0" smtClean="0">
                <a:latin typeface="Tw Cen MT" pitchFamily="34" charset="0"/>
              </a:rPr>
              <a:t>Transient membrane depolarizations that occur during repolarization  [EADs]) or after repolarization [LADs]) but prior to phase 4 of the AP</a:t>
            </a:r>
          </a:p>
          <a:p>
            <a:r>
              <a:rPr lang="en-US" dirty="0" smtClean="0">
                <a:latin typeface="Tw Cen MT" pitchFamily="34" charset="0"/>
              </a:rPr>
              <a:t>Presence of an increased Ca</a:t>
            </a:r>
            <a:r>
              <a:rPr lang="en-US" baseline="30000" dirty="0" smtClean="0">
                <a:latin typeface="Tw Cen MT" pitchFamily="34" charset="0"/>
              </a:rPr>
              <a:t>2+</a:t>
            </a:r>
            <a:r>
              <a:rPr lang="en-US" dirty="0" smtClean="0">
                <a:latin typeface="Tw Cen MT" pitchFamily="34" charset="0"/>
              </a:rPr>
              <a:t> load</a:t>
            </a:r>
          </a:p>
          <a:p>
            <a:r>
              <a:rPr lang="en-US" dirty="0" smtClean="0">
                <a:latin typeface="Tw Cen MT" pitchFamily="34" charset="0"/>
              </a:rPr>
              <a:t>EADs is by: </a:t>
            </a:r>
            <a:r>
              <a:rPr lang="en-US" sz="3200" dirty="0" smtClean="0">
                <a:latin typeface="Tw Cen MT" pitchFamily="34" charset="0"/>
              </a:rPr>
              <a:t>hypokalemia/K+ blockers, type Ia antiarrhythmic drugs. </a:t>
            </a:r>
          </a:p>
          <a:p>
            <a:pPr lvl="1"/>
            <a:r>
              <a:rPr lang="en-US" sz="2800" dirty="0" smtClean="0">
                <a:latin typeface="Tw Cen MT" pitchFamily="34" charset="0"/>
              </a:rPr>
              <a:t>Ex. Torsades de pointes</a:t>
            </a:r>
          </a:p>
          <a:p>
            <a:r>
              <a:rPr lang="en-US" sz="3200" dirty="0" smtClean="0">
                <a:latin typeface="Tw Cen MT" pitchFamily="34" charset="0"/>
              </a:rPr>
              <a:t>LADs is by: digitalis or catecholamines, ischemia and suppressed by CCBs. </a:t>
            </a:r>
          </a:p>
          <a:p>
            <a:pPr lvl="1"/>
            <a:r>
              <a:rPr lang="en-US" sz="2800" dirty="0" smtClean="0">
                <a:latin typeface="Tw Cen MT" pitchFamily="34" charset="0"/>
              </a:rPr>
              <a:t>Ex. exercise-provoked VT </a:t>
            </a:r>
            <a:endParaRPr lang="en-US" dirty="0" smtClean="0">
              <a:latin typeface="Tw Cen MT" pitchFamily="34" charset="0"/>
            </a:endParaRPr>
          </a:p>
        </p:txBody>
      </p:sp>
      <p:sp>
        <p:nvSpPr>
          <p:cNvPr id="6" name="Rectangle 5"/>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Tw Cen MT" pitchFamily="34" charset="0"/>
            </a:endParaRP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96962"/>
          </a:xfrm>
        </p:spPr>
        <p:txBody>
          <a:bodyPr>
            <a:normAutofit/>
          </a:bodyPr>
          <a:lstStyle/>
          <a:p>
            <a:pPr algn="l"/>
            <a:r>
              <a:rPr lang="en-US" sz="4000" b="1" dirty="0" smtClean="0">
                <a:solidFill>
                  <a:srgbClr val="6600FF"/>
                </a:solidFill>
                <a:latin typeface="Tw Cen MT" pitchFamily="34" charset="0"/>
              </a:rPr>
              <a:t>Re-entry (or circus movement)</a:t>
            </a:r>
            <a:endParaRPr lang="en-US" sz="4000" b="1" dirty="0">
              <a:solidFill>
                <a:srgbClr val="6600FF"/>
              </a:solidFill>
              <a:latin typeface="Tw Cen MT" pitchFamily="34" charset="0"/>
            </a:endParaRPr>
          </a:p>
        </p:txBody>
      </p:sp>
      <p:sp>
        <p:nvSpPr>
          <p:cNvPr id="4" name="Date Placeholder 3"/>
          <p:cNvSpPr>
            <a:spLocks noGrp="1"/>
          </p:cNvSpPr>
          <p:nvPr>
            <p:ph type="dt" sz="half" idx="10"/>
          </p:nvPr>
        </p:nvSpPr>
        <p:spPr/>
        <p:txBody>
          <a:bodyPr/>
          <a:lstStyle/>
          <a:p>
            <a:fld id="{AE6799CE-1EDE-4226-986E-F66052053843}" type="datetime1">
              <a:rPr lang="en-US" smtClean="0">
                <a:latin typeface="Tw Cen MT" pitchFamily="34" charset="0"/>
              </a:rPr>
              <a:pPr/>
              <a:t>2/7/2016</a:t>
            </a:fld>
            <a:endParaRPr lang="en-US">
              <a:latin typeface="Tw Cen MT" pitchFamily="34" charset="0"/>
            </a:endParaRPr>
          </a:p>
        </p:txBody>
      </p:sp>
      <p:sp>
        <p:nvSpPr>
          <p:cNvPr id="5" name="Slide Number Placeholder 4"/>
          <p:cNvSpPr>
            <a:spLocks noGrp="1"/>
          </p:cNvSpPr>
          <p:nvPr>
            <p:ph type="sldNum" sz="quarter" idx="12"/>
          </p:nvPr>
        </p:nvSpPr>
        <p:spPr/>
        <p:txBody>
          <a:bodyPr>
            <a:normAutofit/>
          </a:bodyPr>
          <a:lstStyle/>
          <a:p>
            <a:fld id="{5BFD1995-F927-42BD-9A42-2CC717EA96E8}" type="slidenum">
              <a:rPr lang="en-US" smtClean="0">
                <a:latin typeface="Tw Cen MT" pitchFamily="34" charset="0"/>
              </a:rPr>
              <a:pPr/>
              <a:t>19</a:t>
            </a:fld>
            <a:endParaRPr lang="en-US">
              <a:latin typeface="Tw Cen MT" pitchFamily="34" charset="0"/>
            </a:endParaRPr>
          </a:p>
        </p:txBody>
      </p:sp>
      <p:sp>
        <p:nvSpPr>
          <p:cNvPr id="3" name="Content Placeholder 2"/>
          <p:cNvSpPr>
            <a:spLocks noGrp="1"/>
          </p:cNvSpPr>
          <p:nvPr>
            <p:ph sz="quarter" idx="1"/>
          </p:nvPr>
        </p:nvSpPr>
        <p:spPr>
          <a:xfrm>
            <a:off x="457200" y="1676400"/>
            <a:ext cx="8382000" cy="4800600"/>
          </a:xfrm>
        </p:spPr>
        <p:txBody>
          <a:bodyPr>
            <a:normAutofit fontScale="92500" lnSpcReduction="10000"/>
          </a:bodyPr>
          <a:lstStyle/>
          <a:p>
            <a:r>
              <a:rPr lang="en-US" dirty="0" smtClean="0">
                <a:latin typeface="Tw Cen MT" pitchFamily="34" charset="0"/>
              </a:rPr>
              <a:t>An Indefinite propagation of the impulse and continued activation of previously refractory tissue.</a:t>
            </a:r>
          </a:p>
          <a:p>
            <a:endParaRPr lang="en-US" dirty="0" smtClean="0">
              <a:latin typeface="Tw Cen MT" pitchFamily="34" charset="0"/>
            </a:endParaRPr>
          </a:p>
          <a:p>
            <a:r>
              <a:rPr lang="en-US" dirty="0" smtClean="0">
                <a:latin typeface="Tw Cen MT" pitchFamily="34" charset="0"/>
              </a:rPr>
              <a:t>Reentry may occur as a consequence of anatomic or functional variants in the normal conduction system</a:t>
            </a:r>
          </a:p>
          <a:p>
            <a:endParaRPr lang="en-US" dirty="0" smtClean="0">
              <a:latin typeface="Tw Cen MT" pitchFamily="34" charset="0"/>
            </a:endParaRPr>
          </a:p>
          <a:p>
            <a:r>
              <a:rPr lang="en-US" dirty="0" smtClean="0">
                <a:latin typeface="Tw Cen MT" pitchFamily="34" charset="0"/>
              </a:rPr>
              <a:t>Heart  diseases (e.g., IHD, LV dysfunction) can result in changes in conduction in the pathways of a suitable reentrant substrate.</a:t>
            </a:r>
          </a:p>
          <a:p>
            <a:endParaRPr lang="en-US" dirty="0">
              <a:latin typeface="Tw Cen MT" pitchFamily="34" charset="0"/>
            </a:endParaRPr>
          </a:p>
        </p:txBody>
      </p:sp>
      <p:sp>
        <p:nvSpPr>
          <p:cNvPr id="6" name="Rectangle 5"/>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rmAutofit fontScale="90000"/>
          </a:bodyPr>
          <a:lstStyle/>
          <a:p>
            <a:pPr algn="l"/>
            <a:r>
              <a:rPr lang="en-US" b="1" dirty="0">
                <a:solidFill>
                  <a:srgbClr val="FF0000"/>
                </a:solidFill>
                <a:latin typeface="Tw Cen MT" pitchFamily="34" charset="0"/>
              </a:rPr>
              <a:t/>
            </a:r>
            <a:br>
              <a:rPr lang="en-US" b="1" dirty="0">
                <a:solidFill>
                  <a:srgbClr val="FF0000"/>
                </a:solidFill>
                <a:latin typeface="Tw Cen MT" pitchFamily="34" charset="0"/>
              </a:rPr>
            </a:br>
            <a:r>
              <a:rPr lang="en-US" b="1" dirty="0" smtClean="0">
                <a:solidFill>
                  <a:srgbClr val="FF0000"/>
                </a:solidFill>
                <a:latin typeface="Tw Cen MT" pitchFamily="34" charset="0"/>
              </a:rPr>
              <a:t>Pathophysiology</a:t>
            </a:r>
            <a:br>
              <a:rPr lang="en-US" b="1" dirty="0" smtClean="0">
                <a:solidFill>
                  <a:srgbClr val="FF0000"/>
                </a:solidFill>
                <a:latin typeface="Tw Cen MT" pitchFamily="34" charset="0"/>
              </a:rPr>
            </a:br>
            <a:r>
              <a:rPr lang="en-US" sz="4000" b="1" dirty="0" smtClean="0">
                <a:solidFill>
                  <a:srgbClr val="6600FF"/>
                </a:solidFill>
                <a:latin typeface="Tw Cen MT" pitchFamily="34" charset="0"/>
              </a:rPr>
              <a:t>Supraventricular Arrhythmias</a:t>
            </a:r>
            <a:r>
              <a:rPr lang="en-US" b="1" dirty="0" smtClean="0">
                <a:solidFill>
                  <a:srgbClr val="FF0000"/>
                </a:solidFill>
                <a:latin typeface="Tw Cen MT" pitchFamily="34" charset="0"/>
              </a:rPr>
              <a:t/>
            </a:r>
            <a:br>
              <a:rPr lang="en-US" b="1" dirty="0" smtClean="0">
                <a:solidFill>
                  <a:srgbClr val="FF0000"/>
                </a:solidFill>
                <a:latin typeface="Tw Cen MT" pitchFamily="34" charset="0"/>
              </a:rPr>
            </a:br>
            <a:endParaRPr lang="en-US"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229600" cy="4525963"/>
          </a:xfrm>
        </p:spPr>
        <p:txBody>
          <a:bodyPr>
            <a:normAutofit fontScale="85000" lnSpcReduction="20000"/>
          </a:bodyPr>
          <a:lstStyle/>
          <a:p>
            <a:r>
              <a:rPr lang="en-US" dirty="0" smtClean="0">
                <a:latin typeface="Tw Cen MT" pitchFamily="34" charset="0"/>
              </a:rPr>
              <a:t>Common supraventricular tachycardias </a:t>
            </a:r>
            <a:r>
              <a:rPr lang="en-US" b="1" dirty="0" smtClean="0">
                <a:latin typeface="Tw Cen MT" pitchFamily="34" charset="0"/>
              </a:rPr>
              <a:t>requiring drug treatment</a:t>
            </a:r>
            <a:r>
              <a:rPr lang="en-US" dirty="0" smtClean="0">
                <a:latin typeface="Tw Cen MT" pitchFamily="34" charset="0"/>
              </a:rPr>
              <a:t> are </a:t>
            </a:r>
          </a:p>
          <a:p>
            <a:pPr lvl="1"/>
            <a:r>
              <a:rPr lang="en-US" dirty="0" smtClean="0">
                <a:latin typeface="Tw Cen MT" pitchFamily="34" charset="0"/>
              </a:rPr>
              <a:t>atrial fibrillation (AF) or atrial flutter </a:t>
            </a:r>
          </a:p>
          <a:p>
            <a:pPr lvl="1"/>
            <a:r>
              <a:rPr lang="en-US" dirty="0" smtClean="0">
                <a:latin typeface="Tw Cen MT" pitchFamily="34" charset="0"/>
              </a:rPr>
              <a:t>paroxysmal supraventricular tachycardia (PSVT) and </a:t>
            </a:r>
          </a:p>
          <a:p>
            <a:pPr lvl="1"/>
            <a:r>
              <a:rPr lang="en-US" dirty="0" smtClean="0">
                <a:latin typeface="Tw Cen MT" pitchFamily="34" charset="0"/>
              </a:rPr>
              <a:t>automatic atrial tachycardias</a:t>
            </a:r>
          </a:p>
          <a:p>
            <a:endParaRPr lang="en-US" dirty="0" smtClean="0">
              <a:latin typeface="Tw Cen MT" pitchFamily="34" charset="0"/>
            </a:endParaRPr>
          </a:p>
          <a:p>
            <a:r>
              <a:rPr lang="en-US" dirty="0" smtClean="0">
                <a:latin typeface="Tw Cen MT" pitchFamily="34" charset="0"/>
              </a:rPr>
              <a:t>Other common supraventricular arrhythmias that usually </a:t>
            </a:r>
            <a:r>
              <a:rPr lang="en-US" b="1" dirty="0" smtClean="0">
                <a:latin typeface="Tw Cen MT" pitchFamily="34" charset="0"/>
              </a:rPr>
              <a:t>do not require drug therapy </a:t>
            </a:r>
            <a:r>
              <a:rPr lang="en-US" dirty="0" smtClean="0">
                <a:latin typeface="Tw Cen MT" pitchFamily="34" charset="0"/>
              </a:rPr>
              <a:t>are </a:t>
            </a:r>
          </a:p>
          <a:p>
            <a:pPr lvl="1"/>
            <a:r>
              <a:rPr lang="en-US" dirty="0" smtClean="0">
                <a:latin typeface="Tw Cen MT" pitchFamily="34" charset="0"/>
              </a:rPr>
              <a:t>premature atrial complexes</a:t>
            </a:r>
          </a:p>
          <a:p>
            <a:pPr lvl="1"/>
            <a:r>
              <a:rPr lang="en-US" dirty="0" smtClean="0">
                <a:latin typeface="Tw Cen MT" pitchFamily="34" charset="0"/>
              </a:rPr>
              <a:t>wandering atrial pace-maker </a:t>
            </a:r>
          </a:p>
          <a:p>
            <a:pPr lvl="1"/>
            <a:r>
              <a:rPr lang="en-US" dirty="0" smtClean="0">
                <a:latin typeface="Tw Cen MT" pitchFamily="34" charset="0"/>
              </a:rPr>
              <a:t>sinus arrhythmia</a:t>
            </a:r>
          </a:p>
          <a:p>
            <a:pPr lvl="1"/>
            <a:r>
              <a:rPr lang="en-US" dirty="0" smtClean="0">
                <a:latin typeface="Tw Cen MT" pitchFamily="34" charset="0"/>
              </a:rPr>
              <a:t>sinus tachycardia</a:t>
            </a:r>
            <a:endParaRPr lang="en-US"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7AD4070D-2D48-4E39-A772-3A0723168A08}"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20</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rmAutofit fontScale="90000"/>
          </a:bodyPr>
          <a:lstStyle/>
          <a:p>
            <a:pPr algn="l"/>
            <a:r>
              <a:rPr lang="en-US" b="1" dirty="0">
                <a:solidFill>
                  <a:srgbClr val="FF0000"/>
                </a:solidFill>
                <a:latin typeface="Tw Cen MT" pitchFamily="34" charset="0"/>
              </a:rPr>
              <a:t/>
            </a:r>
            <a:br>
              <a:rPr lang="en-US" b="1" dirty="0">
                <a:solidFill>
                  <a:srgbClr val="FF0000"/>
                </a:solidFill>
                <a:latin typeface="Tw Cen MT" pitchFamily="34" charset="0"/>
              </a:rPr>
            </a:br>
            <a:r>
              <a:rPr lang="en-US" sz="4000" b="1" dirty="0" smtClean="0">
                <a:solidFill>
                  <a:srgbClr val="6600FF"/>
                </a:solidFill>
                <a:latin typeface="Tw Cen MT" pitchFamily="34" charset="0"/>
              </a:rPr>
              <a:t>Atrial Fibrillation and Atrial Flutter</a:t>
            </a:r>
            <a:br>
              <a:rPr lang="en-US" sz="4000" b="1" dirty="0" smtClean="0">
                <a:solidFill>
                  <a:srgbClr val="6600FF"/>
                </a:solidFill>
                <a:latin typeface="Tw Cen MT" pitchFamily="34" charset="0"/>
              </a:rPr>
            </a:br>
            <a:endParaRPr lang="en-US" b="1" dirty="0">
              <a:solidFill>
                <a:srgbClr val="6600FF"/>
              </a:solidFill>
              <a:latin typeface="Tw Cen MT" pitchFamily="34" charset="0"/>
            </a:endParaRPr>
          </a:p>
        </p:txBody>
      </p:sp>
      <p:sp>
        <p:nvSpPr>
          <p:cNvPr id="3" name="Content Placeholder 2"/>
          <p:cNvSpPr>
            <a:spLocks noGrp="1"/>
          </p:cNvSpPr>
          <p:nvPr>
            <p:ph idx="1"/>
          </p:nvPr>
        </p:nvSpPr>
        <p:spPr>
          <a:xfrm>
            <a:off x="457200" y="1600200"/>
            <a:ext cx="8229600" cy="4525963"/>
          </a:xfrm>
        </p:spPr>
        <p:txBody>
          <a:bodyPr>
            <a:normAutofit lnSpcReduction="10000"/>
          </a:bodyPr>
          <a:lstStyle/>
          <a:p>
            <a:r>
              <a:rPr lang="en-US" dirty="0" smtClean="0">
                <a:latin typeface="Tw Cen MT" pitchFamily="34" charset="0"/>
              </a:rPr>
              <a:t>AF </a:t>
            </a:r>
          </a:p>
          <a:p>
            <a:pPr lvl="1"/>
            <a:r>
              <a:rPr lang="en-US" dirty="0" smtClean="0">
                <a:latin typeface="Tw Cen MT" pitchFamily="34" charset="0"/>
              </a:rPr>
              <a:t>is characterized as an extremely rapid (400 to 600 atrial beats/min) and disorganized atrial activation. </a:t>
            </a:r>
          </a:p>
          <a:p>
            <a:pPr lvl="1"/>
            <a:r>
              <a:rPr lang="en-US" dirty="0" smtClean="0">
                <a:latin typeface="Tw Cen MT" pitchFamily="34" charset="0"/>
              </a:rPr>
              <a:t>There is a loss of atrial contraction (atrial kick) and </a:t>
            </a:r>
          </a:p>
          <a:p>
            <a:pPr lvl="1"/>
            <a:r>
              <a:rPr lang="en-US" dirty="0" smtClean="0">
                <a:latin typeface="Tw Cen MT" pitchFamily="34" charset="0"/>
              </a:rPr>
              <a:t>supraventricular impulses penetrate the atrioventricular (AV) conduction system in variable degrees, </a:t>
            </a:r>
          </a:p>
          <a:p>
            <a:pPr lvl="2"/>
            <a:r>
              <a:rPr lang="en-US" dirty="0" smtClean="0">
                <a:latin typeface="Tw Cen MT" pitchFamily="34" charset="0"/>
              </a:rPr>
              <a:t>resulting in irregular ventricular activation and </a:t>
            </a:r>
            <a:r>
              <a:rPr lang="en-US" b="1" dirty="0" smtClean="0">
                <a:latin typeface="Tw Cen MT" pitchFamily="34" charset="0"/>
              </a:rPr>
              <a:t>irregularly irregular </a:t>
            </a:r>
            <a:r>
              <a:rPr lang="en-US" dirty="0" smtClean="0">
                <a:latin typeface="Tw Cen MT" pitchFamily="34" charset="0"/>
              </a:rPr>
              <a:t>pulse (120 to 180 beats/min).</a:t>
            </a:r>
            <a:endParaRPr lang="en-US"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A9245C4D-0ABD-40D8-924C-08BE415EF5D1}"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21</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pPr algn="l"/>
            <a:r>
              <a:rPr lang="en-US" b="1" dirty="0" smtClean="0">
                <a:solidFill>
                  <a:srgbClr val="FF0000"/>
                </a:solidFill>
                <a:latin typeface="Tw Cen MT" pitchFamily="34" charset="0"/>
              </a:rPr>
              <a:t>Cont…</a:t>
            </a:r>
            <a:endParaRPr lang="en-US"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229600" cy="4525963"/>
          </a:xfrm>
        </p:spPr>
        <p:txBody>
          <a:bodyPr>
            <a:normAutofit/>
          </a:bodyPr>
          <a:lstStyle/>
          <a:p>
            <a:r>
              <a:rPr lang="en-US" dirty="0" smtClean="0">
                <a:latin typeface="Tw Cen MT" pitchFamily="34" charset="0"/>
              </a:rPr>
              <a:t>Atrial flutter </a:t>
            </a:r>
          </a:p>
          <a:p>
            <a:pPr lvl="1"/>
            <a:r>
              <a:rPr lang="en-US" dirty="0" smtClean="0">
                <a:latin typeface="Tw Cen MT" pitchFamily="34" charset="0"/>
              </a:rPr>
              <a:t>is characterized by rapid (270 to 330 atrial beats/min) but regular atrial activation. </a:t>
            </a:r>
          </a:p>
          <a:p>
            <a:pPr lvl="1"/>
            <a:r>
              <a:rPr lang="en-US" dirty="0" smtClean="0">
                <a:latin typeface="Tw Cen MT" pitchFamily="34" charset="0"/>
              </a:rPr>
              <a:t>The ventricular response usually has a regular pattern and a pulse of 300 beats/min. </a:t>
            </a:r>
          </a:p>
          <a:p>
            <a:pPr lvl="1"/>
            <a:r>
              <a:rPr lang="en-US" dirty="0" smtClean="0">
                <a:latin typeface="Tw Cen MT" pitchFamily="34" charset="0"/>
              </a:rPr>
              <a:t>This arrhythmia occurs less frequently than AF but </a:t>
            </a:r>
          </a:p>
          <a:p>
            <a:pPr lvl="2"/>
            <a:r>
              <a:rPr lang="en-US" dirty="0" smtClean="0">
                <a:latin typeface="Tw Cen MT" pitchFamily="34" charset="0"/>
              </a:rPr>
              <a:t>has similar precipitating factors, consequences, and drug therapy.</a:t>
            </a:r>
            <a:endParaRPr lang="en-US"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C1C6DC23-E4CD-47FB-8215-0EC303262B73}"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22</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pPr algn="l"/>
            <a:r>
              <a:rPr lang="en-US" b="1" dirty="0" smtClean="0">
                <a:solidFill>
                  <a:srgbClr val="FF0000"/>
                </a:solidFill>
                <a:latin typeface="Tw Cen MT" pitchFamily="34" charset="0"/>
              </a:rPr>
              <a:t>Cont…</a:t>
            </a:r>
            <a:endParaRPr lang="en-US"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229600" cy="4525963"/>
          </a:xfrm>
        </p:spPr>
        <p:txBody>
          <a:bodyPr>
            <a:normAutofit fontScale="92500"/>
          </a:bodyPr>
          <a:lstStyle/>
          <a:p>
            <a:r>
              <a:rPr lang="en-US" dirty="0" smtClean="0">
                <a:latin typeface="Tw Cen MT" pitchFamily="34" charset="0"/>
              </a:rPr>
              <a:t>The predominant mechanism of AF and atrial flutter is</a:t>
            </a:r>
            <a:r>
              <a:rPr lang="en-US" b="1" dirty="0" smtClean="0">
                <a:latin typeface="Tw Cen MT" pitchFamily="34" charset="0"/>
              </a:rPr>
              <a:t> reentry, </a:t>
            </a:r>
          </a:p>
          <a:p>
            <a:pPr lvl="1"/>
            <a:r>
              <a:rPr lang="en-US" dirty="0" smtClean="0">
                <a:latin typeface="Tw Cen MT" pitchFamily="34" charset="0"/>
              </a:rPr>
              <a:t>which is usually associated with organic heart disease that causes atrial distention (e.g., ischemia or infarction, hypertensive heart disease, valvular disorders). </a:t>
            </a:r>
          </a:p>
          <a:p>
            <a:pPr lvl="1"/>
            <a:r>
              <a:rPr lang="en-US" dirty="0" smtClean="0">
                <a:latin typeface="Tw Cen MT" pitchFamily="34" charset="0"/>
              </a:rPr>
              <a:t>Additional associated disorders include </a:t>
            </a:r>
          </a:p>
          <a:p>
            <a:pPr lvl="2"/>
            <a:r>
              <a:rPr lang="en-US" dirty="0" smtClean="0">
                <a:latin typeface="Tw Cen MT" pitchFamily="34" charset="0"/>
              </a:rPr>
              <a:t>acute pulmonary embolus and chronic lung disease, resulting in pulmonary hypertension and cor</a:t>
            </a:r>
            <a:r>
              <a:rPr lang="en-US" dirty="0">
                <a:latin typeface="Tw Cen MT" pitchFamily="34" charset="0"/>
              </a:rPr>
              <a:t> </a:t>
            </a:r>
            <a:r>
              <a:rPr lang="en-US" dirty="0" smtClean="0">
                <a:latin typeface="Tw Cen MT" pitchFamily="34" charset="0"/>
              </a:rPr>
              <a:t>pulmonale and </a:t>
            </a:r>
          </a:p>
          <a:p>
            <a:pPr lvl="2"/>
            <a:r>
              <a:rPr lang="en-US" dirty="0" smtClean="0">
                <a:latin typeface="Tw Cen MT" pitchFamily="34" charset="0"/>
              </a:rPr>
              <a:t>states of high adrenergic tone such as thyrotoxicosis, alcohol withdrawal, sepsis or excessive physical exertion</a:t>
            </a:r>
            <a:endParaRPr lang="en-US"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B042A4A4-A5E0-404F-8A43-7995E876F55D}"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23</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rmAutofit/>
          </a:bodyPr>
          <a:lstStyle/>
          <a:p>
            <a:pPr algn="l"/>
            <a:r>
              <a:rPr lang="en-US" sz="4000" b="1" dirty="0" smtClean="0">
                <a:solidFill>
                  <a:srgbClr val="6600FF"/>
                </a:solidFill>
                <a:latin typeface="Tw Cen MT" pitchFamily="34" charset="0"/>
              </a:rPr>
              <a:t>PSVT</a:t>
            </a:r>
            <a:endParaRPr lang="en-US" b="1" dirty="0">
              <a:solidFill>
                <a:srgbClr val="6600FF"/>
              </a:solidFill>
              <a:latin typeface="Tw Cen MT" pitchFamily="34" charset="0"/>
            </a:endParaRPr>
          </a:p>
        </p:txBody>
      </p:sp>
      <p:sp>
        <p:nvSpPr>
          <p:cNvPr id="3" name="Content Placeholder 2"/>
          <p:cNvSpPr>
            <a:spLocks noGrp="1"/>
          </p:cNvSpPr>
          <p:nvPr>
            <p:ph idx="1"/>
          </p:nvPr>
        </p:nvSpPr>
        <p:spPr>
          <a:xfrm>
            <a:off x="457200" y="1600200"/>
            <a:ext cx="8229600" cy="4525963"/>
          </a:xfrm>
        </p:spPr>
        <p:txBody>
          <a:bodyPr>
            <a:normAutofit/>
          </a:bodyPr>
          <a:lstStyle/>
          <a:p>
            <a:r>
              <a:rPr lang="en-US" dirty="0" smtClean="0">
                <a:latin typeface="Tw Cen MT" pitchFamily="34" charset="0"/>
              </a:rPr>
              <a:t>Caused by Reentry</a:t>
            </a:r>
          </a:p>
          <a:p>
            <a:r>
              <a:rPr lang="en-US" dirty="0" smtClean="0">
                <a:latin typeface="Tw Cen MT" pitchFamily="34" charset="0"/>
              </a:rPr>
              <a:t>PSVT arising by reentrant mechanisms includes arrhythmias caused by </a:t>
            </a:r>
          </a:p>
          <a:p>
            <a:pPr lvl="1"/>
            <a:r>
              <a:rPr lang="en-US" dirty="0" smtClean="0">
                <a:latin typeface="Tw Cen MT" pitchFamily="34" charset="0"/>
              </a:rPr>
              <a:t>AV</a:t>
            </a:r>
            <a:r>
              <a:rPr lang="en-US" dirty="0">
                <a:latin typeface="Tw Cen MT" pitchFamily="34" charset="0"/>
              </a:rPr>
              <a:t> </a:t>
            </a:r>
            <a:r>
              <a:rPr lang="en-US" dirty="0" smtClean="0">
                <a:latin typeface="Tw Cen MT" pitchFamily="34" charset="0"/>
              </a:rPr>
              <a:t>nodal reentry</a:t>
            </a:r>
          </a:p>
          <a:p>
            <a:pPr lvl="1"/>
            <a:r>
              <a:rPr lang="en-US" dirty="0" smtClean="0">
                <a:latin typeface="Tw Cen MT" pitchFamily="34" charset="0"/>
              </a:rPr>
              <a:t>AV reentry incorporating an anomalous AV  pathway </a:t>
            </a:r>
          </a:p>
          <a:p>
            <a:pPr lvl="1"/>
            <a:r>
              <a:rPr lang="en-US" dirty="0" smtClean="0">
                <a:latin typeface="Tw Cen MT" pitchFamily="34" charset="0"/>
              </a:rPr>
              <a:t>sinoatrial (SA) nodal reentry and </a:t>
            </a:r>
          </a:p>
          <a:p>
            <a:pPr lvl="1"/>
            <a:r>
              <a:rPr lang="en-US" dirty="0" smtClean="0">
                <a:latin typeface="Tw Cen MT" pitchFamily="34" charset="0"/>
              </a:rPr>
              <a:t>intraatrial reentry</a:t>
            </a:r>
            <a:endParaRPr lang="en-US"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754FADF5-2C96-4882-923C-92B88A7C93F5}"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24</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rmAutofit fontScale="90000"/>
          </a:bodyPr>
          <a:lstStyle/>
          <a:p>
            <a:pPr algn="l"/>
            <a:r>
              <a:rPr lang="en-US" b="1" dirty="0" smtClean="0">
                <a:solidFill>
                  <a:srgbClr val="FF0000"/>
                </a:solidFill>
                <a:latin typeface="Tw Cen MT" pitchFamily="34" charset="0"/>
              </a:rPr>
              <a:t/>
            </a:r>
            <a:br>
              <a:rPr lang="en-US" b="1" dirty="0" smtClean="0">
                <a:solidFill>
                  <a:srgbClr val="FF0000"/>
                </a:solidFill>
                <a:latin typeface="Tw Cen MT" pitchFamily="34" charset="0"/>
              </a:rPr>
            </a:br>
            <a:r>
              <a:rPr lang="en-US" sz="4000" b="1" dirty="0" smtClean="0">
                <a:solidFill>
                  <a:srgbClr val="6600FF"/>
                </a:solidFill>
                <a:latin typeface="Tw Cen MT" pitchFamily="34" charset="0"/>
              </a:rPr>
              <a:t>Automatic Atrial Tachycardias</a:t>
            </a:r>
            <a:br>
              <a:rPr lang="en-US" sz="4000" b="1" dirty="0" smtClean="0">
                <a:solidFill>
                  <a:srgbClr val="6600FF"/>
                </a:solidFill>
                <a:latin typeface="Tw Cen MT" pitchFamily="34" charset="0"/>
              </a:rPr>
            </a:br>
            <a:endParaRPr lang="en-US" b="1" dirty="0">
              <a:solidFill>
                <a:srgbClr val="6600FF"/>
              </a:solidFill>
              <a:latin typeface="Tw Cen MT" pitchFamily="34" charset="0"/>
            </a:endParaRPr>
          </a:p>
        </p:txBody>
      </p:sp>
      <p:sp>
        <p:nvSpPr>
          <p:cNvPr id="3" name="Content Placeholder 2"/>
          <p:cNvSpPr>
            <a:spLocks noGrp="1"/>
          </p:cNvSpPr>
          <p:nvPr>
            <p:ph idx="1"/>
          </p:nvPr>
        </p:nvSpPr>
        <p:spPr>
          <a:xfrm>
            <a:off x="457200" y="1600200"/>
            <a:ext cx="8229600" cy="4525963"/>
          </a:xfrm>
        </p:spPr>
        <p:txBody>
          <a:bodyPr>
            <a:normAutofit/>
          </a:bodyPr>
          <a:lstStyle/>
          <a:p>
            <a:r>
              <a:rPr lang="en-US" dirty="0" smtClean="0">
                <a:latin typeface="Tw Cen MT" pitchFamily="34" charset="0"/>
              </a:rPr>
              <a:t>Automatic atrial tachycardias such as multifocal atrial tachycardia appear to arise from </a:t>
            </a:r>
          </a:p>
          <a:p>
            <a:pPr lvl="1"/>
            <a:r>
              <a:rPr lang="en-US" b="1" dirty="0" smtClean="0">
                <a:latin typeface="Tw Cen MT" pitchFamily="34" charset="0"/>
              </a:rPr>
              <a:t>supraventricular foci with enhanced automatic properties.</a:t>
            </a:r>
          </a:p>
          <a:p>
            <a:endParaRPr lang="en-US" dirty="0" smtClean="0">
              <a:latin typeface="Tw Cen MT" pitchFamily="34" charset="0"/>
            </a:endParaRPr>
          </a:p>
          <a:p>
            <a:r>
              <a:rPr lang="en-US" dirty="0" smtClean="0">
                <a:latin typeface="Tw Cen MT" pitchFamily="34" charset="0"/>
              </a:rPr>
              <a:t>Severe pulmonary disease is the underlying precipitating disorder in 60% to 80% of patients.</a:t>
            </a:r>
            <a:endParaRPr lang="en-US"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21D0D682-B19B-4944-9813-6E674AFAC407}"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25</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rmAutofit fontScale="90000"/>
          </a:bodyPr>
          <a:lstStyle/>
          <a:p>
            <a:pPr algn="l"/>
            <a:r>
              <a:rPr lang="en-US" b="1" dirty="0">
                <a:solidFill>
                  <a:srgbClr val="FF0000"/>
                </a:solidFill>
                <a:latin typeface="Tw Cen MT" pitchFamily="34" charset="0"/>
              </a:rPr>
              <a:t/>
            </a:r>
            <a:br>
              <a:rPr lang="en-US" b="1" dirty="0">
                <a:solidFill>
                  <a:srgbClr val="FF0000"/>
                </a:solidFill>
                <a:latin typeface="Tw Cen MT" pitchFamily="34" charset="0"/>
              </a:rPr>
            </a:br>
            <a:r>
              <a:rPr lang="en-US" sz="4000" b="1" dirty="0" smtClean="0">
                <a:solidFill>
                  <a:srgbClr val="6600FF"/>
                </a:solidFill>
                <a:latin typeface="Tw Cen MT" pitchFamily="34" charset="0"/>
              </a:rPr>
              <a:t>Ventricular Arrhythmias</a:t>
            </a:r>
            <a:br>
              <a:rPr lang="en-US" sz="4000" b="1" dirty="0" smtClean="0">
                <a:solidFill>
                  <a:srgbClr val="6600FF"/>
                </a:solidFill>
                <a:latin typeface="Tw Cen MT" pitchFamily="34" charset="0"/>
              </a:rPr>
            </a:br>
            <a:endParaRPr lang="en-US"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229600" cy="4525963"/>
          </a:xfrm>
        </p:spPr>
        <p:txBody>
          <a:bodyPr>
            <a:normAutofit/>
          </a:bodyPr>
          <a:lstStyle/>
          <a:p>
            <a:r>
              <a:rPr lang="en-US" b="1" dirty="0" smtClean="0">
                <a:solidFill>
                  <a:srgbClr val="6600FF"/>
                </a:solidFill>
                <a:latin typeface="Tw Cen MT" pitchFamily="34" charset="0"/>
              </a:rPr>
              <a:t>Premature Ventricular Complexes (PCVs)</a:t>
            </a:r>
          </a:p>
          <a:p>
            <a:pPr lvl="1"/>
            <a:r>
              <a:rPr lang="en-US" dirty="0" smtClean="0">
                <a:latin typeface="Tw Cen MT" pitchFamily="34" charset="0"/>
              </a:rPr>
              <a:t>are common ventricular rhythm disturbances that occur in patients with or without heart disease and may be elicited experimentally by </a:t>
            </a:r>
          </a:p>
          <a:p>
            <a:pPr lvl="2"/>
            <a:r>
              <a:rPr lang="en-US" dirty="0" smtClean="0">
                <a:latin typeface="Tw Cen MT" pitchFamily="34" charset="0"/>
              </a:rPr>
              <a:t>abnormal automaticity</a:t>
            </a:r>
          </a:p>
          <a:p>
            <a:pPr lvl="2"/>
            <a:r>
              <a:rPr lang="en-US" dirty="0" smtClean="0">
                <a:latin typeface="Tw Cen MT" pitchFamily="34" charset="0"/>
              </a:rPr>
              <a:t>triggered activity or </a:t>
            </a:r>
          </a:p>
          <a:p>
            <a:pPr lvl="2"/>
            <a:r>
              <a:rPr lang="en-US" dirty="0" smtClean="0">
                <a:latin typeface="Tw Cen MT" pitchFamily="34" charset="0"/>
              </a:rPr>
              <a:t>reentrant mechanisms</a:t>
            </a:r>
            <a:endParaRPr lang="en-US"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53F28677-C0EA-4139-A8B8-896054BF2DA5}"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26</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rmAutofit fontScale="90000"/>
          </a:bodyPr>
          <a:lstStyle/>
          <a:p>
            <a:pPr algn="l"/>
            <a:r>
              <a:rPr lang="en-US" b="1" dirty="0" smtClean="0">
                <a:solidFill>
                  <a:srgbClr val="FF0000"/>
                </a:solidFill>
                <a:latin typeface="Tw Cen MT" pitchFamily="34" charset="0"/>
              </a:rPr>
              <a:t/>
            </a:r>
            <a:br>
              <a:rPr lang="en-US" b="1" dirty="0" smtClean="0">
                <a:solidFill>
                  <a:srgbClr val="FF0000"/>
                </a:solidFill>
                <a:latin typeface="Tw Cen MT" pitchFamily="34" charset="0"/>
              </a:rPr>
            </a:br>
            <a:r>
              <a:rPr lang="en-US" b="1" dirty="0" smtClean="0">
                <a:solidFill>
                  <a:srgbClr val="FF0000"/>
                </a:solidFill>
                <a:latin typeface="Tw Cen MT" pitchFamily="34" charset="0"/>
              </a:rPr>
              <a:t>Cont…</a:t>
            </a:r>
            <a:r>
              <a:rPr lang="en-US" sz="4000" b="1" dirty="0" smtClean="0">
                <a:solidFill>
                  <a:srgbClr val="6600FF"/>
                </a:solidFill>
                <a:latin typeface="Tw Cen MT" pitchFamily="34" charset="0"/>
              </a:rPr>
              <a:t/>
            </a:r>
            <a:br>
              <a:rPr lang="en-US" sz="4000" b="1" dirty="0" smtClean="0">
                <a:solidFill>
                  <a:srgbClr val="6600FF"/>
                </a:solidFill>
                <a:latin typeface="Tw Cen MT" pitchFamily="34" charset="0"/>
              </a:rPr>
            </a:br>
            <a:endParaRPr lang="en-US" b="1" dirty="0">
              <a:solidFill>
                <a:srgbClr val="6600FF"/>
              </a:solidFill>
              <a:latin typeface="Tw Cen MT" pitchFamily="34" charset="0"/>
            </a:endParaRPr>
          </a:p>
        </p:txBody>
      </p:sp>
      <p:sp>
        <p:nvSpPr>
          <p:cNvPr id="3" name="Content Placeholder 2"/>
          <p:cNvSpPr>
            <a:spLocks noGrp="1"/>
          </p:cNvSpPr>
          <p:nvPr>
            <p:ph idx="1"/>
          </p:nvPr>
        </p:nvSpPr>
        <p:spPr>
          <a:xfrm>
            <a:off x="457200" y="1600200"/>
            <a:ext cx="8229600" cy="4525963"/>
          </a:xfrm>
        </p:spPr>
        <p:txBody>
          <a:bodyPr>
            <a:normAutofit fontScale="92500" lnSpcReduction="10000"/>
          </a:bodyPr>
          <a:lstStyle/>
          <a:p>
            <a:pPr>
              <a:buNone/>
            </a:pPr>
            <a:r>
              <a:rPr lang="en-US" b="1" dirty="0" smtClean="0">
                <a:solidFill>
                  <a:srgbClr val="6600FF"/>
                </a:solidFill>
                <a:latin typeface="Tw Cen MT" pitchFamily="34" charset="0"/>
              </a:rPr>
              <a:t>Ventricular tachycardia (VT)</a:t>
            </a:r>
            <a:endParaRPr lang="en-US" b="1" dirty="0">
              <a:solidFill>
                <a:srgbClr val="6600FF"/>
              </a:solidFill>
              <a:latin typeface="Tw Cen MT" pitchFamily="34" charset="0"/>
            </a:endParaRPr>
          </a:p>
          <a:p>
            <a:pPr lvl="1"/>
            <a:r>
              <a:rPr lang="en-US" dirty="0" smtClean="0">
                <a:latin typeface="Tw Cen MT" pitchFamily="34" charset="0"/>
              </a:rPr>
              <a:t>defined by three or more repetitive PVCs occurring at a rate greater than 100 beats/min </a:t>
            </a:r>
          </a:p>
          <a:p>
            <a:pPr lvl="1"/>
            <a:r>
              <a:rPr lang="en-US" dirty="0" smtClean="0">
                <a:latin typeface="Tw Cen MT" pitchFamily="34" charset="0"/>
              </a:rPr>
              <a:t>It occurs most commonly in acute myocardial infarction (MI)</a:t>
            </a:r>
          </a:p>
          <a:p>
            <a:pPr lvl="1"/>
            <a:r>
              <a:rPr lang="en-US" dirty="0" smtClean="0">
                <a:latin typeface="Tw Cen MT" pitchFamily="34" charset="0"/>
              </a:rPr>
              <a:t>other causes are severe electrolyte abnormalities (e.g., hypokalemia), hypoxemia and digitalis toxicity</a:t>
            </a:r>
          </a:p>
          <a:p>
            <a:pPr lvl="1"/>
            <a:r>
              <a:rPr lang="en-US" dirty="0" smtClean="0">
                <a:latin typeface="Tw Cen MT" pitchFamily="34" charset="0"/>
              </a:rPr>
              <a:t>The</a:t>
            </a:r>
            <a:r>
              <a:rPr lang="en-US" dirty="0">
                <a:latin typeface="Tw Cen MT" pitchFamily="34" charset="0"/>
              </a:rPr>
              <a:t> </a:t>
            </a:r>
            <a:r>
              <a:rPr lang="en-US" dirty="0" smtClean="0">
                <a:latin typeface="Tw Cen MT" pitchFamily="34" charset="0"/>
              </a:rPr>
              <a:t>chronic recurrent form is almost always associated with underlying organic heart disease </a:t>
            </a:r>
          </a:p>
          <a:p>
            <a:pPr lvl="2"/>
            <a:r>
              <a:rPr lang="en-US" dirty="0" smtClean="0">
                <a:latin typeface="Tw Cen MT" pitchFamily="34" charset="0"/>
              </a:rPr>
              <a:t>e.g., idiopathic dilated cardiomyopathy or remote MI with left ventricular aneurysm</a:t>
            </a:r>
            <a:endParaRPr lang="en-US"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44EC2BC2-8B21-4962-B6F9-7FF12ED6B4F3}"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27</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pPr algn="l"/>
            <a:r>
              <a:rPr lang="en-US" b="1" dirty="0" smtClean="0">
                <a:solidFill>
                  <a:srgbClr val="FF0000"/>
                </a:solidFill>
                <a:latin typeface="Tw Cen MT" pitchFamily="34" charset="0"/>
              </a:rPr>
              <a:t>Cont…</a:t>
            </a:r>
            <a:endParaRPr lang="en-US"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229600" cy="4525963"/>
          </a:xfrm>
        </p:spPr>
        <p:txBody>
          <a:bodyPr>
            <a:normAutofit fontScale="85000" lnSpcReduction="20000"/>
          </a:bodyPr>
          <a:lstStyle/>
          <a:p>
            <a:r>
              <a:rPr lang="en-US" b="1" dirty="0" smtClean="0">
                <a:latin typeface="Tw Cen MT" pitchFamily="34" charset="0"/>
              </a:rPr>
              <a:t>Sustained VT : </a:t>
            </a:r>
            <a:r>
              <a:rPr lang="en-US" dirty="0" smtClean="0">
                <a:latin typeface="Tw Cen MT" pitchFamily="34" charset="0"/>
              </a:rPr>
              <a:t>which requires therapeutic intervention to restore a stable rhythm</a:t>
            </a:r>
          </a:p>
          <a:p>
            <a:r>
              <a:rPr lang="en-US" b="1" dirty="0" smtClean="0">
                <a:latin typeface="Tw Cen MT" pitchFamily="34" charset="0"/>
              </a:rPr>
              <a:t>Non-sustained VT : </a:t>
            </a:r>
            <a:r>
              <a:rPr lang="en-US" dirty="0" smtClean="0">
                <a:latin typeface="Tw Cen MT" pitchFamily="34" charset="0"/>
              </a:rPr>
              <a:t>self-terminates after a brief duration (usually less than 30 seconds).</a:t>
            </a:r>
          </a:p>
          <a:p>
            <a:r>
              <a:rPr lang="en-US" b="1" dirty="0" smtClean="0">
                <a:latin typeface="Tw Cen MT" pitchFamily="34" charset="0"/>
              </a:rPr>
              <a:t>Incessant VT : </a:t>
            </a:r>
            <a:r>
              <a:rPr lang="en-US" dirty="0" smtClean="0">
                <a:latin typeface="Tw Cen MT" pitchFamily="34" charset="0"/>
              </a:rPr>
              <a:t>refers to VT occurring more frequently than sinus rhythm, so that VT becomes the dominant rhythm. </a:t>
            </a:r>
          </a:p>
          <a:p>
            <a:r>
              <a:rPr lang="en-US" b="1" dirty="0" smtClean="0">
                <a:latin typeface="Tw Cen MT" pitchFamily="34" charset="0"/>
              </a:rPr>
              <a:t>Monomorphic VT </a:t>
            </a:r>
            <a:r>
              <a:rPr lang="en-US" dirty="0" smtClean="0">
                <a:latin typeface="Tw Cen MT" pitchFamily="34" charset="0"/>
              </a:rPr>
              <a:t>: has a consistent QRS configuration</a:t>
            </a:r>
          </a:p>
          <a:p>
            <a:r>
              <a:rPr lang="en-US" b="1" dirty="0" smtClean="0">
                <a:latin typeface="Tw Cen MT" pitchFamily="34" charset="0"/>
              </a:rPr>
              <a:t>Polymorphic VT : </a:t>
            </a:r>
            <a:r>
              <a:rPr lang="en-US" dirty="0" smtClean="0">
                <a:latin typeface="Tw Cen MT" pitchFamily="34" charset="0"/>
              </a:rPr>
              <a:t>has varying QRS complexes. </a:t>
            </a:r>
          </a:p>
          <a:p>
            <a:r>
              <a:rPr lang="en-US" b="1" dirty="0" smtClean="0">
                <a:latin typeface="Tw Cen MT" pitchFamily="34" charset="0"/>
              </a:rPr>
              <a:t>Torsade de pointes (TdP) : </a:t>
            </a:r>
            <a:r>
              <a:rPr lang="en-US" dirty="0" smtClean="0">
                <a:latin typeface="Tw Cen MT" pitchFamily="34" charset="0"/>
              </a:rPr>
              <a:t>is a polymorphic VT in which the QRS complexes appear to undulate around a central axis.</a:t>
            </a:r>
          </a:p>
          <a:p>
            <a:pPr lvl="1"/>
            <a:endParaRPr lang="en-US" dirty="0" smtClean="0">
              <a:latin typeface="Tw Cen MT" pitchFamily="34" charset="0"/>
            </a:endParaRPr>
          </a:p>
          <a:p>
            <a:pPr lvl="1"/>
            <a:endParaRPr lang="en-US"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04DA9712-7627-4F19-9CD1-F568A0A6C944}"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28</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rmAutofit/>
          </a:bodyPr>
          <a:lstStyle/>
          <a:p>
            <a:pPr algn="l"/>
            <a:r>
              <a:rPr lang="en-US" sz="4000" b="1" dirty="0" smtClean="0">
                <a:solidFill>
                  <a:srgbClr val="6600FF"/>
                </a:solidFill>
                <a:latin typeface="Tw Cen MT" pitchFamily="34" charset="0"/>
              </a:rPr>
              <a:t>Ventricular Proarrhythmia</a:t>
            </a:r>
            <a:endParaRPr lang="en-US" b="1" dirty="0" smtClean="0">
              <a:solidFill>
                <a:srgbClr val="6600FF"/>
              </a:solidFill>
              <a:latin typeface="Tw Cen MT" pitchFamily="34" charset="0"/>
            </a:endParaRPr>
          </a:p>
        </p:txBody>
      </p:sp>
      <p:sp>
        <p:nvSpPr>
          <p:cNvPr id="3" name="Content Placeholder 2"/>
          <p:cNvSpPr>
            <a:spLocks noGrp="1"/>
          </p:cNvSpPr>
          <p:nvPr>
            <p:ph idx="1"/>
          </p:nvPr>
        </p:nvSpPr>
        <p:spPr>
          <a:xfrm>
            <a:off x="457200" y="1600200"/>
            <a:ext cx="8229600" cy="4525963"/>
          </a:xfrm>
        </p:spPr>
        <p:txBody>
          <a:bodyPr>
            <a:normAutofit/>
          </a:bodyPr>
          <a:lstStyle/>
          <a:p>
            <a:r>
              <a:rPr lang="en-US" dirty="0" smtClean="0">
                <a:latin typeface="Tw Cen MT" pitchFamily="34" charset="0"/>
              </a:rPr>
              <a:t>Proarrhythmia  refers to development of a significant new arrhythmia such as VT, ventricular fibrillation [VF] or TdP) or worsening of an existing arrhythmia. </a:t>
            </a:r>
          </a:p>
          <a:p>
            <a:endParaRPr lang="en-US" dirty="0" smtClean="0">
              <a:latin typeface="Tw Cen MT" pitchFamily="34" charset="0"/>
            </a:endParaRPr>
          </a:p>
          <a:p>
            <a:r>
              <a:rPr lang="en-US" dirty="0" smtClean="0">
                <a:latin typeface="Tw Cen MT" pitchFamily="34" charset="0"/>
              </a:rPr>
              <a:t>Proarrhythmia results from the same mechanisms that cause other arrhythmias or  due to the antiarrhythmic agent. </a:t>
            </a:r>
            <a:endParaRPr lang="en-US"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71FB1335-F6E9-4CC7-9FE9-97E05B0537DD}"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29</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rmAutofit/>
          </a:bodyPr>
          <a:lstStyle/>
          <a:p>
            <a:pPr algn="l"/>
            <a:r>
              <a:rPr lang="en-US" sz="4000" b="1" dirty="0" smtClean="0">
                <a:solidFill>
                  <a:srgbClr val="6600FF"/>
                </a:solidFill>
                <a:latin typeface="Tw Cen MT" pitchFamily="34" charset="0"/>
              </a:rPr>
              <a:t>Ventricular Fibrillation</a:t>
            </a:r>
          </a:p>
        </p:txBody>
      </p:sp>
      <p:sp>
        <p:nvSpPr>
          <p:cNvPr id="3" name="Content Placeholder 2"/>
          <p:cNvSpPr>
            <a:spLocks noGrp="1"/>
          </p:cNvSpPr>
          <p:nvPr>
            <p:ph idx="1"/>
          </p:nvPr>
        </p:nvSpPr>
        <p:spPr>
          <a:xfrm>
            <a:off x="457200" y="1600200"/>
            <a:ext cx="8229600" cy="4525963"/>
          </a:xfrm>
        </p:spPr>
        <p:txBody>
          <a:bodyPr>
            <a:normAutofit fontScale="85000" lnSpcReduction="10000"/>
          </a:bodyPr>
          <a:lstStyle/>
          <a:p>
            <a:r>
              <a:rPr lang="en-US" dirty="0" smtClean="0">
                <a:latin typeface="Tw Cen MT" pitchFamily="34" charset="0"/>
              </a:rPr>
              <a:t>VF is electrical anarchy of the ventricle resulting in no cardiac output and cardiovascular collapse. </a:t>
            </a:r>
          </a:p>
          <a:p>
            <a:endParaRPr lang="en-US" dirty="0" smtClean="0">
              <a:latin typeface="Tw Cen MT" pitchFamily="34" charset="0"/>
            </a:endParaRPr>
          </a:p>
          <a:p>
            <a:r>
              <a:rPr lang="en-US" dirty="0" smtClean="0">
                <a:latin typeface="Tw Cen MT" pitchFamily="34" charset="0"/>
              </a:rPr>
              <a:t>Sudden cardiac death occurs most commonly in patients with IHD and primary myocardial disease associated with LV dysfunction. </a:t>
            </a:r>
          </a:p>
          <a:p>
            <a:endParaRPr lang="en-US" dirty="0" smtClean="0">
              <a:latin typeface="Tw Cen MT" pitchFamily="34" charset="0"/>
            </a:endParaRPr>
          </a:p>
          <a:p>
            <a:r>
              <a:rPr lang="en-US" dirty="0" smtClean="0">
                <a:latin typeface="Tw Cen MT" pitchFamily="34" charset="0"/>
              </a:rPr>
              <a:t>VF associated with acute MI may be classified as either </a:t>
            </a:r>
          </a:p>
          <a:p>
            <a:pPr lvl="1"/>
            <a:r>
              <a:rPr lang="en-US" dirty="0" smtClean="0">
                <a:latin typeface="Tw Cen MT" pitchFamily="34" charset="0"/>
              </a:rPr>
              <a:t>primary (an uncomplicated MI not associated with HF or </a:t>
            </a:r>
          </a:p>
          <a:p>
            <a:pPr lvl="1"/>
            <a:r>
              <a:rPr lang="en-US" dirty="0" smtClean="0">
                <a:latin typeface="Tw Cen MT" pitchFamily="34" charset="0"/>
              </a:rPr>
              <a:t>secondary or complicated (an MI complicated by HF)</a:t>
            </a:r>
            <a:endParaRPr lang="en-US"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B589D18A-65DB-46BF-93D9-E319160C5CD0}"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30</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rmAutofit fontScale="90000"/>
          </a:bodyPr>
          <a:lstStyle/>
          <a:p>
            <a:pPr algn="l"/>
            <a:r>
              <a:rPr lang="en-US" b="1" dirty="0">
                <a:solidFill>
                  <a:srgbClr val="6600FF"/>
                </a:solidFill>
                <a:latin typeface="Tw Cen MT" pitchFamily="34" charset="0"/>
              </a:rPr>
              <a:t/>
            </a:r>
            <a:br>
              <a:rPr lang="en-US" b="1" dirty="0">
                <a:solidFill>
                  <a:srgbClr val="6600FF"/>
                </a:solidFill>
                <a:latin typeface="Tw Cen MT" pitchFamily="34" charset="0"/>
              </a:rPr>
            </a:br>
            <a:r>
              <a:rPr lang="en-US" sz="4000" b="1" dirty="0" smtClean="0">
                <a:solidFill>
                  <a:srgbClr val="6600FF"/>
                </a:solidFill>
                <a:latin typeface="Tw Cen MT" pitchFamily="34" charset="0"/>
              </a:rPr>
              <a:t>Bradyarrhythmias</a:t>
            </a:r>
            <a:r>
              <a:rPr lang="en-US" b="1" dirty="0" smtClean="0">
                <a:solidFill>
                  <a:srgbClr val="6600FF"/>
                </a:solidFill>
                <a:latin typeface="Tw Cen MT" pitchFamily="34" charset="0"/>
              </a:rPr>
              <a:t/>
            </a:r>
            <a:br>
              <a:rPr lang="en-US" b="1" dirty="0" smtClean="0">
                <a:solidFill>
                  <a:srgbClr val="6600FF"/>
                </a:solidFill>
                <a:latin typeface="Tw Cen MT" pitchFamily="34" charset="0"/>
              </a:rPr>
            </a:br>
            <a:endParaRPr lang="en-US"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229600" cy="4525963"/>
          </a:xfrm>
        </p:spPr>
        <p:txBody>
          <a:bodyPr>
            <a:normAutofit/>
          </a:bodyPr>
          <a:lstStyle/>
          <a:p>
            <a:r>
              <a:rPr lang="en-US" b="1" dirty="0" smtClean="0">
                <a:solidFill>
                  <a:srgbClr val="6600FF"/>
                </a:solidFill>
                <a:latin typeface="Tw Cen MT" pitchFamily="34" charset="0"/>
              </a:rPr>
              <a:t>Asymptomatic sinus bradyarrhythmias </a:t>
            </a:r>
          </a:p>
          <a:p>
            <a:pPr lvl="1"/>
            <a:r>
              <a:rPr lang="en-US" dirty="0" smtClean="0">
                <a:latin typeface="Tw Cen MT" pitchFamily="34" charset="0"/>
              </a:rPr>
              <a:t>(heart rate less than 60 beats/min) are common especially in young, athletically active individuals. </a:t>
            </a:r>
          </a:p>
          <a:p>
            <a:pPr lvl="1"/>
            <a:r>
              <a:rPr lang="en-US" dirty="0" smtClean="0">
                <a:latin typeface="Tw Cen MT" pitchFamily="34" charset="0"/>
              </a:rPr>
              <a:t>However, some patients have sinus node dysfunction (sick sinus syndrome) because of underlying organic heart disease and the normal aging process, which attenuates SA nodal function. </a:t>
            </a:r>
            <a:endParaRPr lang="en-US"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A3F68AF1-6207-436D-935C-442AF0FC8585}"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31</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pPr algn="l"/>
            <a:r>
              <a:rPr lang="en-US" b="1" dirty="0" smtClean="0">
                <a:solidFill>
                  <a:srgbClr val="FF0000"/>
                </a:solidFill>
                <a:latin typeface="Tw Cen MT" pitchFamily="34" charset="0"/>
              </a:rPr>
              <a:t>Cont…</a:t>
            </a:r>
            <a:endParaRPr lang="en-US"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229600" cy="4525963"/>
          </a:xfrm>
        </p:spPr>
        <p:txBody>
          <a:bodyPr>
            <a:normAutofit/>
          </a:bodyPr>
          <a:lstStyle/>
          <a:p>
            <a:r>
              <a:rPr lang="en-US" dirty="0" smtClean="0">
                <a:latin typeface="Tw Cen MT" pitchFamily="34" charset="0"/>
              </a:rPr>
              <a:t>Sinus node dysfunction is usually representative of diffuse conduction disease, </a:t>
            </a:r>
          </a:p>
          <a:p>
            <a:pPr lvl="1"/>
            <a:r>
              <a:rPr lang="en-US" dirty="0" smtClean="0">
                <a:latin typeface="Tw Cen MT" pitchFamily="34" charset="0"/>
              </a:rPr>
              <a:t>which may be accompanied by AV block AF. </a:t>
            </a:r>
          </a:p>
          <a:p>
            <a:endParaRPr lang="en-US" dirty="0" smtClean="0">
              <a:latin typeface="Tw Cen MT" pitchFamily="34" charset="0"/>
            </a:endParaRPr>
          </a:p>
          <a:p>
            <a:r>
              <a:rPr lang="en-US" dirty="0" smtClean="0">
                <a:latin typeface="Tw Cen MT" pitchFamily="34" charset="0"/>
              </a:rPr>
              <a:t>Alternating bradyarrhythmias and tachyarrhythmias are referred to as the </a:t>
            </a:r>
            <a:r>
              <a:rPr lang="en-US" b="1" dirty="0" smtClean="0">
                <a:latin typeface="Tw Cen MT" pitchFamily="34" charset="0"/>
              </a:rPr>
              <a:t>tachy-brady syndrome.</a:t>
            </a:r>
            <a:endParaRPr lang="en-US" b="1"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6FBB158B-2DDD-4279-B55C-15947C9937FE}"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32</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pPr algn="l"/>
            <a:r>
              <a:rPr lang="en-US" b="1" dirty="0" smtClean="0">
                <a:solidFill>
                  <a:srgbClr val="FF0000"/>
                </a:solidFill>
                <a:latin typeface="Tw Cen MT" pitchFamily="34" charset="0"/>
              </a:rPr>
              <a:t>Cont…</a:t>
            </a:r>
            <a:endParaRPr lang="en-US"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229600" cy="4525963"/>
          </a:xfrm>
        </p:spPr>
        <p:txBody>
          <a:bodyPr>
            <a:normAutofit fontScale="92500" lnSpcReduction="20000"/>
          </a:bodyPr>
          <a:lstStyle/>
          <a:p>
            <a:r>
              <a:rPr lang="en-US" dirty="0" smtClean="0">
                <a:latin typeface="Tw Cen MT" pitchFamily="34" charset="0"/>
              </a:rPr>
              <a:t>AV block or conduction delay may occur in any area of the AV conduction system. </a:t>
            </a:r>
          </a:p>
          <a:p>
            <a:endParaRPr lang="en-US" dirty="0" smtClean="0">
              <a:latin typeface="Tw Cen MT" pitchFamily="34" charset="0"/>
            </a:endParaRPr>
          </a:p>
          <a:p>
            <a:r>
              <a:rPr lang="en-US" dirty="0" smtClean="0">
                <a:latin typeface="Tw Cen MT" pitchFamily="34" charset="0"/>
              </a:rPr>
              <a:t>AV block may be found in patients without underlying heart disease (e.g., trained athletes) or during sleep when vagal tone is high. </a:t>
            </a:r>
          </a:p>
          <a:p>
            <a:endParaRPr lang="en-US" dirty="0" smtClean="0">
              <a:latin typeface="Tw Cen MT" pitchFamily="34" charset="0"/>
            </a:endParaRPr>
          </a:p>
          <a:p>
            <a:r>
              <a:rPr lang="en-US" dirty="0" smtClean="0">
                <a:latin typeface="Tw Cen MT" pitchFamily="34" charset="0"/>
              </a:rPr>
              <a:t>It may be transient when the underlying etiology is reversible </a:t>
            </a:r>
          </a:p>
          <a:p>
            <a:pPr lvl="1"/>
            <a:r>
              <a:rPr lang="en-US" dirty="0" smtClean="0">
                <a:latin typeface="Tw Cen MT" pitchFamily="34" charset="0"/>
              </a:rPr>
              <a:t>e.g., myocarditis, myocardial ischemia, after cardiovascular surgery, during drug therapy</a:t>
            </a:r>
            <a:endParaRPr lang="en-US"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79EE4C4D-2A5C-4099-8075-134D550B0760}"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33</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pPr algn="l"/>
            <a:r>
              <a:rPr lang="en-US" b="1" dirty="0" smtClean="0">
                <a:solidFill>
                  <a:srgbClr val="FF0000"/>
                </a:solidFill>
                <a:latin typeface="Tw Cen MT" pitchFamily="34" charset="0"/>
              </a:rPr>
              <a:t>Cont…</a:t>
            </a:r>
            <a:endParaRPr lang="en-US"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229600" cy="4525963"/>
          </a:xfrm>
        </p:spPr>
        <p:txBody>
          <a:bodyPr>
            <a:normAutofit fontScale="92500" lnSpcReduction="10000"/>
          </a:bodyPr>
          <a:lstStyle/>
          <a:p>
            <a:r>
              <a:rPr lang="el-GR" dirty="0" smtClean="0">
                <a:latin typeface="Tw Cen MT" pitchFamily="34" charset="0"/>
              </a:rPr>
              <a:t>β -</a:t>
            </a:r>
            <a:r>
              <a:rPr lang="en-US" dirty="0" smtClean="0">
                <a:latin typeface="Tw Cen MT" pitchFamily="34" charset="0"/>
              </a:rPr>
              <a:t>Blockers, digoxin, or nondihydropyridine calcium antagonists may cause AV block, primarily in the AV nodal area. </a:t>
            </a:r>
          </a:p>
          <a:p>
            <a:r>
              <a:rPr lang="en-US" dirty="0" smtClean="0">
                <a:latin typeface="Tw Cen MT" pitchFamily="34" charset="0"/>
              </a:rPr>
              <a:t>Type I antiarrhythmics may exacerbate conduction delays below the level of the AV node. </a:t>
            </a:r>
          </a:p>
          <a:p>
            <a:r>
              <a:rPr lang="en-US" dirty="0" smtClean="0">
                <a:latin typeface="Tw Cen MT" pitchFamily="34" charset="0"/>
              </a:rPr>
              <a:t>AV</a:t>
            </a:r>
            <a:r>
              <a:rPr lang="en-US" dirty="0">
                <a:latin typeface="Tw Cen MT" pitchFamily="34" charset="0"/>
              </a:rPr>
              <a:t> </a:t>
            </a:r>
            <a:r>
              <a:rPr lang="en-US" dirty="0" smtClean="0">
                <a:latin typeface="Tw Cen MT" pitchFamily="34" charset="0"/>
              </a:rPr>
              <a:t>block may be irreversible if the cause is </a:t>
            </a:r>
          </a:p>
          <a:p>
            <a:pPr lvl="1"/>
            <a:r>
              <a:rPr lang="en-US" dirty="0" smtClean="0">
                <a:latin typeface="Tw Cen MT" pitchFamily="34" charset="0"/>
              </a:rPr>
              <a:t>acute MI</a:t>
            </a:r>
          </a:p>
          <a:p>
            <a:pPr lvl="1"/>
            <a:r>
              <a:rPr lang="en-US" dirty="0" smtClean="0">
                <a:latin typeface="Tw Cen MT" pitchFamily="34" charset="0"/>
              </a:rPr>
              <a:t>rare degenerative disease</a:t>
            </a:r>
          </a:p>
          <a:p>
            <a:pPr lvl="1"/>
            <a:r>
              <a:rPr lang="en-US" dirty="0" smtClean="0">
                <a:latin typeface="Tw Cen MT" pitchFamily="34" charset="0"/>
              </a:rPr>
              <a:t>primary myocardial disease or </a:t>
            </a:r>
          </a:p>
          <a:p>
            <a:pPr lvl="1"/>
            <a:r>
              <a:rPr lang="en-US" dirty="0" smtClean="0">
                <a:latin typeface="Tw Cen MT" pitchFamily="34" charset="0"/>
              </a:rPr>
              <a:t>a congenital condition</a:t>
            </a:r>
            <a:endParaRPr lang="en-US"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FC848A53-27BF-48AE-8C2D-5F606049CCD6}"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34</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rmAutofit fontScale="90000"/>
          </a:bodyPr>
          <a:lstStyle/>
          <a:p>
            <a:pPr algn="l"/>
            <a:r>
              <a:rPr lang="en-US" b="1" dirty="0">
                <a:solidFill>
                  <a:srgbClr val="FF0000"/>
                </a:solidFill>
                <a:latin typeface="Tw Cen MT" pitchFamily="34" charset="0"/>
              </a:rPr>
              <a:t/>
            </a:r>
            <a:br>
              <a:rPr lang="en-US" b="1" dirty="0">
                <a:solidFill>
                  <a:srgbClr val="FF0000"/>
                </a:solidFill>
                <a:latin typeface="Tw Cen MT" pitchFamily="34" charset="0"/>
              </a:rPr>
            </a:br>
            <a:r>
              <a:rPr lang="en-US" b="1" dirty="0" smtClean="0">
                <a:solidFill>
                  <a:srgbClr val="FF0000"/>
                </a:solidFill>
                <a:latin typeface="Tw Cen MT" pitchFamily="34" charset="0"/>
              </a:rPr>
              <a:t>Clinical Presentations</a:t>
            </a:r>
            <a:br>
              <a:rPr lang="en-US" b="1" dirty="0" smtClean="0">
                <a:solidFill>
                  <a:srgbClr val="FF0000"/>
                </a:solidFill>
                <a:latin typeface="Tw Cen MT" pitchFamily="34" charset="0"/>
              </a:rPr>
            </a:br>
            <a:endParaRPr lang="en-US"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229600" cy="4525963"/>
          </a:xfrm>
        </p:spPr>
        <p:txBody>
          <a:bodyPr>
            <a:normAutofit fontScale="85000" lnSpcReduction="10000"/>
          </a:bodyPr>
          <a:lstStyle/>
          <a:p>
            <a:r>
              <a:rPr lang="en-US" dirty="0" smtClean="0">
                <a:latin typeface="Tw Cen MT" pitchFamily="34" charset="0"/>
              </a:rPr>
              <a:t>Supraventricular tachycardias may cause a variety of clinical manifestations ranging from </a:t>
            </a:r>
          </a:p>
          <a:p>
            <a:pPr lvl="1"/>
            <a:r>
              <a:rPr lang="en-US" dirty="0" smtClean="0">
                <a:latin typeface="Tw Cen MT" pitchFamily="34" charset="0"/>
              </a:rPr>
              <a:t>no symptoms to minor palpitations and/or irregular pulse to </a:t>
            </a:r>
          </a:p>
          <a:p>
            <a:pPr lvl="1"/>
            <a:r>
              <a:rPr lang="en-US" dirty="0" smtClean="0">
                <a:latin typeface="Tw Cen MT" pitchFamily="34" charset="0"/>
              </a:rPr>
              <a:t>severe and even life-threatening symptoms. </a:t>
            </a:r>
          </a:p>
          <a:p>
            <a:endParaRPr lang="en-US" dirty="0" smtClean="0">
              <a:latin typeface="Tw Cen MT" pitchFamily="34" charset="0"/>
            </a:endParaRPr>
          </a:p>
          <a:p>
            <a:r>
              <a:rPr lang="en-US" dirty="0" smtClean="0">
                <a:latin typeface="Tw Cen MT" pitchFamily="34" charset="0"/>
              </a:rPr>
              <a:t>Patients may experience </a:t>
            </a:r>
          </a:p>
          <a:p>
            <a:pPr lvl="1"/>
            <a:r>
              <a:rPr lang="en-US" dirty="0" smtClean="0">
                <a:latin typeface="Tw Cen MT" pitchFamily="34" charset="0"/>
              </a:rPr>
              <a:t>dizziness or acute syncopal episodes</a:t>
            </a:r>
          </a:p>
          <a:p>
            <a:pPr lvl="1"/>
            <a:r>
              <a:rPr lang="en-US" dirty="0" smtClean="0">
                <a:latin typeface="Tw Cen MT" pitchFamily="34" charset="0"/>
              </a:rPr>
              <a:t>symptoms of HF</a:t>
            </a:r>
          </a:p>
          <a:p>
            <a:pPr lvl="1"/>
            <a:r>
              <a:rPr lang="en-US" dirty="0" smtClean="0">
                <a:latin typeface="Tw Cen MT" pitchFamily="34" charset="0"/>
              </a:rPr>
              <a:t>anginal chest pain or </a:t>
            </a:r>
          </a:p>
          <a:p>
            <a:pPr lvl="1"/>
            <a:r>
              <a:rPr lang="en-US" dirty="0" smtClean="0">
                <a:latin typeface="Tw Cen MT" pitchFamily="34" charset="0"/>
              </a:rPr>
              <a:t>more often a choking or pressure sensation during the tachycardia episode</a:t>
            </a:r>
            <a:endParaRPr lang="en-US"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9CEF7932-35A9-4146-AF06-352C07B81438}"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35</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pPr algn="l"/>
            <a:r>
              <a:rPr lang="en-US" b="1" dirty="0" smtClean="0">
                <a:solidFill>
                  <a:srgbClr val="FF0000"/>
                </a:solidFill>
                <a:latin typeface="Tw Cen MT" pitchFamily="34" charset="0"/>
              </a:rPr>
              <a:t>Cont…</a:t>
            </a:r>
            <a:endParaRPr lang="en-US"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229600" cy="4525963"/>
          </a:xfrm>
        </p:spPr>
        <p:txBody>
          <a:bodyPr>
            <a:normAutofit fontScale="92500" lnSpcReduction="20000"/>
          </a:bodyPr>
          <a:lstStyle/>
          <a:p>
            <a:r>
              <a:rPr lang="en-US" dirty="0" smtClean="0">
                <a:latin typeface="Tw Cen MT" pitchFamily="34" charset="0"/>
              </a:rPr>
              <a:t>AF or atrial flutter </a:t>
            </a:r>
          </a:p>
          <a:p>
            <a:pPr lvl="1"/>
            <a:r>
              <a:rPr lang="en-US" dirty="0" smtClean="0">
                <a:latin typeface="Tw Cen MT" pitchFamily="34" charset="0"/>
              </a:rPr>
              <a:t>may be manifested by the entire range of symptoms associated with other supraventricular tachycardias, </a:t>
            </a:r>
          </a:p>
          <a:p>
            <a:pPr lvl="2"/>
            <a:r>
              <a:rPr lang="en-US" dirty="0" smtClean="0">
                <a:latin typeface="Tw Cen MT" pitchFamily="34" charset="0"/>
              </a:rPr>
              <a:t>but syncope is not a common presenting symptom. </a:t>
            </a:r>
          </a:p>
          <a:p>
            <a:pPr lvl="1"/>
            <a:r>
              <a:rPr lang="en-US" dirty="0" smtClean="0">
                <a:latin typeface="Tw Cen MT" pitchFamily="34" charset="0"/>
              </a:rPr>
              <a:t>An additional complication of AF is arterial embolization resulting from atrial stasis and poorly adherent mural thrombi, </a:t>
            </a:r>
          </a:p>
          <a:p>
            <a:pPr lvl="2"/>
            <a:r>
              <a:rPr lang="en-US" dirty="0" smtClean="0">
                <a:latin typeface="Tw Cen MT" pitchFamily="34" charset="0"/>
              </a:rPr>
              <a:t>which accounts for the most devastating complication: embolic stroke. </a:t>
            </a:r>
          </a:p>
          <a:p>
            <a:pPr lvl="1"/>
            <a:r>
              <a:rPr lang="en-US" dirty="0" smtClean="0">
                <a:latin typeface="Tw Cen MT" pitchFamily="34" charset="0"/>
              </a:rPr>
              <a:t>Patients with AF and concurrent mitral stenosis or severe systolic HF are at particularly high risk for cerebral embolism.</a:t>
            </a:r>
            <a:endParaRPr lang="en-US"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28B81FBB-134B-4E7F-B90F-36C9F78BF76C}"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36</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pPr algn="l"/>
            <a:r>
              <a:rPr lang="en-US" b="1" dirty="0" smtClean="0">
                <a:solidFill>
                  <a:srgbClr val="FF0000"/>
                </a:solidFill>
                <a:latin typeface="Tw Cen MT" pitchFamily="34" charset="0"/>
              </a:rPr>
              <a:t>Cont…</a:t>
            </a:r>
            <a:endParaRPr lang="en-US"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229600" cy="4525963"/>
          </a:xfrm>
        </p:spPr>
        <p:txBody>
          <a:bodyPr>
            <a:normAutofit fontScale="92500" lnSpcReduction="20000"/>
          </a:bodyPr>
          <a:lstStyle/>
          <a:p>
            <a:r>
              <a:rPr lang="en-US" dirty="0" smtClean="0">
                <a:latin typeface="Tw Cen MT" pitchFamily="34" charset="0"/>
              </a:rPr>
              <a:t>PVCs </a:t>
            </a:r>
          </a:p>
          <a:p>
            <a:pPr lvl="1"/>
            <a:r>
              <a:rPr lang="en-US" dirty="0" smtClean="0">
                <a:latin typeface="Tw Cen MT" pitchFamily="34" charset="0"/>
              </a:rPr>
              <a:t>often cause no symptoms or only mild palpitations. </a:t>
            </a:r>
          </a:p>
          <a:p>
            <a:r>
              <a:rPr lang="en-US" dirty="0" smtClean="0">
                <a:latin typeface="Tw Cen MT" pitchFamily="34" charset="0"/>
              </a:rPr>
              <a:t>VT</a:t>
            </a:r>
          </a:p>
          <a:p>
            <a:pPr lvl="1"/>
            <a:r>
              <a:rPr lang="en-US" dirty="0" smtClean="0">
                <a:latin typeface="Tw Cen MT" pitchFamily="34" charset="0"/>
              </a:rPr>
              <a:t>The presentation of VT may vary from totally asymptomatic to pulseless hemodynamic collapse. </a:t>
            </a:r>
          </a:p>
          <a:p>
            <a:r>
              <a:rPr lang="en-US" dirty="0" smtClean="0">
                <a:latin typeface="Tw Cen MT" pitchFamily="34" charset="0"/>
              </a:rPr>
              <a:t>proarrhythmia</a:t>
            </a:r>
          </a:p>
          <a:p>
            <a:pPr lvl="1"/>
            <a:r>
              <a:rPr lang="en-US" dirty="0" smtClean="0">
                <a:latin typeface="Tw Cen MT" pitchFamily="34" charset="0"/>
              </a:rPr>
              <a:t>Consequences of proarrhythmia range from no symptoms to worsening of symptoms to sudden death. </a:t>
            </a:r>
          </a:p>
          <a:p>
            <a:r>
              <a:rPr lang="en-US" dirty="0" smtClean="0">
                <a:latin typeface="Tw Cen MT" pitchFamily="34" charset="0"/>
              </a:rPr>
              <a:t>VF</a:t>
            </a:r>
          </a:p>
          <a:p>
            <a:pPr lvl="1"/>
            <a:r>
              <a:rPr lang="en-US" dirty="0" smtClean="0">
                <a:latin typeface="Tw Cen MT" pitchFamily="34" charset="0"/>
              </a:rPr>
              <a:t>results in hemodynamic collapse, syncope, and cardiac arrest</a:t>
            </a:r>
            <a:endParaRPr lang="en-US"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030ED7BD-CB05-4E2A-AB5A-D2EB0A8F5087}"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37</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pPr algn="l"/>
            <a:r>
              <a:rPr lang="en-US" b="1" dirty="0" smtClean="0">
                <a:solidFill>
                  <a:srgbClr val="FF0000"/>
                </a:solidFill>
                <a:latin typeface="Tw Cen MT" pitchFamily="34" charset="0"/>
              </a:rPr>
              <a:t>Cont…</a:t>
            </a:r>
            <a:endParaRPr lang="en-US"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229600" cy="4525963"/>
          </a:xfrm>
        </p:spPr>
        <p:txBody>
          <a:bodyPr>
            <a:normAutofit/>
          </a:bodyPr>
          <a:lstStyle/>
          <a:p>
            <a:r>
              <a:rPr lang="en-US" dirty="0" smtClean="0">
                <a:latin typeface="Tw Cen MT" pitchFamily="34" charset="0"/>
              </a:rPr>
              <a:t>bradyarrhythmias</a:t>
            </a:r>
          </a:p>
          <a:p>
            <a:pPr lvl="1"/>
            <a:r>
              <a:rPr lang="en-US" dirty="0" smtClean="0">
                <a:latin typeface="Tw Cen MT" pitchFamily="34" charset="0"/>
              </a:rPr>
              <a:t>Patients with bradyarrhythmias experience symptoms associated with</a:t>
            </a:r>
          </a:p>
          <a:p>
            <a:pPr lvl="2"/>
            <a:r>
              <a:rPr lang="en-US" dirty="0" smtClean="0">
                <a:latin typeface="Tw Cen MT" pitchFamily="34" charset="0"/>
              </a:rPr>
              <a:t>hypotension such as dizziness, syncope, fatigue, and confusion. </a:t>
            </a:r>
          </a:p>
          <a:p>
            <a:pPr lvl="1"/>
            <a:r>
              <a:rPr lang="en-US" dirty="0" smtClean="0">
                <a:latin typeface="Tw Cen MT" pitchFamily="34" charset="0"/>
              </a:rPr>
              <a:t>If LV dysfunction exists, symptoms of congestive HF may be exacerbated.</a:t>
            </a:r>
            <a:endParaRPr lang="en-US"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8495210B-A373-48CD-AD56-14EEB0C43E76}"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38</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rmAutofit fontScale="90000"/>
          </a:bodyPr>
          <a:lstStyle/>
          <a:p>
            <a:pPr algn="l"/>
            <a:r>
              <a:rPr lang="en-US" b="1" dirty="0">
                <a:solidFill>
                  <a:srgbClr val="FF0000"/>
                </a:solidFill>
                <a:latin typeface="Tw Cen MT" pitchFamily="34" charset="0"/>
              </a:rPr>
              <a:t/>
            </a:r>
            <a:br>
              <a:rPr lang="en-US" b="1" dirty="0">
                <a:solidFill>
                  <a:srgbClr val="FF0000"/>
                </a:solidFill>
                <a:latin typeface="Tw Cen MT" pitchFamily="34" charset="0"/>
              </a:rPr>
            </a:br>
            <a:r>
              <a:rPr lang="en-US" b="1" dirty="0" smtClean="0">
                <a:solidFill>
                  <a:srgbClr val="FF0000"/>
                </a:solidFill>
                <a:latin typeface="Tw Cen MT" pitchFamily="34" charset="0"/>
              </a:rPr>
              <a:t>Diagnosis</a:t>
            </a:r>
            <a:br>
              <a:rPr lang="en-US" b="1" dirty="0" smtClean="0">
                <a:solidFill>
                  <a:srgbClr val="FF0000"/>
                </a:solidFill>
                <a:latin typeface="Tw Cen MT" pitchFamily="34" charset="0"/>
              </a:rPr>
            </a:br>
            <a:endParaRPr lang="en-US"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229600" cy="4953000"/>
          </a:xfrm>
        </p:spPr>
        <p:txBody>
          <a:bodyPr>
            <a:normAutofit fontScale="77500" lnSpcReduction="20000"/>
          </a:bodyPr>
          <a:lstStyle/>
          <a:p>
            <a:r>
              <a:rPr lang="en-US" dirty="0" smtClean="0">
                <a:latin typeface="Tw Cen MT" pitchFamily="34" charset="0"/>
              </a:rPr>
              <a:t>The surface electrocardiogram (ECG) is the cornerstone of diagnosis for cardiac rhythm disturbances.</a:t>
            </a:r>
          </a:p>
          <a:p>
            <a:endParaRPr lang="en-US" dirty="0" smtClean="0">
              <a:latin typeface="Tw Cen MT" pitchFamily="34" charset="0"/>
            </a:endParaRPr>
          </a:p>
          <a:p>
            <a:r>
              <a:rPr lang="en-US" dirty="0" smtClean="0">
                <a:latin typeface="Tw Cen MT" pitchFamily="34" charset="0"/>
              </a:rPr>
              <a:t>Less sophisticated methods are often the initial tools for detecting qualitative and quantitative alterations of heartbeat. </a:t>
            </a:r>
          </a:p>
          <a:p>
            <a:pPr lvl="1"/>
            <a:r>
              <a:rPr lang="en-US" dirty="0" smtClean="0">
                <a:latin typeface="Tw Cen MT" pitchFamily="34" charset="0"/>
              </a:rPr>
              <a:t>For example, direct auscultation can reveal the irregularly irregular pulse that is characteristic of AF.</a:t>
            </a:r>
          </a:p>
          <a:p>
            <a:endParaRPr lang="en-US" dirty="0" smtClean="0">
              <a:latin typeface="Tw Cen MT" pitchFamily="34" charset="0"/>
            </a:endParaRPr>
          </a:p>
          <a:p>
            <a:r>
              <a:rPr lang="en-US" dirty="0" smtClean="0">
                <a:latin typeface="Tw Cen MT" pitchFamily="34" charset="0"/>
              </a:rPr>
              <a:t>Proarrhythmia can be difficult to diagnose because of the variable nature of underlying arrhythmias.</a:t>
            </a:r>
          </a:p>
          <a:p>
            <a:endParaRPr lang="en-US" dirty="0" smtClean="0">
              <a:latin typeface="Tw Cen MT" pitchFamily="34" charset="0"/>
            </a:endParaRPr>
          </a:p>
          <a:p>
            <a:r>
              <a:rPr lang="en-US" dirty="0" smtClean="0">
                <a:latin typeface="Tw Cen MT" pitchFamily="34" charset="0"/>
              </a:rPr>
              <a:t>TdP is characterized by long QT intervals or prominent U waves on the surface ECG.</a:t>
            </a:r>
          </a:p>
          <a:p>
            <a:endParaRPr lang="en-US" b="1" dirty="0" smtClean="0">
              <a:latin typeface="Tw Cen MT" pitchFamily="34" charset="0"/>
            </a:endParaRPr>
          </a:p>
          <a:p>
            <a:endParaRPr lang="en-US" dirty="0" smtClean="0">
              <a:latin typeface="Tw Cen MT" pitchFamily="34" charset="0"/>
            </a:endParaRPr>
          </a:p>
          <a:p>
            <a:endParaRPr lang="en-US"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2A3C9ED0-820D-4443-9E83-11950704D8AC}"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39</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rmAutofit fontScale="90000"/>
          </a:bodyPr>
          <a:lstStyle/>
          <a:p>
            <a:pPr algn="l"/>
            <a:r>
              <a:rPr lang="en-US" b="1" dirty="0">
                <a:solidFill>
                  <a:srgbClr val="FF0000"/>
                </a:solidFill>
                <a:latin typeface="Tw Cen MT" pitchFamily="34" charset="0"/>
              </a:rPr>
              <a:t/>
            </a:r>
            <a:br>
              <a:rPr lang="en-US" b="1" dirty="0">
                <a:solidFill>
                  <a:srgbClr val="FF0000"/>
                </a:solidFill>
                <a:latin typeface="Tw Cen MT" pitchFamily="34" charset="0"/>
              </a:rPr>
            </a:br>
            <a:r>
              <a:rPr lang="en-US" b="1" dirty="0" smtClean="0">
                <a:solidFill>
                  <a:srgbClr val="FF0000"/>
                </a:solidFill>
                <a:latin typeface="Tw Cen MT" pitchFamily="34" charset="0"/>
              </a:rPr>
              <a:t>Desired Outcome</a:t>
            </a:r>
            <a:br>
              <a:rPr lang="en-US" b="1" dirty="0" smtClean="0">
                <a:solidFill>
                  <a:srgbClr val="FF0000"/>
                </a:solidFill>
                <a:latin typeface="Tw Cen MT" pitchFamily="34" charset="0"/>
              </a:rPr>
            </a:br>
            <a:endParaRPr lang="en-US"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229600" cy="4525963"/>
          </a:xfrm>
        </p:spPr>
        <p:txBody>
          <a:bodyPr>
            <a:normAutofit/>
          </a:bodyPr>
          <a:lstStyle/>
          <a:p>
            <a:r>
              <a:rPr lang="en-US" dirty="0" smtClean="0">
                <a:latin typeface="Tw Cen MT" pitchFamily="34" charset="0"/>
              </a:rPr>
              <a:t>The desired outcome depends on the underlying arrhythmia. </a:t>
            </a:r>
          </a:p>
          <a:p>
            <a:r>
              <a:rPr lang="en-US" dirty="0" smtClean="0">
                <a:latin typeface="Tw Cen MT" pitchFamily="34" charset="0"/>
              </a:rPr>
              <a:t>For example, the ultimate treatment goals of treating AF or atrial flutter are </a:t>
            </a:r>
          </a:p>
          <a:p>
            <a:pPr lvl="1"/>
            <a:r>
              <a:rPr lang="en-US" dirty="0" smtClean="0">
                <a:latin typeface="Tw Cen MT" pitchFamily="34" charset="0"/>
              </a:rPr>
              <a:t>restoring sinus rhythm</a:t>
            </a:r>
          </a:p>
          <a:p>
            <a:pPr lvl="1"/>
            <a:r>
              <a:rPr lang="en-US" dirty="0" smtClean="0">
                <a:latin typeface="Tw Cen MT" pitchFamily="34" charset="0"/>
              </a:rPr>
              <a:t>preventing thromboembolic complications and</a:t>
            </a:r>
          </a:p>
          <a:p>
            <a:pPr lvl="1"/>
            <a:r>
              <a:rPr lang="en-US" dirty="0" smtClean="0">
                <a:latin typeface="Tw Cen MT" pitchFamily="34" charset="0"/>
              </a:rPr>
              <a:t>preventing further recurrences</a:t>
            </a:r>
            <a:endParaRPr lang="en-US"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70AA6ED1-3891-454B-9E28-1534E156EF1E}"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40</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rmAutofit fontScale="90000"/>
          </a:bodyPr>
          <a:lstStyle/>
          <a:p>
            <a:pPr algn="l"/>
            <a:r>
              <a:rPr lang="en-US" b="1" dirty="0" smtClean="0">
                <a:solidFill>
                  <a:srgbClr val="FF0000"/>
                </a:solidFill>
                <a:latin typeface="Tw Cen MT" pitchFamily="34" charset="0"/>
              </a:rPr>
              <a:t>Treatment</a:t>
            </a:r>
            <a:br>
              <a:rPr lang="en-US" b="1" dirty="0" smtClean="0">
                <a:solidFill>
                  <a:srgbClr val="FF0000"/>
                </a:solidFill>
                <a:latin typeface="Tw Cen MT" pitchFamily="34" charset="0"/>
              </a:rPr>
            </a:br>
            <a:r>
              <a:rPr lang="en-US" sz="4000" b="1" dirty="0" smtClean="0">
                <a:solidFill>
                  <a:srgbClr val="6600FF"/>
                </a:solidFill>
                <a:latin typeface="Tw Cen MT" pitchFamily="34" charset="0"/>
              </a:rPr>
              <a:t>General Approach</a:t>
            </a:r>
            <a:endParaRPr lang="en-US" sz="4000" b="1" dirty="0">
              <a:solidFill>
                <a:srgbClr val="6600FF"/>
              </a:solidFill>
              <a:latin typeface="Tw Cen MT" pitchFamily="34" charset="0"/>
            </a:endParaRPr>
          </a:p>
        </p:txBody>
      </p:sp>
      <p:sp>
        <p:nvSpPr>
          <p:cNvPr id="3" name="Content Placeholder 2"/>
          <p:cNvSpPr>
            <a:spLocks noGrp="1"/>
          </p:cNvSpPr>
          <p:nvPr>
            <p:ph idx="1"/>
          </p:nvPr>
        </p:nvSpPr>
        <p:spPr>
          <a:xfrm>
            <a:off x="457200" y="1600200"/>
            <a:ext cx="8229600" cy="4525963"/>
          </a:xfrm>
        </p:spPr>
        <p:txBody>
          <a:bodyPr>
            <a:normAutofit/>
          </a:bodyPr>
          <a:lstStyle/>
          <a:p>
            <a:r>
              <a:rPr lang="en-US" dirty="0" smtClean="0">
                <a:latin typeface="Tw Cen MT" pitchFamily="34" charset="0"/>
              </a:rPr>
              <a:t>The use of antiarrhythmic drugs in the United States is declining because of major trials that showed </a:t>
            </a:r>
          </a:p>
          <a:p>
            <a:pPr lvl="1"/>
            <a:r>
              <a:rPr lang="en-US" dirty="0" smtClean="0">
                <a:latin typeface="Tw Cen MT" pitchFamily="34" charset="0"/>
              </a:rPr>
              <a:t>increased mortality</a:t>
            </a:r>
          </a:p>
          <a:p>
            <a:pPr lvl="1"/>
            <a:r>
              <a:rPr lang="en-US" dirty="0" smtClean="0">
                <a:latin typeface="Tw Cen MT" pitchFamily="34" charset="0"/>
              </a:rPr>
              <a:t>proarrhythmia as a significant side effect</a:t>
            </a:r>
          </a:p>
          <a:p>
            <a:pPr lvl="1"/>
            <a:r>
              <a:rPr lang="en-US" dirty="0" smtClean="0">
                <a:latin typeface="Tw Cen MT" pitchFamily="34" charset="0"/>
              </a:rPr>
              <a:t>the advancing technology of nondrug therapies such as ablation and the implantable cardioverter-defibrillator (ICD)</a:t>
            </a:r>
            <a:endParaRPr lang="en-US"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A127359C-51C7-4636-B694-458C8AD81341}"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41</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Autofit/>
          </a:bodyPr>
          <a:lstStyle/>
          <a:p>
            <a:pPr algn="l"/>
            <a:r>
              <a:rPr lang="en-US" sz="3600" b="1" dirty="0">
                <a:solidFill>
                  <a:srgbClr val="FF0000"/>
                </a:solidFill>
                <a:latin typeface="Tw Cen MT" pitchFamily="34" charset="0"/>
              </a:rPr>
              <a:t/>
            </a:r>
            <a:br>
              <a:rPr lang="en-US" sz="3600" b="1" dirty="0">
                <a:solidFill>
                  <a:srgbClr val="FF0000"/>
                </a:solidFill>
                <a:latin typeface="Tw Cen MT" pitchFamily="34" charset="0"/>
              </a:rPr>
            </a:br>
            <a:r>
              <a:rPr lang="en-US" sz="3600" b="1" dirty="0" smtClean="0">
                <a:solidFill>
                  <a:srgbClr val="6600FF"/>
                </a:solidFill>
                <a:latin typeface="Tw Cen MT" pitchFamily="34" charset="0"/>
              </a:rPr>
              <a:t>Classification of Antiarrhythmic Drugs</a:t>
            </a:r>
            <a:br>
              <a:rPr lang="en-US" sz="3600" b="1" dirty="0" smtClean="0">
                <a:solidFill>
                  <a:srgbClr val="6600FF"/>
                </a:solidFill>
                <a:latin typeface="Tw Cen MT" pitchFamily="34" charset="0"/>
              </a:rPr>
            </a:br>
            <a:endParaRPr lang="en-US" sz="3600"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229600" cy="4525963"/>
          </a:xfrm>
        </p:spPr>
        <p:txBody>
          <a:bodyPr>
            <a:normAutofit/>
          </a:bodyPr>
          <a:lstStyle/>
          <a:p>
            <a:r>
              <a:rPr lang="en-US" dirty="0" smtClean="0">
                <a:latin typeface="Tw Cen MT" pitchFamily="34" charset="0"/>
              </a:rPr>
              <a:t>Drugs may have antiarrhythmic activity by directly altering conduction in several ways. </a:t>
            </a:r>
          </a:p>
          <a:p>
            <a:pPr lvl="1"/>
            <a:r>
              <a:rPr lang="en-US" dirty="0" smtClean="0">
                <a:latin typeface="Tw Cen MT" pitchFamily="34" charset="0"/>
              </a:rPr>
              <a:t>may depress the automatic properties of abnormal pacemaker cells </a:t>
            </a:r>
          </a:p>
          <a:p>
            <a:pPr lvl="2"/>
            <a:r>
              <a:rPr lang="en-US" dirty="0" smtClean="0">
                <a:latin typeface="Tw Cen MT" pitchFamily="34" charset="0"/>
              </a:rPr>
              <a:t>by decreasing the slope of phase 4 depolarization and/or by elevating threshold potential. </a:t>
            </a:r>
          </a:p>
          <a:p>
            <a:pPr lvl="1"/>
            <a:r>
              <a:rPr lang="en-US" dirty="0" smtClean="0">
                <a:latin typeface="Tw Cen MT" pitchFamily="34" charset="0"/>
              </a:rPr>
              <a:t>may alter the conduction characteristics of the pathways of a reentrant loop.</a:t>
            </a:r>
            <a:endParaRPr lang="en-US"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E32CE60C-F39F-4454-948C-71802C542D6D}"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42</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http://pt.wkhealth.com/FullTextService/CT%7b06b9ee1beed59419c4d56899cee0fdc8d4bcfc5a9496de4b313c87d9cf5dbbe2f6bf48e24e3f2fbcfa1d23da77a9f953%7d/DA4C17FF1.jpg?geom=595x1000"/>
          <p:cNvPicPr>
            <a:picLocks noChangeAspect="1" noChangeArrowheads="1"/>
          </p:cNvPicPr>
          <p:nvPr/>
        </p:nvPicPr>
        <p:blipFill>
          <a:blip r:embed="rId3" cstate="print"/>
          <a:srcRect b="92210"/>
          <a:stretch>
            <a:fillRect/>
          </a:stretch>
        </p:blipFill>
        <p:spPr bwMode="auto">
          <a:xfrm>
            <a:off x="1828800" y="490538"/>
            <a:ext cx="4953000" cy="1109662"/>
          </a:xfrm>
          <a:prstGeom prst="rect">
            <a:avLst/>
          </a:prstGeom>
          <a:noFill/>
          <a:ln w="9525">
            <a:noFill/>
            <a:miter lim="800000"/>
            <a:headEnd/>
            <a:tailEnd/>
          </a:ln>
        </p:spPr>
      </p:pic>
      <p:pic>
        <p:nvPicPr>
          <p:cNvPr id="18435" name="Picture 2" descr="http://pt.wkhealth.com/FullTextService/CT%7b06b9ee1beed59419c4d56899cee0fdc8d4bcfc5a9496de4b313c87d9cf5dbbe2f6bf48e24e3f2fbcfa1d23da77a9f953%7d/DA4C17FF1.jpg?geom=595x1000"/>
          <p:cNvPicPr>
            <a:picLocks noChangeAspect="1" noChangeArrowheads="1"/>
          </p:cNvPicPr>
          <p:nvPr/>
        </p:nvPicPr>
        <p:blipFill>
          <a:blip r:embed="rId3" cstate="print"/>
          <a:srcRect l="12801" t="40056" r="7201" b="42142"/>
          <a:stretch>
            <a:fillRect/>
          </a:stretch>
        </p:blipFill>
        <p:spPr bwMode="auto">
          <a:xfrm>
            <a:off x="457200" y="4495800"/>
            <a:ext cx="2514600" cy="1609725"/>
          </a:xfrm>
          <a:prstGeom prst="rect">
            <a:avLst/>
          </a:prstGeom>
          <a:noFill/>
          <a:ln w="9525">
            <a:noFill/>
            <a:miter lim="800000"/>
            <a:headEnd/>
            <a:tailEnd/>
          </a:ln>
        </p:spPr>
      </p:pic>
      <p:pic>
        <p:nvPicPr>
          <p:cNvPr id="18436" name="Picture 2" descr="http://pt.wkhealth.com/FullTextService/CT%7b06b9ee1beed59419c4d56899cee0fdc8d4bcfc5a9496de4b313c87d9cf5dbbe2f6bf48e24e3f2fbcfa1d23da77a9f953%7d/DA4C17FF1.jpg?geom=595x1000"/>
          <p:cNvPicPr>
            <a:picLocks noChangeAspect="1" noChangeArrowheads="1"/>
          </p:cNvPicPr>
          <p:nvPr/>
        </p:nvPicPr>
        <p:blipFill>
          <a:blip r:embed="rId3" cstate="print"/>
          <a:srcRect l="12801" t="10014" r="7201" b="61057"/>
          <a:stretch>
            <a:fillRect/>
          </a:stretch>
        </p:blipFill>
        <p:spPr bwMode="auto">
          <a:xfrm>
            <a:off x="457200" y="1752600"/>
            <a:ext cx="2514600" cy="2614613"/>
          </a:xfrm>
          <a:prstGeom prst="rect">
            <a:avLst/>
          </a:prstGeom>
          <a:noFill/>
          <a:ln w="9525">
            <a:noFill/>
            <a:miter lim="800000"/>
            <a:headEnd/>
            <a:tailEnd/>
          </a:ln>
        </p:spPr>
      </p:pic>
      <p:pic>
        <p:nvPicPr>
          <p:cNvPr id="18437" name="Picture 2" descr="http://pt.wkhealth.com/FullTextService/CT%7b06b9ee1beed59419c4d56899cee0fdc8d4bcfc5a9496de4b313c87d9cf5dbbe2f6bf48e24e3f2fbcfa1d23da77a9f953%7d/DA4C17FF1.jpg?geom=595x1000"/>
          <p:cNvPicPr>
            <a:picLocks noChangeAspect="1" noChangeArrowheads="1"/>
          </p:cNvPicPr>
          <p:nvPr/>
        </p:nvPicPr>
        <p:blipFill>
          <a:blip r:embed="rId3" cstate="print"/>
          <a:srcRect l="12801" t="57858" r="7201" b="26566"/>
          <a:stretch>
            <a:fillRect/>
          </a:stretch>
        </p:blipFill>
        <p:spPr bwMode="auto">
          <a:xfrm>
            <a:off x="5562600" y="1828800"/>
            <a:ext cx="2586038" cy="1447800"/>
          </a:xfrm>
          <a:prstGeom prst="rect">
            <a:avLst/>
          </a:prstGeom>
          <a:noFill/>
          <a:ln w="9525">
            <a:noFill/>
            <a:miter lim="800000"/>
            <a:headEnd/>
            <a:tailEnd/>
          </a:ln>
        </p:spPr>
      </p:pic>
      <p:pic>
        <p:nvPicPr>
          <p:cNvPr id="18438" name="Picture 2" descr="http://pt.wkhealth.com/FullTextService/CT%7b06b9ee1beed59419c4d56899cee0fdc8d4bcfc5a9496de4b313c87d9cf5dbbe2f6bf48e24e3f2fbcfa1d23da77a9f953%7d/DA4C17FF1.jpg?geom=595x1000"/>
          <p:cNvPicPr>
            <a:picLocks noChangeAspect="1" noChangeArrowheads="1"/>
          </p:cNvPicPr>
          <p:nvPr/>
        </p:nvPicPr>
        <p:blipFill>
          <a:blip r:embed="rId3" cstate="print"/>
          <a:srcRect l="12801" t="73434" r="7201" b="13213"/>
          <a:stretch>
            <a:fillRect/>
          </a:stretch>
        </p:blipFill>
        <p:spPr bwMode="auto">
          <a:xfrm>
            <a:off x="5638800" y="3429000"/>
            <a:ext cx="2590800" cy="1243013"/>
          </a:xfrm>
          <a:prstGeom prst="rect">
            <a:avLst/>
          </a:prstGeom>
          <a:noFill/>
          <a:ln w="9525">
            <a:noFill/>
            <a:miter lim="800000"/>
            <a:headEnd/>
            <a:tailEnd/>
          </a:ln>
        </p:spPr>
      </p:pic>
      <p:pic>
        <p:nvPicPr>
          <p:cNvPr id="18439" name="Picture 2" descr="http://pt.wkhealth.com/FullTextService/CT%7b06b9ee1beed59419c4d56899cee0fdc8d4bcfc5a9496de4b313c87d9cf5dbbe2f6bf48e24e3f2fbcfa1d23da77a9f953%7d/DA4C17FF1.jpg?geom=595x1000"/>
          <p:cNvPicPr>
            <a:picLocks noChangeAspect="1" noChangeArrowheads="1"/>
          </p:cNvPicPr>
          <p:nvPr/>
        </p:nvPicPr>
        <p:blipFill>
          <a:blip r:embed="rId3" cstate="print"/>
          <a:srcRect l="12801" t="86787" r="7201"/>
          <a:stretch>
            <a:fillRect/>
          </a:stretch>
        </p:blipFill>
        <p:spPr bwMode="auto">
          <a:xfrm>
            <a:off x="5638800" y="4800600"/>
            <a:ext cx="2590800" cy="1230313"/>
          </a:xfrm>
          <a:prstGeom prst="rect">
            <a:avLst/>
          </a:prstGeom>
          <a:noFill/>
          <a:ln w="9525">
            <a:noFill/>
            <a:miter lim="800000"/>
            <a:headEnd/>
            <a:tailEnd/>
          </a:ln>
        </p:spPr>
      </p:pic>
      <p:sp>
        <p:nvSpPr>
          <p:cNvPr id="18440" name="Date Placeholder 7"/>
          <p:cNvSpPr>
            <a:spLocks noGrp="1"/>
          </p:cNvSpPr>
          <p:nvPr>
            <p:ph type="dt" sz="quarter" idx="10"/>
          </p:nvPr>
        </p:nvSpPr>
        <p:spPr bwMode="auto">
          <a:noFill/>
          <a:ln>
            <a:miter lim="800000"/>
            <a:headEnd/>
            <a:tailEnd/>
          </a:ln>
        </p:spPr>
        <p:txBody>
          <a:bodyPr/>
          <a:lstStyle/>
          <a:p>
            <a:fld id="{F6DA4FB6-9284-4741-B101-FFFBDED4AB58}" type="datetime1">
              <a:rPr lang="en-US"/>
              <a:pPr/>
              <a:t>2/7/2016</a:t>
            </a:fld>
            <a:endParaRPr lang="en-US"/>
          </a:p>
        </p:txBody>
      </p:sp>
      <p:sp>
        <p:nvSpPr>
          <p:cNvPr id="18441" name="Slide Number Placeholder 8"/>
          <p:cNvSpPr>
            <a:spLocks noGrp="1"/>
          </p:cNvSpPr>
          <p:nvPr>
            <p:ph type="sldNum" sz="quarter" idx="12"/>
          </p:nvPr>
        </p:nvSpPr>
        <p:spPr bwMode="auto">
          <a:noFill/>
          <a:ln>
            <a:miter lim="800000"/>
            <a:headEnd/>
            <a:tailEnd/>
          </a:ln>
        </p:spPr>
        <p:txBody>
          <a:bodyPr/>
          <a:lstStyle/>
          <a:p>
            <a:fld id="{3B9CFC4F-3AE0-41B6-90C0-9B135403C89E}" type="slidenum">
              <a:rPr lang="en-US"/>
              <a:pPr/>
              <a:t>43</a:t>
            </a:fld>
            <a:endParaRPr lang="en-US"/>
          </a:p>
        </p:txBody>
      </p:sp>
      <p:sp>
        <p:nvSpPr>
          <p:cNvPr id="10" name="Footer Placeholder 9"/>
          <p:cNvSpPr>
            <a:spLocks noGrp="1"/>
          </p:cNvSpPr>
          <p:nvPr>
            <p:ph type="ftr" sz="quarter" idx="11"/>
          </p:nvPr>
        </p:nvSpPr>
        <p:spPr/>
        <p:txBody>
          <a:bodyPr/>
          <a:lstStyle/>
          <a:p>
            <a:pPr>
              <a:defRPr/>
            </a:pPr>
            <a:r>
              <a:rPr lang="en-US"/>
              <a:t>Cardiac arrhythmia</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pPr algn="l"/>
            <a:r>
              <a:rPr lang="en-US" b="1" dirty="0" smtClean="0">
                <a:solidFill>
                  <a:srgbClr val="FF0000"/>
                </a:solidFill>
                <a:latin typeface="Tw Cen MT" pitchFamily="34" charset="0"/>
              </a:rPr>
              <a:t>Cont…</a:t>
            </a:r>
            <a:endParaRPr lang="en-US"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382000" cy="4525963"/>
          </a:xfrm>
        </p:spPr>
        <p:txBody>
          <a:bodyPr>
            <a:normAutofit fontScale="92500" lnSpcReduction="10000"/>
          </a:bodyPr>
          <a:lstStyle/>
          <a:p>
            <a:r>
              <a:rPr lang="en-US" dirty="0" smtClean="0">
                <a:latin typeface="Tw Cen MT" pitchFamily="34" charset="0"/>
              </a:rPr>
              <a:t>The most frequently used classification system is that proposed by Vaughan Williams. </a:t>
            </a:r>
          </a:p>
          <a:p>
            <a:r>
              <a:rPr lang="en-US" b="1" dirty="0" smtClean="0">
                <a:latin typeface="Tw Cen MT" pitchFamily="34" charset="0"/>
              </a:rPr>
              <a:t>Type Ia drugs </a:t>
            </a:r>
          </a:p>
          <a:p>
            <a:pPr lvl="1"/>
            <a:r>
              <a:rPr lang="en-US" dirty="0" smtClean="0">
                <a:latin typeface="Tw Cen MT" pitchFamily="34" charset="0"/>
              </a:rPr>
              <a:t>slow conduction velocity</a:t>
            </a:r>
          </a:p>
          <a:p>
            <a:pPr lvl="1"/>
            <a:r>
              <a:rPr lang="en-US" dirty="0" smtClean="0">
                <a:latin typeface="Tw Cen MT" pitchFamily="34" charset="0"/>
              </a:rPr>
              <a:t>prolong refractoriness and </a:t>
            </a:r>
          </a:p>
          <a:p>
            <a:pPr lvl="1"/>
            <a:r>
              <a:rPr lang="en-US" dirty="0" smtClean="0">
                <a:latin typeface="Tw Cen MT" pitchFamily="34" charset="0"/>
              </a:rPr>
              <a:t>decrease the automatic properties of sodium-dependent (normal and diseased) conduction tissue. </a:t>
            </a:r>
          </a:p>
          <a:p>
            <a:pPr lvl="1"/>
            <a:r>
              <a:rPr lang="en-US" dirty="0" smtClean="0">
                <a:latin typeface="Tw Cen MT" pitchFamily="34" charset="0"/>
              </a:rPr>
              <a:t>Type Ia drugs are </a:t>
            </a:r>
            <a:r>
              <a:rPr lang="en-US" b="1" dirty="0" smtClean="0">
                <a:latin typeface="Tw Cen MT" pitchFamily="34" charset="0"/>
              </a:rPr>
              <a:t>broad-spectrum</a:t>
            </a:r>
            <a:r>
              <a:rPr lang="en-US" dirty="0" smtClean="0">
                <a:latin typeface="Tw Cen MT" pitchFamily="34" charset="0"/>
              </a:rPr>
              <a:t> antiarrhythmics, being effective for both supraventricular and ventricular arrhythmias</a:t>
            </a:r>
            <a:endParaRPr lang="en-US"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3F1BF172-4B0E-4210-AE41-DE914BB53D62}"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44</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pPr algn="l"/>
            <a:r>
              <a:rPr lang="en-US" b="1" dirty="0" smtClean="0">
                <a:solidFill>
                  <a:srgbClr val="FF0000"/>
                </a:solidFill>
                <a:latin typeface="Tw Cen MT" pitchFamily="34" charset="0"/>
              </a:rPr>
              <a:t>Cont…</a:t>
            </a:r>
            <a:endParaRPr lang="en-US"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229600" cy="4953000"/>
          </a:xfrm>
        </p:spPr>
        <p:txBody>
          <a:bodyPr>
            <a:normAutofit fontScale="77500" lnSpcReduction="20000"/>
          </a:bodyPr>
          <a:lstStyle/>
          <a:p>
            <a:r>
              <a:rPr lang="en-US" b="1" dirty="0" smtClean="0">
                <a:latin typeface="Tw Cen MT" pitchFamily="34" charset="0"/>
              </a:rPr>
              <a:t>type Ib drugs</a:t>
            </a:r>
          </a:p>
          <a:p>
            <a:pPr lvl="1"/>
            <a:r>
              <a:rPr lang="en-US" dirty="0" smtClean="0">
                <a:latin typeface="Tw Cen MT" pitchFamily="34" charset="0"/>
              </a:rPr>
              <a:t>Although categorized separately, type Ib drugs probably act similarly to type Ia drugs, except that type Ib agents are considerably </a:t>
            </a:r>
            <a:r>
              <a:rPr lang="en-US" b="1" dirty="0" smtClean="0">
                <a:latin typeface="Tw Cen MT" pitchFamily="34" charset="0"/>
              </a:rPr>
              <a:t>more effective in ventricular than supraventricular arrhythmias.</a:t>
            </a:r>
          </a:p>
          <a:p>
            <a:endParaRPr lang="en-US" b="1" dirty="0" smtClean="0">
              <a:latin typeface="Tw Cen MT" pitchFamily="34" charset="0"/>
            </a:endParaRPr>
          </a:p>
          <a:p>
            <a:r>
              <a:rPr lang="en-US" b="1" dirty="0" smtClean="0">
                <a:latin typeface="Tw Cen MT" pitchFamily="34" charset="0"/>
              </a:rPr>
              <a:t>Type Ic drugs </a:t>
            </a:r>
          </a:p>
          <a:p>
            <a:pPr lvl="1"/>
            <a:r>
              <a:rPr lang="en-US" dirty="0" smtClean="0">
                <a:latin typeface="Tw Cen MT" pitchFamily="34" charset="0"/>
              </a:rPr>
              <a:t>profoundly slow conduction velocity </a:t>
            </a:r>
            <a:r>
              <a:rPr lang="en-US" b="1" dirty="0" smtClean="0">
                <a:latin typeface="Tw Cen MT" pitchFamily="34" charset="0"/>
              </a:rPr>
              <a:t>while leaving refractoriness relatively unaltered. </a:t>
            </a:r>
          </a:p>
          <a:p>
            <a:pPr lvl="1"/>
            <a:r>
              <a:rPr lang="en-US" dirty="0" smtClean="0">
                <a:latin typeface="Tw Cen MT" pitchFamily="34" charset="0"/>
              </a:rPr>
              <a:t>Although effective for both ventricular and supraventricular arrhythmias, their use for ventricular arrhythmias has been limited by the risk of </a:t>
            </a:r>
            <a:r>
              <a:rPr lang="en-US" b="1" dirty="0" smtClean="0">
                <a:latin typeface="Tw Cen MT" pitchFamily="34" charset="0"/>
              </a:rPr>
              <a:t>proarrhythmia</a:t>
            </a:r>
          </a:p>
          <a:p>
            <a:endParaRPr lang="en-US" dirty="0" smtClean="0">
              <a:latin typeface="Tw Cen MT" pitchFamily="34" charset="0"/>
            </a:endParaRPr>
          </a:p>
          <a:p>
            <a:r>
              <a:rPr lang="en-US" dirty="0" smtClean="0">
                <a:latin typeface="Tw Cen MT" pitchFamily="34" charset="0"/>
              </a:rPr>
              <a:t>Collectively, type I drugs can be referred to as </a:t>
            </a:r>
            <a:r>
              <a:rPr lang="en-US" b="1" dirty="0" smtClean="0">
                <a:latin typeface="Tw Cen MT" pitchFamily="34" charset="0"/>
              </a:rPr>
              <a:t>sodium channel blockers. </a:t>
            </a:r>
          </a:p>
          <a:p>
            <a:pPr lvl="1"/>
            <a:endParaRPr lang="en-US" b="1"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877F1DF9-33ED-4E55-B30D-52B539A4F599}"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45</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pPr algn="l"/>
            <a:r>
              <a:rPr lang="en-US" b="1" dirty="0" smtClean="0">
                <a:solidFill>
                  <a:srgbClr val="FF0000"/>
                </a:solidFill>
                <a:latin typeface="Tw Cen MT" pitchFamily="34" charset="0"/>
              </a:rPr>
              <a:t>Cont…</a:t>
            </a:r>
            <a:endParaRPr lang="en-US"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229600" cy="4525963"/>
          </a:xfrm>
        </p:spPr>
        <p:txBody>
          <a:bodyPr>
            <a:normAutofit/>
          </a:bodyPr>
          <a:lstStyle/>
          <a:p>
            <a:r>
              <a:rPr lang="en-US" b="1" dirty="0" smtClean="0">
                <a:latin typeface="Tw Cen MT" pitchFamily="34" charset="0"/>
              </a:rPr>
              <a:t>Type II drugs </a:t>
            </a:r>
          </a:p>
          <a:p>
            <a:pPr lvl="1"/>
            <a:r>
              <a:rPr lang="en-US" b="1" dirty="0" smtClean="0">
                <a:latin typeface="Tw Cen MT" pitchFamily="34" charset="0"/>
              </a:rPr>
              <a:t>β-adrenergic antagonists </a:t>
            </a:r>
            <a:r>
              <a:rPr lang="en-US" dirty="0" smtClean="0">
                <a:latin typeface="Tw Cen MT" pitchFamily="34" charset="0"/>
              </a:rPr>
              <a:t>; clinically relevant mechanisms result from their antiadrenergic actions. </a:t>
            </a:r>
          </a:p>
          <a:p>
            <a:pPr lvl="1"/>
            <a:r>
              <a:rPr lang="en-US" dirty="0" smtClean="0">
                <a:latin typeface="Tw Cen MT" pitchFamily="34" charset="0"/>
              </a:rPr>
              <a:t>β-Blockers are most useful in tachycardias in which nodal tissues are abnormally automatic or are a portion of a reentrant loop. </a:t>
            </a:r>
          </a:p>
          <a:p>
            <a:pPr lvl="1"/>
            <a:r>
              <a:rPr lang="en-US" dirty="0" smtClean="0">
                <a:latin typeface="Tw Cen MT" pitchFamily="34" charset="0"/>
              </a:rPr>
              <a:t>These agents are also helpful in slowing ventricular response in atrial tachycardias (e.g., AF) by their effects on the AV node.</a:t>
            </a:r>
            <a:endParaRPr lang="en-US"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8110994B-D323-4D10-860D-D0AFE198CEB2}"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46</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pPr algn="l"/>
            <a:r>
              <a:rPr lang="en-US" b="1" dirty="0" smtClean="0">
                <a:solidFill>
                  <a:srgbClr val="FF0000"/>
                </a:solidFill>
                <a:latin typeface="Tw Cen MT" pitchFamily="34" charset="0"/>
              </a:rPr>
              <a:t>Cont…</a:t>
            </a:r>
            <a:endParaRPr lang="en-US"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229600" cy="4525963"/>
          </a:xfrm>
        </p:spPr>
        <p:txBody>
          <a:bodyPr>
            <a:normAutofit/>
          </a:bodyPr>
          <a:lstStyle/>
          <a:p>
            <a:r>
              <a:rPr lang="en-US" b="1" dirty="0" smtClean="0">
                <a:latin typeface="Tw Cen MT" pitchFamily="34" charset="0"/>
              </a:rPr>
              <a:t>Type III drugs </a:t>
            </a:r>
          </a:p>
          <a:p>
            <a:pPr lvl="1"/>
            <a:r>
              <a:rPr lang="en-US" dirty="0" smtClean="0">
                <a:latin typeface="Tw Cen MT" pitchFamily="34" charset="0"/>
              </a:rPr>
              <a:t>specifically </a:t>
            </a:r>
            <a:r>
              <a:rPr lang="en-US" b="1" dirty="0" smtClean="0">
                <a:latin typeface="Tw Cen MT" pitchFamily="34" charset="0"/>
              </a:rPr>
              <a:t>prolong refractoriness </a:t>
            </a:r>
            <a:r>
              <a:rPr lang="en-US" dirty="0" smtClean="0">
                <a:latin typeface="Tw Cen MT" pitchFamily="34" charset="0"/>
              </a:rPr>
              <a:t>in atrial and ventricular fibers and include very different drugs that share the common effect of delaying re-polarization by </a:t>
            </a:r>
            <a:r>
              <a:rPr lang="en-US" b="1" dirty="0" smtClean="0">
                <a:latin typeface="Tw Cen MT" pitchFamily="34" charset="0"/>
              </a:rPr>
              <a:t>blocking potassium channels.</a:t>
            </a:r>
          </a:p>
          <a:p>
            <a:pPr lvl="1"/>
            <a:r>
              <a:rPr lang="en-US" dirty="0" smtClean="0">
                <a:latin typeface="Tw Cen MT" pitchFamily="34" charset="0"/>
              </a:rPr>
              <a:t>are effective in most supraventricular and ventricular tachycardias.</a:t>
            </a:r>
            <a:endParaRPr lang="en-US" b="1"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0C29A414-8A69-4704-B70F-2BD5A13D499A}"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47</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pPr algn="l"/>
            <a:r>
              <a:rPr lang="en-US" b="1" dirty="0" smtClean="0">
                <a:solidFill>
                  <a:srgbClr val="FF0000"/>
                </a:solidFill>
                <a:latin typeface="Tw Cen MT" pitchFamily="34" charset="0"/>
              </a:rPr>
              <a:t>Cont…</a:t>
            </a:r>
            <a:endParaRPr lang="en-US"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229600" cy="4525963"/>
          </a:xfrm>
        </p:spPr>
        <p:txBody>
          <a:bodyPr>
            <a:normAutofit/>
          </a:bodyPr>
          <a:lstStyle/>
          <a:p>
            <a:r>
              <a:rPr lang="en-US" b="1" dirty="0" smtClean="0">
                <a:latin typeface="Tw Cen MT" pitchFamily="34" charset="0"/>
              </a:rPr>
              <a:t>Amiodarone </a:t>
            </a:r>
          </a:p>
          <a:p>
            <a:pPr lvl="1"/>
            <a:r>
              <a:rPr lang="en-US" dirty="0" smtClean="0">
                <a:latin typeface="Tw Cen MT" pitchFamily="34" charset="0"/>
              </a:rPr>
              <a:t>impressive effectiveness and low proarrhythmic potential</a:t>
            </a:r>
          </a:p>
          <a:p>
            <a:pPr lvl="1"/>
            <a:r>
              <a:rPr lang="en-US" dirty="0" smtClean="0">
                <a:latin typeface="Tw Cen MT" pitchFamily="34" charset="0"/>
              </a:rPr>
              <a:t>It is a sodium channel blocker </a:t>
            </a:r>
          </a:p>
          <a:p>
            <a:pPr lvl="1"/>
            <a:r>
              <a:rPr lang="en-US" dirty="0" smtClean="0">
                <a:latin typeface="Tw Cen MT" pitchFamily="34" charset="0"/>
              </a:rPr>
              <a:t>has nonselective  </a:t>
            </a:r>
            <a:r>
              <a:rPr lang="el-GR" dirty="0" smtClean="0">
                <a:latin typeface="Tw Cen MT" pitchFamily="34" charset="0"/>
              </a:rPr>
              <a:t>β-</a:t>
            </a:r>
            <a:r>
              <a:rPr lang="en-US" dirty="0" smtClean="0">
                <a:latin typeface="Tw Cen MT" pitchFamily="34" charset="0"/>
              </a:rPr>
              <a:t>blocking actions, </a:t>
            </a:r>
          </a:p>
          <a:p>
            <a:pPr lvl="1"/>
            <a:r>
              <a:rPr lang="en-US" dirty="0" smtClean="0">
                <a:latin typeface="Tw Cen MT" pitchFamily="34" charset="0"/>
              </a:rPr>
              <a:t>blocks potassium channels, and </a:t>
            </a:r>
          </a:p>
          <a:p>
            <a:pPr lvl="1"/>
            <a:r>
              <a:rPr lang="en-US" dirty="0" smtClean="0">
                <a:latin typeface="Tw Cen MT" pitchFamily="34" charset="0"/>
              </a:rPr>
              <a:t>has slight calcium antagonist activity.</a:t>
            </a:r>
            <a:endParaRPr lang="en-US"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D5FE352C-49BA-40A6-8C1E-FD26E83F8DBA}"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48</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pPr algn="l"/>
            <a:r>
              <a:rPr lang="en-US" b="1" dirty="0" smtClean="0">
                <a:solidFill>
                  <a:srgbClr val="FF0000"/>
                </a:solidFill>
                <a:latin typeface="Tw Cen MT" pitchFamily="34" charset="0"/>
              </a:rPr>
              <a:t>Cont…</a:t>
            </a:r>
            <a:endParaRPr lang="en-US"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229600" cy="4525963"/>
          </a:xfrm>
        </p:spPr>
        <p:txBody>
          <a:bodyPr>
            <a:normAutofit/>
          </a:bodyPr>
          <a:lstStyle/>
          <a:p>
            <a:r>
              <a:rPr lang="en-US" b="1" dirty="0" smtClean="0">
                <a:latin typeface="Tw Cen MT" pitchFamily="34" charset="0"/>
              </a:rPr>
              <a:t>Type IV drugs </a:t>
            </a:r>
          </a:p>
          <a:p>
            <a:pPr lvl="1"/>
            <a:r>
              <a:rPr lang="en-US" dirty="0" smtClean="0">
                <a:latin typeface="Tw Cen MT" pitchFamily="34" charset="0"/>
              </a:rPr>
              <a:t>inhibit calcium entry into the cell, which </a:t>
            </a:r>
          </a:p>
          <a:p>
            <a:pPr lvl="2"/>
            <a:r>
              <a:rPr lang="en-US" dirty="0" smtClean="0">
                <a:latin typeface="Tw Cen MT" pitchFamily="34" charset="0"/>
              </a:rPr>
              <a:t>slows conduction, </a:t>
            </a:r>
          </a:p>
          <a:p>
            <a:pPr lvl="2"/>
            <a:r>
              <a:rPr lang="en-US" dirty="0" smtClean="0">
                <a:latin typeface="Tw Cen MT" pitchFamily="34" charset="0"/>
              </a:rPr>
              <a:t>prolongs refractoriness, and </a:t>
            </a:r>
          </a:p>
          <a:p>
            <a:pPr lvl="2"/>
            <a:r>
              <a:rPr lang="en-US" dirty="0" smtClean="0">
                <a:latin typeface="Tw Cen MT" pitchFamily="34" charset="0"/>
              </a:rPr>
              <a:t>decreases SA and AV nodal automaticity.</a:t>
            </a:r>
          </a:p>
          <a:p>
            <a:endParaRPr lang="en-US" dirty="0" smtClean="0">
              <a:latin typeface="Tw Cen MT" pitchFamily="34" charset="0"/>
            </a:endParaRPr>
          </a:p>
          <a:p>
            <a:pPr lvl="1"/>
            <a:r>
              <a:rPr lang="en-US" dirty="0" smtClean="0">
                <a:latin typeface="Tw Cen MT" pitchFamily="34" charset="0"/>
              </a:rPr>
              <a:t>CCBs hence are effective for automatic or reentrant tachycardias that arise from or use the SA or AV nodes.</a:t>
            </a:r>
            <a:endParaRPr lang="en-US"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8944F712-3EDC-4319-A277-BFE71EDF3E3E}"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49</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pPr algn="l"/>
            <a:r>
              <a:rPr lang="en-US" b="1" dirty="0" smtClean="0">
                <a:solidFill>
                  <a:srgbClr val="FF0000"/>
                </a:solidFill>
                <a:latin typeface="Tw Cen MT" pitchFamily="34" charset="0"/>
              </a:rPr>
              <a:t>Cont…</a:t>
            </a:r>
            <a:endParaRPr lang="en-US"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229600" cy="4525963"/>
          </a:xfrm>
        </p:spPr>
        <p:txBody>
          <a:bodyPr>
            <a:normAutofit/>
          </a:bodyPr>
          <a:lstStyle/>
          <a:p>
            <a:endParaRPr lang="en-US"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CFF5FD64-9E3D-4C5C-A447-D8118BCFB365}"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50</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pic>
        <p:nvPicPr>
          <p:cNvPr id="1026" name="Picture 2"/>
          <p:cNvPicPr>
            <a:picLocks noChangeAspect="1" noChangeArrowheads="1"/>
          </p:cNvPicPr>
          <p:nvPr/>
        </p:nvPicPr>
        <p:blipFill>
          <a:blip r:embed="rId2" cstate="print">
            <a:lum contrast="39000"/>
          </a:blip>
          <a:srcRect/>
          <a:stretch>
            <a:fillRect/>
          </a:stretch>
        </p:blipFill>
        <p:spPr bwMode="auto">
          <a:xfrm>
            <a:off x="0" y="0"/>
            <a:ext cx="9143999" cy="6858000"/>
          </a:xfrm>
          <a:prstGeom prst="rect">
            <a:avLst/>
          </a:prstGeom>
          <a:noFill/>
          <a:ln w="9525">
            <a:noFill/>
            <a:miter lim="800000"/>
            <a:headEnd/>
            <a:tailEnd/>
          </a:ln>
        </p:spPr>
      </p:pic>
      <p:sp>
        <p:nvSpPr>
          <p:cNvPr id="9" name="Rectangle 8"/>
          <p:cNvSpPr/>
          <p:nvPr/>
        </p:nvSpPr>
        <p:spPr>
          <a:xfrm>
            <a:off x="1295400" y="0"/>
            <a:ext cx="304800" cy="3048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0F9A62D7-AD47-45FA-9813-87AEEC092FB8}" type="datetime1">
              <a:rPr lang="en-US" smtClean="0"/>
              <a:pPr/>
              <a:t>2/7/2016</a:t>
            </a:fld>
            <a:endParaRPr lang="en-US"/>
          </a:p>
        </p:txBody>
      </p:sp>
      <p:sp>
        <p:nvSpPr>
          <p:cNvPr id="5" name="Footer Placeholder 4"/>
          <p:cNvSpPr>
            <a:spLocks noGrp="1"/>
          </p:cNvSpPr>
          <p:nvPr>
            <p:ph type="ftr" sz="quarter" idx="11"/>
          </p:nvPr>
        </p:nvSpPr>
        <p:spPr/>
        <p:txBody>
          <a:bodyPr/>
          <a:lstStyle/>
          <a:p>
            <a:r>
              <a:rPr lang="en-US" smtClean="0"/>
              <a:t>Pharmacotherapy of Arrythmia</a:t>
            </a:r>
            <a:endParaRPr lang="en-US"/>
          </a:p>
        </p:txBody>
      </p:sp>
      <p:sp>
        <p:nvSpPr>
          <p:cNvPr id="6" name="Slide Number Placeholder 5"/>
          <p:cNvSpPr>
            <a:spLocks noGrp="1"/>
          </p:cNvSpPr>
          <p:nvPr>
            <p:ph type="sldNum" sz="quarter" idx="12"/>
          </p:nvPr>
        </p:nvSpPr>
        <p:spPr/>
        <p:txBody>
          <a:bodyPr/>
          <a:lstStyle/>
          <a:p>
            <a:fld id="{10378336-832C-49E1-A40D-F05F4719695D}" type="slidenum">
              <a:rPr lang="en-US" smtClean="0"/>
              <a:pPr/>
              <a:t>51</a:t>
            </a:fld>
            <a:endParaRPr lang="en-US"/>
          </a:p>
        </p:txBody>
      </p:sp>
      <p:pic>
        <p:nvPicPr>
          <p:cNvPr id="2050" name="Picture 2"/>
          <p:cNvPicPr>
            <a:picLocks noChangeAspect="1" noChangeArrowheads="1"/>
          </p:cNvPicPr>
          <p:nvPr/>
        </p:nvPicPr>
        <p:blipFill>
          <a:blip r:embed="rId2" cstate="print">
            <a:lum contrast="31000"/>
          </a:blip>
          <a:srcRect/>
          <a:stretch>
            <a:fillRect/>
          </a:stretch>
        </p:blipFill>
        <p:spPr bwMode="auto">
          <a:xfrm>
            <a:off x="0" y="0"/>
            <a:ext cx="9144000" cy="6858000"/>
          </a:xfrm>
          <a:prstGeom prst="rect">
            <a:avLst/>
          </a:prstGeom>
          <a:noFill/>
          <a:ln w="9525">
            <a:noFill/>
            <a:miter lim="800000"/>
            <a:headEnd/>
            <a:tailEnd/>
          </a:ln>
        </p:spPr>
      </p:pic>
      <p:sp>
        <p:nvSpPr>
          <p:cNvPr id="8" name="Rectangle 7"/>
          <p:cNvSpPr/>
          <p:nvPr/>
        </p:nvSpPr>
        <p:spPr>
          <a:xfrm>
            <a:off x="1295400" y="0"/>
            <a:ext cx="304800" cy="3048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0F9A62D7-AD47-45FA-9813-87AEEC092FB8}" type="datetime1">
              <a:rPr lang="en-US" smtClean="0"/>
              <a:pPr/>
              <a:t>2/7/2016</a:t>
            </a:fld>
            <a:endParaRPr lang="en-US"/>
          </a:p>
        </p:txBody>
      </p:sp>
      <p:sp>
        <p:nvSpPr>
          <p:cNvPr id="5" name="Footer Placeholder 4"/>
          <p:cNvSpPr>
            <a:spLocks noGrp="1"/>
          </p:cNvSpPr>
          <p:nvPr>
            <p:ph type="ftr" sz="quarter" idx="11"/>
          </p:nvPr>
        </p:nvSpPr>
        <p:spPr/>
        <p:txBody>
          <a:bodyPr/>
          <a:lstStyle/>
          <a:p>
            <a:r>
              <a:rPr lang="en-US" smtClean="0"/>
              <a:t>Pharmacotherapy of Arrythmia</a:t>
            </a:r>
            <a:endParaRPr lang="en-US"/>
          </a:p>
        </p:txBody>
      </p:sp>
      <p:sp>
        <p:nvSpPr>
          <p:cNvPr id="6" name="Slide Number Placeholder 5"/>
          <p:cNvSpPr>
            <a:spLocks noGrp="1"/>
          </p:cNvSpPr>
          <p:nvPr>
            <p:ph type="sldNum" sz="quarter" idx="12"/>
          </p:nvPr>
        </p:nvSpPr>
        <p:spPr/>
        <p:txBody>
          <a:bodyPr/>
          <a:lstStyle/>
          <a:p>
            <a:fld id="{10378336-832C-49E1-A40D-F05F4719695D}" type="slidenum">
              <a:rPr lang="en-US" smtClean="0"/>
              <a:pPr/>
              <a:t>52</a:t>
            </a:fld>
            <a:endParaRPr lang="en-US"/>
          </a:p>
        </p:txBody>
      </p:sp>
      <p:pic>
        <p:nvPicPr>
          <p:cNvPr id="3074" name="Picture 2"/>
          <p:cNvPicPr>
            <a:picLocks noChangeAspect="1" noChangeArrowheads="1"/>
          </p:cNvPicPr>
          <p:nvPr/>
        </p:nvPicPr>
        <p:blipFill>
          <a:blip r:embed="rId2" cstate="print">
            <a:lum contrast="56000"/>
          </a:blip>
          <a:srcRect/>
          <a:stretch>
            <a:fillRect/>
          </a:stretch>
        </p:blipFill>
        <p:spPr bwMode="auto">
          <a:xfrm>
            <a:off x="0" y="0"/>
            <a:ext cx="9144000" cy="6857999"/>
          </a:xfrm>
          <a:prstGeom prst="rect">
            <a:avLst/>
          </a:prstGeom>
          <a:noFill/>
          <a:ln w="9525">
            <a:noFill/>
            <a:miter lim="800000"/>
            <a:headEnd/>
            <a:tailEnd/>
          </a:ln>
        </p:spPr>
      </p:pic>
      <p:sp>
        <p:nvSpPr>
          <p:cNvPr id="8" name="Rectangle 7"/>
          <p:cNvSpPr/>
          <p:nvPr/>
        </p:nvSpPr>
        <p:spPr>
          <a:xfrm>
            <a:off x="1295400" y="0"/>
            <a:ext cx="304800" cy="3048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0F9A62D7-AD47-45FA-9813-87AEEC092FB8}" type="datetime1">
              <a:rPr lang="en-US" smtClean="0"/>
              <a:pPr/>
              <a:t>2/7/2016</a:t>
            </a:fld>
            <a:endParaRPr lang="en-US"/>
          </a:p>
        </p:txBody>
      </p:sp>
      <p:sp>
        <p:nvSpPr>
          <p:cNvPr id="5" name="Footer Placeholder 4"/>
          <p:cNvSpPr>
            <a:spLocks noGrp="1"/>
          </p:cNvSpPr>
          <p:nvPr>
            <p:ph type="ftr" sz="quarter" idx="11"/>
          </p:nvPr>
        </p:nvSpPr>
        <p:spPr/>
        <p:txBody>
          <a:bodyPr/>
          <a:lstStyle/>
          <a:p>
            <a:r>
              <a:rPr lang="en-US" smtClean="0"/>
              <a:t>Pharmacotherapy of Arrythmia</a:t>
            </a:r>
            <a:endParaRPr lang="en-US"/>
          </a:p>
        </p:txBody>
      </p:sp>
      <p:sp>
        <p:nvSpPr>
          <p:cNvPr id="6" name="Slide Number Placeholder 5"/>
          <p:cNvSpPr>
            <a:spLocks noGrp="1"/>
          </p:cNvSpPr>
          <p:nvPr>
            <p:ph type="sldNum" sz="quarter" idx="12"/>
          </p:nvPr>
        </p:nvSpPr>
        <p:spPr/>
        <p:txBody>
          <a:bodyPr/>
          <a:lstStyle/>
          <a:p>
            <a:fld id="{10378336-832C-49E1-A40D-F05F4719695D}" type="slidenum">
              <a:rPr lang="en-US" smtClean="0"/>
              <a:pPr/>
              <a:t>53</a:t>
            </a:fld>
            <a:endParaRPr lang="en-US"/>
          </a:p>
        </p:txBody>
      </p:sp>
      <p:pic>
        <p:nvPicPr>
          <p:cNvPr id="4098" name="Picture 2"/>
          <p:cNvPicPr>
            <a:picLocks noChangeAspect="1" noChangeArrowheads="1"/>
          </p:cNvPicPr>
          <p:nvPr/>
        </p:nvPicPr>
        <p:blipFill>
          <a:blip r:embed="rId2" cstate="print">
            <a:lum contrast="46000"/>
          </a:blip>
          <a:srcRect/>
          <a:stretch>
            <a:fillRect/>
          </a:stretch>
        </p:blipFill>
        <p:spPr bwMode="auto">
          <a:xfrm>
            <a:off x="0" y="0"/>
            <a:ext cx="9144000" cy="6857999"/>
          </a:xfrm>
          <a:prstGeom prst="rect">
            <a:avLst/>
          </a:prstGeom>
          <a:noFill/>
          <a:ln w="9525">
            <a:noFill/>
            <a:miter lim="800000"/>
            <a:headEnd/>
            <a:tailEnd/>
          </a:ln>
        </p:spPr>
      </p:pic>
      <p:sp>
        <p:nvSpPr>
          <p:cNvPr id="8" name="Rectangle 7"/>
          <p:cNvSpPr/>
          <p:nvPr/>
        </p:nvSpPr>
        <p:spPr>
          <a:xfrm>
            <a:off x="1295400" y="0"/>
            <a:ext cx="304800" cy="3048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rmAutofit fontScale="90000"/>
          </a:bodyPr>
          <a:lstStyle/>
          <a:p>
            <a:pPr algn="l"/>
            <a:r>
              <a:rPr lang="en-US" b="1" dirty="0">
                <a:solidFill>
                  <a:srgbClr val="FF0000"/>
                </a:solidFill>
                <a:latin typeface="Tw Cen MT" pitchFamily="34" charset="0"/>
              </a:rPr>
              <a:t/>
            </a:r>
            <a:br>
              <a:rPr lang="en-US" b="1" dirty="0">
                <a:solidFill>
                  <a:srgbClr val="FF0000"/>
                </a:solidFill>
                <a:latin typeface="Tw Cen MT" pitchFamily="34" charset="0"/>
              </a:rPr>
            </a:br>
            <a:r>
              <a:rPr lang="en-US" b="1" dirty="0" smtClean="0">
                <a:solidFill>
                  <a:srgbClr val="FF0000"/>
                </a:solidFill>
                <a:latin typeface="Tw Cen MT" pitchFamily="34" charset="0"/>
              </a:rPr>
              <a:t>Treatment</a:t>
            </a:r>
            <a:br>
              <a:rPr lang="en-US" b="1" dirty="0" smtClean="0">
                <a:solidFill>
                  <a:srgbClr val="FF0000"/>
                </a:solidFill>
                <a:latin typeface="Tw Cen MT" pitchFamily="34" charset="0"/>
              </a:rPr>
            </a:br>
            <a:r>
              <a:rPr lang="en-US" sz="4000" b="1" dirty="0" smtClean="0">
                <a:solidFill>
                  <a:srgbClr val="6600FF"/>
                </a:solidFill>
                <a:latin typeface="Tw Cen MT" pitchFamily="34" charset="0"/>
              </a:rPr>
              <a:t>Atrial Fibrillation or Atrial Flutter</a:t>
            </a:r>
            <a:r>
              <a:rPr lang="en-US" b="1" dirty="0" smtClean="0">
                <a:solidFill>
                  <a:srgbClr val="6600FF"/>
                </a:solidFill>
                <a:latin typeface="Tw Cen MT" pitchFamily="34" charset="0"/>
              </a:rPr>
              <a:t/>
            </a:r>
            <a:br>
              <a:rPr lang="en-US" b="1" dirty="0" smtClean="0">
                <a:solidFill>
                  <a:srgbClr val="6600FF"/>
                </a:solidFill>
                <a:latin typeface="Tw Cen MT" pitchFamily="34" charset="0"/>
              </a:rPr>
            </a:br>
            <a:endParaRPr lang="en-US"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229600" cy="4525963"/>
          </a:xfrm>
        </p:spPr>
        <p:txBody>
          <a:bodyPr>
            <a:normAutofit/>
          </a:bodyPr>
          <a:lstStyle/>
          <a:p>
            <a:r>
              <a:rPr lang="en-US" dirty="0" smtClean="0">
                <a:latin typeface="Tw Cen MT" pitchFamily="34" charset="0"/>
              </a:rPr>
              <a:t>Many methods are available for restoring sinus rhythm, preventing thromboembolic complications, and preventing further recurrences </a:t>
            </a:r>
          </a:p>
          <a:p>
            <a:pPr lvl="1"/>
            <a:r>
              <a:rPr lang="en-US" dirty="0" smtClean="0">
                <a:latin typeface="Tw Cen MT" pitchFamily="34" charset="0"/>
              </a:rPr>
              <a:t>however, treatment selection depends in part on onset and severity of symptoms.</a:t>
            </a:r>
          </a:p>
          <a:p>
            <a:pPr lvl="1"/>
            <a:r>
              <a:rPr lang="en-US" dirty="0" smtClean="0">
                <a:latin typeface="Tw Cen MT" pitchFamily="34" charset="0"/>
              </a:rPr>
              <a:t>If symptoms are severe and of recent onset, patients may require direct-current cardioversion (DCC) to restore sinus rhythm immediately</a:t>
            </a:r>
            <a:endParaRPr lang="en-US"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B4F43E10-B48B-46D2-A772-5C6793A2368C}"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54</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pPr algn="l"/>
            <a:r>
              <a:rPr lang="en-US" b="1" dirty="0" smtClean="0">
                <a:solidFill>
                  <a:srgbClr val="FF0000"/>
                </a:solidFill>
                <a:latin typeface="Tw Cen MT" pitchFamily="34" charset="0"/>
              </a:rPr>
              <a:t>Cont…</a:t>
            </a:r>
            <a:endParaRPr lang="en-US"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229600" cy="4525963"/>
          </a:xfrm>
        </p:spPr>
        <p:txBody>
          <a:bodyPr>
            <a:normAutofit fontScale="92500" lnSpcReduction="10000"/>
          </a:bodyPr>
          <a:lstStyle/>
          <a:p>
            <a:r>
              <a:rPr lang="en-US" dirty="0" smtClean="0">
                <a:latin typeface="Tw Cen MT" pitchFamily="34" charset="0"/>
              </a:rPr>
              <a:t>If patients are hemodynamically stable, the focus should be directed </a:t>
            </a:r>
            <a:r>
              <a:rPr lang="en-US" b="1" dirty="0" smtClean="0">
                <a:latin typeface="Tw Cen MT" pitchFamily="34" charset="0"/>
              </a:rPr>
              <a:t>toward control of ventricular rate. </a:t>
            </a:r>
          </a:p>
          <a:p>
            <a:pPr lvl="1"/>
            <a:r>
              <a:rPr lang="en-US" dirty="0" smtClean="0">
                <a:latin typeface="Tw Cen MT" pitchFamily="34" charset="0"/>
              </a:rPr>
              <a:t>Drugs that slow conduction and increase refractoriness in the AV node should be used as initial therapy. </a:t>
            </a:r>
          </a:p>
          <a:p>
            <a:endParaRPr lang="en-US" dirty="0" smtClean="0">
              <a:latin typeface="Tw Cen MT" pitchFamily="34" charset="0"/>
            </a:endParaRPr>
          </a:p>
          <a:p>
            <a:r>
              <a:rPr lang="en-US" dirty="0" smtClean="0">
                <a:latin typeface="Tw Cen MT" pitchFamily="34" charset="0"/>
              </a:rPr>
              <a:t>In patients with normal LV function (left ventricular ejection fraction &gt;40%), </a:t>
            </a:r>
          </a:p>
          <a:p>
            <a:pPr lvl="1"/>
            <a:r>
              <a:rPr lang="en-US" dirty="0" smtClean="0">
                <a:latin typeface="Tw Cen MT" pitchFamily="34" charset="0"/>
              </a:rPr>
              <a:t>IV  β-blockers (propranolol, metoprolol, esmolol ),  diltiazem  or  verapamil is recommended. </a:t>
            </a:r>
          </a:p>
          <a:p>
            <a:endParaRPr lang="en-US"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2E9B5D3B-C358-4630-A91F-8E72EC43CC97}"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55</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pPr algn="l"/>
            <a:r>
              <a:rPr lang="en-US" b="1" dirty="0" smtClean="0">
                <a:solidFill>
                  <a:srgbClr val="FF0000"/>
                </a:solidFill>
                <a:latin typeface="Tw Cen MT" pitchFamily="34" charset="0"/>
              </a:rPr>
              <a:t>Cont…</a:t>
            </a:r>
            <a:endParaRPr lang="en-US"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229600" cy="4525963"/>
          </a:xfrm>
        </p:spPr>
        <p:txBody>
          <a:bodyPr>
            <a:normAutofit lnSpcReduction="10000"/>
          </a:bodyPr>
          <a:lstStyle/>
          <a:p>
            <a:r>
              <a:rPr lang="en-US" dirty="0" smtClean="0">
                <a:latin typeface="Tw Cen MT" pitchFamily="34" charset="0"/>
              </a:rPr>
              <a:t>If a high adrenergic state is the precipitating factor, </a:t>
            </a:r>
          </a:p>
          <a:p>
            <a:pPr lvl="1"/>
            <a:r>
              <a:rPr lang="en-US" dirty="0" smtClean="0">
                <a:latin typeface="Tw Cen MT" pitchFamily="34" charset="0"/>
              </a:rPr>
              <a:t>IV  β-blockers can be highly effective and should be considered first. </a:t>
            </a:r>
          </a:p>
          <a:p>
            <a:endParaRPr lang="en-US" dirty="0" smtClean="0">
              <a:latin typeface="Tw Cen MT" pitchFamily="34" charset="0"/>
            </a:endParaRPr>
          </a:p>
          <a:p>
            <a:r>
              <a:rPr lang="en-US" dirty="0" smtClean="0">
                <a:latin typeface="Tw Cen MT" pitchFamily="34" charset="0"/>
              </a:rPr>
              <a:t>In patients with left ventricular ejection fraction ≤40%, </a:t>
            </a:r>
          </a:p>
          <a:p>
            <a:pPr lvl="1"/>
            <a:r>
              <a:rPr lang="en-US" dirty="0" smtClean="0">
                <a:latin typeface="Tw Cen MT" pitchFamily="34" charset="0"/>
              </a:rPr>
              <a:t>IV diltiazem and verapamil should be avoided and IV  β-blockers should be used with caution. </a:t>
            </a:r>
            <a:endParaRPr lang="en-US"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E2376121-C533-4F24-B2A7-FF9FFF5EC512}"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56</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pPr algn="l"/>
            <a:r>
              <a:rPr lang="en-US" b="1" dirty="0" smtClean="0">
                <a:solidFill>
                  <a:srgbClr val="FF0000"/>
                </a:solidFill>
                <a:latin typeface="Tw Cen MT" pitchFamily="34" charset="0"/>
              </a:rPr>
              <a:t>Cont…</a:t>
            </a:r>
            <a:endParaRPr lang="en-US"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229600" cy="4876800"/>
          </a:xfrm>
        </p:spPr>
        <p:txBody>
          <a:bodyPr>
            <a:normAutofit fontScale="85000" lnSpcReduction="10000"/>
          </a:bodyPr>
          <a:lstStyle/>
          <a:p>
            <a:r>
              <a:rPr lang="en-US" dirty="0" smtClean="0">
                <a:latin typeface="Tw Cen MT" pitchFamily="34" charset="0"/>
              </a:rPr>
              <a:t>In patients having an exacerbation of HF symptoms, </a:t>
            </a:r>
          </a:p>
          <a:p>
            <a:pPr lvl="1"/>
            <a:r>
              <a:rPr lang="en-US" dirty="0" smtClean="0">
                <a:latin typeface="Tw Cen MT" pitchFamily="34" charset="0"/>
              </a:rPr>
              <a:t>IV digoxin or  amiodarone  should be used as first-line therapy for ventricular rate control. </a:t>
            </a:r>
          </a:p>
          <a:p>
            <a:pPr lvl="1"/>
            <a:endParaRPr lang="en-US" dirty="0" smtClean="0">
              <a:latin typeface="Tw Cen MT" pitchFamily="34" charset="0"/>
            </a:endParaRPr>
          </a:p>
          <a:p>
            <a:pPr lvl="1"/>
            <a:r>
              <a:rPr lang="en-US" dirty="0" smtClean="0">
                <a:latin typeface="Tw Cen MT" pitchFamily="34" charset="0"/>
              </a:rPr>
              <a:t>IV amiodarone can also be used in patients who are refractory or have contraindications to  BBs, nondihydropyridine CCBs and digoxin.</a:t>
            </a:r>
          </a:p>
          <a:p>
            <a:endParaRPr lang="en-US" dirty="0" smtClean="0">
              <a:latin typeface="Tw Cen MT" pitchFamily="34" charset="0"/>
            </a:endParaRPr>
          </a:p>
          <a:p>
            <a:r>
              <a:rPr lang="en-US" dirty="0" smtClean="0">
                <a:latin typeface="Tw Cen MT" pitchFamily="34" charset="0"/>
              </a:rPr>
              <a:t>After treatment with AV nodal blocking agents and a subsequent decrease in ventricular response, </a:t>
            </a:r>
          </a:p>
          <a:p>
            <a:pPr lvl="1"/>
            <a:r>
              <a:rPr lang="en-US" dirty="0" smtClean="0">
                <a:latin typeface="Tw Cen MT" pitchFamily="34" charset="0"/>
              </a:rPr>
              <a:t>the patient should be evaluated for the possibility of restoring sinus rhythm if AF persists.</a:t>
            </a:r>
          </a:p>
          <a:p>
            <a:endParaRPr lang="en-US" dirty="0" smtClean="0">
              <a:latin typeface="Tw Cen MT" pitchFamily="34" charset="0"/>
            </a:endParaRPr>
          </a:p>
          <a:p>
            <a:pPr lvl="1"/>
            <a:endParaRPr lang="en-US" dirty="0" smtClean="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F1B876C9-4E0F-4B11-B68B-F3DDE7722DA1}"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57</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pPr algn="l"/>
            <a:r>
              <a:rPr lang="en-US" b="1" dirty="0" smtClean="0">
                <a:solidFill>
                  <a:srgbClr val="FF0000"/>
                </a:solidFill>
                <a:latin typeface="Tw Cen MT" pitchFamily="34" charset="0"/>
              </a:rPr>
              <a:t>Cont…</a:t>
            </a:r>
            <a:endParaRPr lang="en-US"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229600" cy="4525963"/>
          </a:xfrm>
        </p:spPr>
        <p:txBody>
          <a:bodyPr>
            <a:normAutofit/>
          </a:bodyPr>
          <a:lstStyle/>
          <a:p>
            <a:r>
              <a:rPr lang="en-US" dirty="0" smtClean="0">
                <a:latin typeface="Tw Cen MT" pitchFamily="34" charset="0"/>
              </a:rPr>
              <a:t>If sinus rhythm is to be restored, </a:t>
            </a:r>
          </a:p>
          <a:p>
            <a:pPr lvl="1"/>
            <a:r>
              <a:rPr lang="en-US" dirty="0" smtClean="0">
                <a:latin typeface="Tw Cen MT" pitchFamily="34" charset="0"/>
              </a:rPr>
              <a:t>anticoagulation should be </a:t>
            </a:r>
            <a:r>
              <a:rPr lang="en-US" b="1" dirty="0" smtClean="0">
                <a:latin typeface="Tw Cen MT" pitchFamily="34" charset="0"/>
              </a:rPr>
              <a:t>initiated prior to cardioversion</a:t>
            </a:r>
            <a:r>
              <a:rPr lang="en-US" dirty="0" smtClean="0">
                <a:latin typeface="Tw Cen MT" pitchFamily="34" charset="0"/>
              </a:rPr>
              <a:t> because return of atrial contraction increases risk of thromboembolism. </a:t>
            </a:r>
          </a:p>
          <a:p>
            <a:pPr lvl="1"/>
            <a:r>
              <a:rPr lang="en-US" dirty="0" smtClean="0">
                <a:latin typeface="Tw Cen MT" pitchFamily="34" charset="0"/>
              </a:rPr>
              <a:t>Patients with AF for longer than 48 hours or an unknown duration should receive warfarin </a:t>
            </a:r>
          </a:p>
          <a:p>
            <a:pPr lvl="2"/>
            <a:r>
              <a:rPr lang="en-US" dirty="0" smtClean="0">
                <a:latin typeface="Tw Cen MT" pitchFamily="34" charset="0"/>
              </a:rPr>
              <a:t>target INR 2 to 3</a:t>
            </a:r>
          </a:p>
          <a:p>
            <a:pPr lvl="2"/>
            <a:r>
              <a:rPr lang="en-US" dirty="0" smtClean="0">
                <a:latin typeface="Tw Cen MT" pitchFamily="34" charset="0"/>
              </a:rPr>
              <a:t> for at least 3 weeks prior to cardioversion and continuing for at least 4 weeks after effective cardioversion and return of normal sinus rhythm.</a:t>
            </a:r>
            <a:endParaRPr lang="en-US"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0B88DAB7-D7A4-401D-BB0B-E56DCF30A9C8}"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58</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pPr algn="l"/>
            <a:r>
              <a:rPr lang="en-US" b="1" dirty="0" smtClean="0">
                <a:solidFill>
                  <a:srgbClr val="FF0000"/>
                </a:solidFill>
                <a:latin typeface="Tw Cen MT" pitchFamily="34" charset="0"/>
              </a:rPr>
              <a:t>Cont…</a:t>
            </a:r>
            <a:endParaRPr lang="en-US"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229600" cy="4525963"/>
          </a:xfrm>
        </p:spPr>
        <p:txBody>
          <a:bodyPr>
            <a:normAutofit fontScale="92500" lnSpcReduction="20000"/>
          </a:bodyPr>
          <a:lstStyle/>
          <a:p>
            <a:pPr lvl="1"/>
            <a:r>
              <a:rPr lang="en-US" dirty="0" smtClean="0">
                <a:latin typeface="Tw Cen MT" pitchFamily="34" charset="0"/>
              </a:rPr>
              <a:t>Patients with AF less than 48 hours in duration do not require warfarin, </a:t>
            </a:r>
          </a:p>
          <a:p>
            <a:pPr lvl="2"/>
            <a:r>
              <a:rPr lang="en-US" dirty="0" smtClean="0">
                <a:latin typeface="Tw Cen MT" pitchFamily="34" charset="0"/>
              </a:rPr>
              <a:t>but it is recommended that these patients receive either IV UH or a LMWH (subcutaneously at treatment doses) at presentation prior to cardioversion.</a:t>
            </a:r>
          </a:p>
          <a:p>
            <a:endParaRPr lang="en-US" dirty="0" smtClean="0">
              <a:latin typeface="Tw Cen MT" pitchFamily="34" charset="0"/>
            </a:endParaRPr>
          </a:p>
          <a:p>
            <a:r>
              <a:rPr lang="en-US" dirty="0" smtClean="0">
                <a:latin typeface="Tw Cen MT" pitchFamily="34" charset="0"/>
              </a:rPr>
              <a:t>After prior anticoagulation (or after TEE demonstrated the absence of a thrombus, thereby obviating the need for warfarin) </a:t>
            </a:r>
          </a:p>
          <a:p>
            <a:pPr lvl="1"/>
            <a:r>
              <a:rPr lang="en-US" dirty="0" smtClean="0">
                <a:latin typeface="Tw Cen MT" pitchFamily="34" charset="0"/>
              </a:rPr>
              <a:t>methods for restoring sinus rhythm in patients with AF or atrial flutter are </a:t>
            </a:r>
            <a:r>
              <a:rPr lang="en-US" b="1" dirty="0" smtClean="0">
                <a:latin typeface="Tw Cen MT" pitchFamily="34" charset="0"/>
              </a:rPr>
              <a:t>pharmacologic cardioversion and DCC</a:t>
            </a:r>
            <a:endParaRPr lang="en-US" b="1"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E549943C-76F7-4EDF-8AAE-CF8C3FC0D18C}"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59</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pPr algn="l"/>
            <a:r>
              <a:rPr lang="en-US" b="1" dirty="0" smtClean="0">
                <a:solidFill>
                  <a:srgbClr val="FF0000"/>
                </a:solidFill>
                <a:latin typeface="Tw Cen MT" pitchFamily="34" charset="0"/>
              </a:rPr>
              <a:t>Cont…</a:t>
            </a:r>
            <a:endParaRPr lang="en-US"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229600" cy="4800600"/>
          </a:xfrm>
        </p:spPr>
        <p:txBody>
          <a:bodyPr>
            <a:normAutofit fontScale="77500" lnSpcReduction="20000"/>
          </a:bodyPr>
          <a:lstStyle/>
          <a:p>
            <a:r>
              <a:rPr lang="en-US" dirty="0" smtClean="0">
                <a:latin typeface="Tw Cen MT" pitchFamily="34" charset="0"/>
              </a:rPr>
              <a:t>DCC  is quick and more often successful, but it requires prior sedation or anesthesia and has a </a:t>
            </a:r>
            <a:r>
              <a:rPr lang="en-US" b="1" dirty="0" smtClean="0">
                <a:latin typeface="Tw Cen MT" pitchFamily="34" charset="0"/>
              </a:rPr>
              <a:t>small risk </a:t>
            </a:r>
            <a:r>
              <a:rPr lang="en-US" dirty="0" smtClean="0">
                <a:latin typeface="Tw Cen MT" pitchFamily="34" charset="0"/>
              </a:rPr>
              <a:t>of serious complications such as sinus arrest or ventricular arrhythmias.</a:t>
            </a:r>
          </a:p>
          <a:p>
            <a:endParaRPr lang="en-US" dirty="0" smtClean="0">
              <a:latin typeface="Tw Cen MT" pitchFamily="34" charset="0"/>
            </a:endParaRPr>
          </a:p>
          <a:p>
            <a:r>
              <a:rPr lang="en-US" dirty="0" smtClean="0">
                <a:latin typeface="Tw Cen MT" pitchFamily="34" charset="0"/>
              </a:rPr>
              <a:t>Relatively strong evidence for efficacy of  pharmacological cardioversion</a:t>
            </a:r>
          </a:p>
          <a:p>
            <a:pPr lvl="1"/>
            <a:r>
              <a:rPr lang="en-US" dirty="0" smtClean="0">
                <a:latin typeface="Tw Cen MT" pitchFamily="34" charset="0"/>
              </a:rPr>
              <a:t>type III pure k blockers ( ibutilide,   dofetilide ), </a:t>
            </a:r>
          </a:p>
          <a:p>
            <a:pPr lvl="1"/>
            <a:r>
              <a:rPr lang="en-US" dirty="0" smtClean="0">
                <a:latin typeface="Tw Cen MT" pitchFamily="34" charset="0"/>
              </a:rPr>
              <a:t>type Ic drugs (e.g., flecainide, propafenone), and</a:t>
            </a:r>
          </a:p>
          <a:p>
            <a:pPr lvl="1"/>
            <a:r>
              <a:rPr lang="en-US" dirty="0" smtClean="0">
                <a:latin typeface="Tw Cen MT" pitchFamily="34" charset="0"/>
              </a:rPr>
              <a:t>amiodarone (oral or IV). </a:t>
            </a:r>
          </a:p>
          <a:p>
            <a:pPr lvl="1"/>
            <a:endParaRPr lang="en-US" dirty="0" smtClean="0">
              <a:latin typeface="Tw Cen MT" pitchFamily="34" charset="0"/>
            </a:endParaRPr>
          </a:p>
          <a:p>
            <a:r>
              <a:rPr lang="en-US" dirty="0" smtClean="0">
                <a:latin typeface="Tw Cen MT" pitchFamily="34" charset="0"/>
              </a:rPr>
              <a:t>Disadvantages  of drug therapy are </a:t>
            </a:r>
          </a:p>
          <a:p>
            <a:pPr lvl="1"/>
            <a:r>
              <a:rPr lang="en-US" dirty="0" smtClean="0">
                <a:latin typeface="Tw Cen MT" pitchFamily="34" charset="0"/>
              </a:rPr>
              <a:t>significant side effects such as drug-induced TdP, </a:t>
            </a:r>
          </a:p>
          <a:p>
            <a:pPr lvl="1"/>
            <a:r>
              <a:rPr lang="en-US" dirty="0" smtClean="0">
                <a:latin typeface="Tw Cen MT" pitchFamily="34" charset="0"/>
              </a:rPr>
              <a:t>drug–drug interactions, and </a:t>
            </a:r>
          </a:p>
          <a:p>
            <a:pPr lvl="1"/>
            <a:r>
              <a:rPr lang="en-US" dirty="0" smtClean="0">
                <a:latin typeface="Tw Cen MT" pitchFamily="34" charset="0"/>
              </a:rPr>
              <a:t>lower cardioversion rate for drugs compared with DCC</a:t>
            </a:r>
            <a:endParaRPr lang="en-US"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4339FA64-FD9C-469B-8905-8B9CB14A9E7B}"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60</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pPr algn="l"/>
            <a:r>
              <a:rPr lang="en-US" b="1" dirty="0" smtClean="0">
                <a:solidFill>
                  <a:srgbClr val="FF0000"/>
                </a:solidFill>
                <a:latin typeface="Tw Cen MT" pitchFamily="34" charset="0"/>
              </a:rPr>
              <a:t>Cont…</a:t>
            </a:r>
            <a:endParaRPr lang="en-US"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229600" cy="4525963"/>
          </a:xfrm>
        </p:spPr>
        <p:txBody>
          <a:bodyPr>
            <a:normAutofit fontScale="92500" lnSpcReduction="20000"/>
          </a:bodyPr>
          <a:lstStyle/>
          <a:p>
            <a:r>
              <a:rPr lang="en-US" dirty="0" smtClean="0">
                <a:latin typeface="Tw Cen MT" pitchFamily="34" charset="0"/>
              </a:rPr>
              <a:t>The ACCP  recommends chronic  warfarin treatment (target INR 2.5; range 2 to 3) for all patients with AF who are at </a:t>
            </a:r>
            <a:r>
              <a:rPr lang="en-US" b="1" dirty="0" smtClean="0">
                <a:latin typeface="Tw Cen MT" pitchFamily="34" charset="0"/>
              </a:rPr>
              <a:t>high risk for stroke </a:t>
            </a:r>
          </a:p>
          <a:p>
            <a:pPr lvl="1"/>
            <a:r>
              <a:rPr lang="en-US" dirty="0" smtClean="0">
                <a:latin typeface="Tw Cen MT" pitchFamily="34" charset="0"/>
              </a:rPr>
              <a:t>rheumatic mitral valve disease</a:t>
            </a:r>
          </a:p>
          <a:p>
            <a:pPr lvl="1"/>
            <a:r>
              <a:rPr lang="en-US" dirty="0" smtClean="0">
                <a:latin typeface="Tw Cen MT" pitchFamily="34" charset="0"/>
              </a:rPr>
              <a:t>previous ischemic stroke, transient ischemic attack, or other systemic embolic event</a:t>
            </a:r>
          </a:p>
          <a:p>
            <a:pPr lvl="1"/>
            <a:r>
              <a:rPr lang="en-US" dirty="0" smtClean="0">
                <a:latin typeface="Tw Cen MT" pitchFamily="34" charset="0"/>
              </a:rPr>
              <a:t>age &gt;75 years</a:t>
            </a:r>
          </a:p>
          <a:p>
            <a:pPr lvl="1"/>
            <a:r>
              <a:rPr lang="en-US" dirty="0" smtClean="0">
                <a:latin typeface="Tw Cen MT" pitchFamily="34" charset="0"/>
              </a:rPr>
              <a:t>moderate or severe LV systolic dysfunction and/or congestive HF</a:t>
            </a:r>
          </a:p>
          <a:p>
            <a:pPr lvl="1"/>
            <a:r>
              <a:rPr lang="en-US" dirty="0" smtClean="0">
                <a:latin typeface="Tw Cen MT" pitchFamily="34" charset="0"/>
              </a:rPr>
              <a:t>hypertension or </a:t>
            </a:r>
          </a:p>
          <a:p>
            <a:pPr lvl="1"/>
            <a:r>
              <a:rPr lang="en-US" dirty="0" smtClean="0">
                <a:latin typeface="Tw Cen MT" pitchFamily="34" charset="0"/>
              </a:rPr>
              <a:t>prosthetic heart valve</a:t>
            </a:r>
          </a:p>
          <a:p>
            <a:endParaRPr lang="en-US"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17CF7D84-6679-41AD-A057-9C72AC8EDC50}"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61</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pPr algn="l"/>
            <a:r>
              <a:rPr lang="en-US" b="1" dirty="0" smtClean="0">
                <a:solidFill>
                  <a:srgbClr val="FF0000"/>
                </a:solidFill>
                <a:latin typeface="Tw Cen MT" pitchFamily="34" charset="0"/>
              </a:rPr>
              <a:t>Cont…</a:t>
            </a:r>
            <a:endParaRPr lang="en-US"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229600" cy="4876800"/>
          </a:xfrm>
        </p:spPr>
        <p:txBody>
          <a:bodyPr>
            <a:normAutofit fontScale="85000" lnSpcReduction="20000"/>
          </a:bodyPr>
          <a:lstStyle/>
          <a:p>
            <a:r>
              <a:rPr lang="en-US" dirty="0" smtClean="0">
                <a:latin typeface="Tw Cen MT" pitchFamily="34" charset="0"/>
              </a:rPr>
              <a:t>Those at </a:t>
            </a:r>
            <a:r>
              <a:rPr lang="en-US" b="1" dirty="0" smtClean="0">
                <a:latin typeface="Tw Cen MT" pitchFamily="34" charset="0"/>
              </a:rPr>
              <a:t>intermediate risk </a:t>
            </a:r>
            <a:r>
              <a:rPr lang="en-US" dirty="0" smtClean="0">
                <a:latin typeface="Tw Cen MT" pitchFamily="34" charset="0"/>
              </a:rPr>
              <a:t>(age 65 to 75 years with none of the high-risk factors) </a:t>
            </a:r>
          </a:p>
          <a:p>
            <a:pPr lvl="1"/>
            <a:r>
              <a:rPr lang="en-US" dirty="0" smtClean="0">
                <a:latin typeface="Tw Cen MT" pitchFamily="34" charset="0"/>
              </a:rPr>
              <a:t>should receive either warfarin (target INR 2.5; range 2 to 3) or aspirin  325 mg/day. </a:t>
            </a:r>
          </a:p>
          <a:p>
            <a:endParaRPr lang="en-US" dirty="0" smtClean="0">
              <a:latin typeface="Tw Cen MT" pitchFamily="34" charset="0"/>
            </a:endParaRPr>
          </a:p>
          <a:p>
            <a:r>
              <a:rPr lang="en-US" dirty="0" smtClean="0">
                <a:latin typeface="Tw Cen MT" pitchFamily="34" charset="0"/>
              </a:rPr>
              <a:t>Those at </a:t>
            </a:r>
            <a:r>
              <a:rPr lang="en-US" b="1" dirty="0" smtClean="0">
                <a:latin typeface="Tw Cen MT" pitchFamily="34" charset="0"/>
              </a:rPr>
              <a:t>low risk </a:t>
            </a:r>
            <a:r>
              <a:rPr lang="en-US" dirty="0" smtClean="0">
                <a:latin typeface="Tw Cen MT" pitchFamily="34" charset="0"/>
              </a:rPr>
              <a:t>(age &lt;65 years with none of the high-risk factors) </a:t>
            </a:r>
          </a:p>
          <a:p>
            <a:pPr lvl="1"/>
            <a:r>
              <a:rPr lang="en-US" dirty="0" smtClean="0">
                <a:latin typeface="Tw Cen MT" pitchFamily="34" charset="0"/>
              </a:rPr>
              <a:t>should receive aspirin 325 mg/day. </a:t>
            </a:r>
          </a:p>
          <a:p>
            <a:endParaRPr lang="en-US" dirty="0" smtClean="0">
              <a:latin typeface="Tw Cen MT" pitchFamily="34" charset="0"/>
            </a:endParaRPr>
          </a:p>
          <a:p>
            <a:r>
              <a:rPr lang="en-US" b="1" dirty="0" smtClean="0">
                <a:latin typeface="Tw Cen MT" pitchFamily="34" charset="0"/>
              </a:rPr>
              <a:t>Chronic antithrombotic therapy </a:t>
            </a:r>
            <a:r>
              <a:rPr lang="en-US" dirty="0" smtClean="0">
                <a:latin typeface="Tw Cen MT" pitchFamily="34" charset="0"/>
              </a:rPr>
              <a:t>should be considered for </a:t>
            </a:r>
          </a:p>
          <a:p>
            <a:pPr lvl="1"/>
            <a:r>
              <a:rPr lang="en-US" dirty="0" smtClean="0">
                <a:latin typeface="Tw Cen MT" pitchFamily="34" charset="0"/>
              </a:rPr>
              <a:t>all patients with AF and risk factors for stroke regardless of whether or not they remain in sinus rhythm</a:t>
            </a:r>
            <a:endParaRPr lang="en-US"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17CF7D84-6679-41AD-A057-9C72AC8EDC50}"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62</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pPr algn="l"/>
            <a:r>
              <a:rPr lang="en-US" b="1" dirty="0" smtClean="0">
                <a:solidFill>
                  <a:srgbClr val="FF0000"/>
                </a:solidFill>
                <a:latin typeface="Tw Cen MT" pitchFamily="34" charset="0"/>
              </a:rPr>
              <a:t>Cont…</a:t>
            </a:r>
            <a:endParaRPr lang="en-US"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229600" cy="4525963"/>
          </a:xfrm>
        </p:spPr>
        <p:txBody>
          <a:bodyPr>
            <a:normAutofit/>
          </a:bodyPr>
          <a:lstStyle/>
          <a:p>
            <a:r>
              <a:rPr lang="en-US" dirty="0" smtClean="0">
                <a:latin typeface="Tw Cen MT" pitchFamily="34" charset="0"/>
              </a:rPr>
              <a:t>AF often </a:t>
            </a:r>
            <a:r>
              <a:rPr lang="en-US" b="1" dirty="0" smtClean="0">
                <a:latin typeface="Tw Cen MT" pitchFamily="34" charset="0"/>
              </a:rPr>
              <a:t>recurs after initial cardioversion </a:t>
            </a:r>
            <a:r>
              <a:rPr lang="en-US" dirty="0" smtClean="0">
                <a:latin typeface="Tw Cen MT" pitchFamily="34" charset="0"/>
              </a:rPr>
              <a:t>because most patients have irreversible underlying heart or lung disease. </a:t>
            </a:r>
          </a:p>
          <a:p>
            <a:endParaRPr lang="en-US" dirty="0" smtClean="0">
              <a:latin typeface="Tw Cen MT" pitchFamily="34" charset="0"/>
            </a:endParaRPr>
          </a:p>
          <a:p>
            <a:r>
              <a:rPr lang="en-US" dirty="0" smtClean="0">
                <a:latin typeface="Tw Cen MT" pitchFamily="34" charset="0"/>
              </a:rPr>
              <a:t>Consequently, chronic anti-arrhythmic drugs should be reserved </a:t>
            </a:r>
          </a:p>
          <a:p>
            <a:pPr lvl="1"/>
            <a:r>
              <a:rPr lang="en-US" dirty="0" smtClean="0">
                <a:latin typeface="Tw Cen MT" pitchFamily="34" charset="0"/>
              </a:rPr>
              <a:t>for patients with recurrent AF associated with intolerable symptoms during episodes of AF</a:t>
            </a:r>
          </a:p>
          <a:p>
            <a:endParaRPr lang="en-US" dirty="0" smtClean="0">
              <a:latin typeface="Tw Cen MT" pitchFamily="34" charset="0"/>
            </a:endParaRPr>
          </a:p>
          <a:p>
            <a:endParaRPr lang="en-US" dirty="0" smtClean="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17CF7D84-6679-41AD-A057-9C72AC8EDC50}"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63</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7CF7D84-6679-41AD-A057-9C72AC8EDC50}"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64</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pic>
        <p:nvPicPr>
          <p:cNvPr id="5122" name="Picture 2"/>
          <p:cNvPicPr>
            <a:picLocks noChangeAspect="1" noChangeArrowheads="1"/>
          </p:cNvPicPr>
          <p:nvPr/>
        </p:nvPicPr>
        <p:blipFill>
          <a:blip r:embed="rId2" cstate="print"/>
          <a:srcRect/>
          <a:stretch>
            <a:fillRect/>
          </a:stretch>
        </p:blipFill>
        <p:spPr bwMode="auto">
          <a:xfrm>
            <a:off x="1143000" y="0"/>
            <a:ext cx="7248525" cy="6858000"/>
          </a:xfrm>
          <a:prstGeom prst="rect">
            <a:avLst/>
          </a:prstGeom>
          <a:noFill/>
          <a:ln w="9525">
            <a:noFill/>
            <a:miter lim="800000"/>
            <a:headEnd/>
            <a:tailEnd/>
          </a:ln>
        </p:spPr>
      </p:pic>
      <p:sp>
        <p:nvSpPr>
          <p:cNvPr id="10" name="Rectangle 9"/>
          <p:cNvSpPr/>
          <p:nvPr/>
        </p:nvSpPr>
        <p:spPr>
          <a:xfrm>
            <a:off x="381000" y="2971800"/>
            <a:ext cx="3200400" cy="923330"/>
          </a:xfrm>
          <a:prstGeom prst="rect">
            <a:avLst/>
          </a:prstGeom>
        </p:spPr>
        <p:txBody>
          <a:bodyPr wrap="square">
            <a:spAutoFit/>
          </a:bodyPr>
          <a:lstStyle/>
          <a:p>
            <a:r>
              <a:rPr lang="en-US" b="1" dirty="0" smtClean="0">
                <a:latin typeface="Tw Cen MT" pitchFamily="34" charset="0"/>
              </a:rPr>
              <a:t>Fig: Algorithm for the treatment of atrial fibrillation (AF) and atrial flutter.</a:t>
            </a:r>
            <a:endParaRPr lang="en-US" b="1" dirty="0">
              <a:latin typeface="Tw Cen MT" pitchFamily="34" charset="0"/>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rmAutofit fontScale="90000"/>
          </a:bodyPr>
          <a:lstStyle/>
          <a:p>
            <a:pPr algn="l"/>
            <a:r>
              <a:rPr lang="en-US" b="1" dirty="0">
                <a:solidFill>
                  <a:srgbClr val="FF0000"/>
                </a:solidFill>
                <a:latin typeface="Tw Cen MT" pitchFamily="34" charset="0"/>
              </a:rPr>
              <a:t/>
            </a:r>
            <a:br>
              <a:rPr lang="en-US" b="1" dirty="0">
                <a:solidFill>
                  <a:srgbClr val="FF0000"/>
                </a:solidFill>
                <a:latin typeface="Tw Cen MT" pitchFamily="34" charset="0"/>
              </a:rPr>
            </a:br>
            <a:r>
              <a:rPr lang="en-US" sz="4000" b="1" dirty="0" smtClean="0">
                <a:solidFill>
                  <a:srgbClr val="6600FF"/>
                </a:solidFill>
                <a:latin typeface="Tw Cen MT" pitchFamily="34" charset="0"/>
              </a:rPr>
              <a:t>Paroxysmal Supraventricular Tachycardia</a:t>
            </a:r>
            <a:r>
              <a:rPr lang="en-US" b="1" dirty="0" smtClean="0">
                <a:solidFill>
                  <a:srgbClr val="6600FF"/>
                </a:solidFill>
                <a:latin typeface="Tw Cen MT" pitchFamily="34" charset="0"/>
              </a:rPr>
              <a:t/>
            </a:r>
            <a:br>
              <a:rPr lang="en-US" b="1" dirty="0" smtClean="0">
                <a:solidFill>
                  <a:srgbClr val="6600FF"/>
                </a:solidFill>
                <a:latin typeface="Tw Cen MT" pitchFamily="34" charset="0"/>
              </a:rPr>
            </a:br>
            <a:endParaRPr lang="en-US"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229600" cy="4525963"/>
          </a:xfrm>
        </p:spPr>
        <p:txBody>
          <a:bodyPr>
            <a:normAutofit fontScale="85000" lnSpcReduction="10000"/>
          </a:bodyPr>
          <a:lstStyle/>
          <a:p>
            <a:r>
              <a:rPr lang="en-US" dirty="0" smtClean="0">
                <a:latin typeface="Tw Cen MT" pitchFamily="34" charset="0"/>
              </a:rPr>
              <a:t>The choice between pharmacologic and non-pharmacologic methods for treating PSVT depends on symptom severity. </a:t>
            </a:r>
          </a:p>
          <a:p>
            <a:r>
              <a:rPr lang="en-US" b="1" dirty="0" smtClean="0">
                <a:latin typeface="Tw Cen MT" pitchFamily="34" charset="0"/>
              </a:rPr>
              <a:t>Synchronized DCC </a:t>
            </a:r>
            <a:r>
              <a:rPr lang="en-US" dirty="0" smtClean="0">
                <a:latin typeface="Tw Cen MT" pitchFamily="34" charset="0"/>
              </a:rPr>
              <a:t>is the treatment of choice if symptoms are </a:t>
            </a:r>
            <a:r>
              <a:rPr lang="en-US" b="1" dirty="0" smtClean="0">
                <a:latin typeface="Tw Cen MT" pitchFamily="34" charset="0"/>
              </a:rPr>
              <a:t>severe</a:t>
            </a:r>
            <a:r>
              <a:rPr lang="en-US" dirty="0" smtClean="0">
                <a:latin typeface="Tw Cen MT" pitchFamily="34" charset="0"/>
              </a:rPr>
              <a:t> </a:t>
            </a:r>
          </a:p>
          <a:p>
            <a:pPr lvl="1"/>
            <a:r>
              <a:rPr lang="en-US" dirty="0" smtClean="0">
                <a:latin typeface="Tw Cen MT" pitchFamily="34" charset="0"/>
              </a:rPr>
              <a:t>e.g., syncope, near syncope, anginal chest pain, severe HF </a:t>
            </a:r>
          </a:p>
          <a:p>
            <a:r>
              <a:rPr lang="en-US" b="1" dirty="0" smtClean="0">
                <a:latin typeface="Tw Cen MT" pitchFamily="34" charset="0"/>
              </a:rPr>
              <a:t>Nondrug measures </a:t>
            </a:r>
            <a:r>
              <a:rPr lang="en-US" dirty="0" smtClean="0">
                <a:latin typeface="Tw Cen MT" pitchFamily="34" charset="0"/>
              </a:rPr>
              <a:t>that increase vagal tone to the AV node (e.g., unilateral carotid sinus massage, Valsalva</a:t>
            </a:r>
            <a:r>
              <a:rPr lang="en-US" dirty="0">
                <a:latin typeface="Tw Cen MT" pitchFamily="34" charset="0"/>
              </a:rPr>
              <a:t> </a:t>
            </a:r>
            <a:r>
              <a:rPr lang="en-US" dirty="0" smtClean="0">
                <a:latin typeface="Tw Cen MT" pitchFamily="34" charset="0"/>
              </a:rPr>
              <a:t>maneuver) can be used for </a:t>
            </a:r>
            <a:r>
              <a:rPr lang="en-US" b="1" dirty="0" smtClean="0">
                <a:latin typeface="Tw Cen MT" pitchFamily="34" charset="0"/>
              </a:rPr>
              <a:t>mild to moderate symptoms</a:t>
            </a:r>
            <a:r>
              <a:rPr lang="en-US" dirty="0" smtClean="0">
                <a:latin typeface="Tw Cen MT" pitchFamily="34" charset="0"/>
              </a:rPr>
              <a:t>. </a:t>
            </a:r>
          </a:p>
          <a:p>
            <a:r>
              <a:rPr lang="en-US" dirty="0" smtClean="0">
                <a:latin typeface="Tw Cen MT" pitchFamily="34" charset="0"/>
              </a:rPr>
              <a:t>If these methods fail, drug therapy is the next option.</a:t>
            </a:r>
            <a:endParaRPr lang="en-US"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17CF7D84-6679-41AD-A057-9C72AC8EDC50}"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65</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pPr algn="l"/>
            <a:r>
              <a:rPr lang="en-US" b="1" dirty="0" smtClean="0">
                <a:solidFill>
                  <a:srgbClr val="FF0000"/>
                </a:solidFill>
                <a:latin typeface="Tw Cen MT" pitchFamily="34" charset="0"/>
              </a:rPr>
              <a:t>Cont…</a:t>
            </a:r>
            <a:endParaRPr lang="en-US"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229600" cy="4525963"/>
          </a:xfrm>
        </p:spPr>
        <p:txBody>
          <a:bodyPr>
            <a:normAutofit fontScale="92500"/>
          </a:bodyPr>
          <a:lstStyle/>
          <a:p>
            <a:r>
              <a:rPr lang="en-US" dirty="0" smtClean="0">
                <a:latin typeface="Tw Cen MT" pitchFamily="34" charset="0"/>
              </a:rPr>
              <a:t>Drugs can be divided into three broad categories:  </a:t>
            </a:r>
          </a:p>
          <a:p>
            <a:pPr lvl="1"/>
            <a:r>
              <a:rPr lang="en-US" dirty="0" smtClean="0">
                <a:latin typeface="Tw Cen MT" pitchFamily="34" charset="0"/>
              </a:rPr>
              <a:t>those that directly or indirectly increase vagal tone to the AV node </a:t>
            </a:r>
          </a:p>
          <a:p>
            <a:pPr lvl="2"/>
            <a:r>
              <a:rPr lang="en-US" dirty="0" smtClean="0">
                <a:latin typeface="Tw Cen MT" pitchFamily="34" charset="0"/>
              </a:rPr>
              <a:t>e.g.,  digoxin</a:t>
            </a:r>
          </a:p>
          <a:p>
            <a:pPr lvl="1"/>
            <a:r>
              <a:rPr lang="en-US" dirty="0" smtClean="0">
                <a:latin typeface="Tw Cen MT" pitchFamily="34" charset="0"/>
              </a:rPr>
              <a:t>those that depress conduction through slow, calcium-dependent tissue </a:t>
            </a:r>
          </a:p>
          <a:p>
            <a:pPr lvl="2"/>
            <a:r>
              <a:rPr lang="en-US" dirty="0" smtClean="0">
                <a:latin typeface="Tw Cen MT" pitchFamily="34" charset="0"/>
              </a:rPr>
              <a:t>e.g.,  adenosine, β-blockers, calcium channel blockers</a:t>
            </a:r>
          </a:p>
          <a:p>
            <a:pPr lvl="1"/>
            <a:r>
              <a:rPr lang="en-US" dirty="0" smtClean="0">
                <a:latin typeface="Tw Cen MT" pitchFamily="34" charset="0"/>
              </a:rPr>
              <a:t>those that depress conduction through fast, sodium-dependent tissue </a:t>
            </a:r>
          </a:p>
          <a:p>
            <a:pPr lvl="2"/>
            <a:r>
              <a:rPr lang="en-US" dirty="0" smtClean="0">
                <a:latin typeface="Tw Cen MT" pitchFamily="34" charset="0"/>
              </a:rPr>
              <a:t>e.g.,  quinidine, procainamide, disopyramide, flecainide </a:t>
            </a:r>
            <a:endParaRPr lang="en-US"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17CF7D84-6679-41AD-A057-9C72AC8EDC50}"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66</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pPr algn="l"/>
            <a:r>
              <a:rPr lang="en-US" b="1" dirty="0" smtClean="0">
                <a:solidFill>
                  <a:srgbClr val="FF0000"/>
                </a:solidFill>
                <a:latin typeface="Tw Cen MT" pitchFamily="34" charset="0"/>
              </a:rPr>
              <a:t>Cont…</a:t>
            </a:r>
            <a:endParaRPr lang="en-US"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229600" cy="4525963"/>
          </a:xfrm>
        </p:spPr>
        <p:txBody>
          <a:bodyPr>
            <a:normAutofit/>
          </a:bodyPr>
          <a:lstStyle/>
          <a:p>
            <a:r>
              <a:rPr lang="en-US" b="1" dirty="0" smtClean="0">
                <a:latin typeface="Tw Cen MT" pitchFamily="34" charset="0"/>
              </a:rPr>
              <a:t>Adenosine</a:t>
            </a:r>
            <a:r>
              <a:rPr lang="en-US" dirty="0" smtClean="0">
                <a:latin typeface="Tw Cen MT" pitchFamily="34" charset="0"/>
              </a:rPr>
              <a:t> has been recommended as the drug of first choice in patients with PSVT </a:t>
            </a:r>
          </a:p>
          <a:p>
            <a:pPr lvl="1"/>
            <a:r>
              <a:rPr lang="en-US" dirty="0" smtClean="0">
                <a:latin typeface="Tw Cen MT" pitchFamily="34" charset="0"/>
              </a:rPr>
              <a:t>because its short duration of action will not cause prolonged hemodynamic compromise in patients with wide QRS complexes</a:t>
            </a:r>
            <a:endParaRPr lang="en-US"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17CF7D84-6679-41AD-A057-9C72AC8EDC50}"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67</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pPr algn="l"/>
            <a:r>
              <a:rPr lang="en-US" b="1" dirty="0" smtClean="0">
                <a:solidFill>
                  <a:srgbClr val="FF0000"/>
                </a:solidFill>
                <a:latin typeface="Tw Cen MT" pitchFamily="34" charset="0"/>
              </a:rPr>
              <a:t>Cont…</a:t>
            </a:r>
            <a:endParaRPr lang="en-US"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229600" cy="4525963"/>
          </a:xfrm>
        </p:spPr>
        <p:txBody>
          <a:bodyPr>
            <a:normAutofit lnSpcReduction="10000"/>
          </a:bodyPr>
          <a:lstStyle/>
          <a:p>
            <a:r>
              <a:rPr lang="en-US" dirty="0" smtClean="0">
                <a:latin typeface="Tw Cen MT" pitchFamily="34" charset="0"/>
              </a:rPr>
              <a:t>After acute PSVT is terminated, long-term preventive treatment is indicated </a:t>
            </a:r>
          </a:p>
          <a:p>
            <a:pPr lvl="1"/>
            <a:r>
              <a:rPr lang="en-US" dirty="0" smtClean="0">
                <a:latin typeface="Tw Cen MT" pitchFamily="34" charset="0"/>
              </a:rPr>
              <a:t>if frequent episodes necessitate therapeutic intervention or </a:t>
            </a:r>
          </a:p>
          <a:p>
            <a:pPr lvl="1"/>
            <a:r>
              <a:rPr lang="en-US" dirty="0" smtClean="0">
                <a:latin typeface="Tw Cen MT" pitchFamily="34" charset="0"/>
              </a:rPr>
              <a:t>if episodes are infrequent but severely symptomatic. </a:t>
            </a:r>
          </a:p>
          <a:p>
            <a:endParaRPr lang="en-US" dirty="0" smtClean="0">
              <a:latin typeface="Tw Cen MT" pitchFamily="34" charset="0"/>
            </a:endParaRPr>
          </a:p>
          <a:p>
            <a:r>
              <a:rPr lang="en-US" dirty="0" smtClean="0">
                <a:latin typeface="Tw Cen MT" pitchFamily="34" charset="0"/>
              </a:rPr>
              <a:t>Serial testing of antiarrhythmic agents can be evaluated in the ambulatory setting</a:t>
            </a:r>
            <a:endParaRPr lang="en-US"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17CF7D84-6679-41AD-A057-9C72AC8EDC50}"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68</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rmAutofit fontScale="90000"/>
          </a:bodyPr>
          <a:lstStyle/>
          <a:p>
            <a:pPr algn="l"/>
            <a:r>
              <a:rPr lang="en-US" b="1" dirty="0">
                <a:solidFill>
                  <a:srgbClr val="FF0000"/>
                </a:solidFill>
                <a:latin typeface="Tw Cen MT" pitchFamily="34" charset="0"/>
              </a:rPr>
              <a:t/>
            </a:r>
            <a:br>
              <a:rPr lang="en-US" b="1" dirty="0">
                <a:solidFill>
                  <a:srgbClr val="FF0000"/>
                </a:solidFill>
                <a:latin typeface="Tw Cen MT" pitchFamily="34" charset="0"/>
              </a:rPr>
            </a:br>
            <a:r>
              <a:rPr lang="en-US" sz="4000" b="1" dirty="0" smtClean="0">
                <a:solidFill>
                  <a:srgbClr val="6600FF"/>
                </a:solidFill>
                <a:latin typeface="Tw Cen MT" pitchFamily="34" charset="0"/>
              </a:rPr>
              <a:t>Automatic Atrial Tachycardias</a:t>
            </a:r>
            <a:r>
              <a:rPr lang="en-US" b="1" dirty="0" smtClean="0">
                <a:solidFill>
                  <a:srgbClr val="6600FF"/>
                </a:solidFill>
                <a:latin typeface="Tw Cen MT" pitchFamily="34" charset="0"/>
              </a:rPr>
              <a:t/>
            </a:r>
            <a:br>
              <a:rPr lang="en-US" b="1" dirty="0" smtClean="0">
                <a:solidFill>
                  <a:srgbClr val="6600FF"/>
                </a:solidFill>
                <a:latin typeface="Tw Cen MT" pitchFamily="34" charset="0"/>
              </a:rPr>
            </a:br>
            <a:endParaRPr lang="en-US"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229600" cy="4525963"/>
          </a:xfrm>
        </p:spPr>
        <p:txBody>
          <a:bodyPr>
            <a:normAutofit fontScale="85000" lnSpcReduction="10000"/>
          </a:bodyPr>
          <a:lstStyle/>
          <a:p>
            <a:r>
              <a:rPr lang="en-US" dirty="0" smtClean="0">
                <a:latin typeface="Tw Cen MT" pitchFamily="34" charset="0"/>
              </a:rPr>
              <a:t>Underlying precipitating factors should be corrected by </a:t>
            </a:r>
          </a:p>
          <a:p>
            <a:pPr lvl="1"/>
            <a:r>
              <a:rPr lang="en-US" dirty="0" smtClean="0">
                <a:latin typeface="Tw Cen MT" pitchFamily="34" charset="0"/>
              </a:rPr>
              <a:t>ensuring proper oxygenation and ventilation and </a:t>
            </a:r>
          </a:p>
          <a:p>
            <a:pPr lvl="1"/>
            <a:r>
              <a:rPr lang="en-US" dirty="0" smtClean="0">
                <a:latin typeface="Tw Cen MT" pitchFamily="34" charset="0"/>
              </a:rPr>
              <a:t>correcting acid–base or electrolyte disturbances.</a:t>
            </a:r>
          </a:p>
          <a:p>
            <a:endParaRPr lang="en-US" dirty="0" smtClean="0">
              <a:latin typeface="Tw Cen MT" pitchFamily="34" charset="0"/>
            </a:endParaRPr>
          </a:p>
          <a:p>
            <a:r>
              <a:rPr lang="en-US" dirty="0" smtClean="0">
                <a:latin typeface="Tw Cen MT" pitchFamily="34" charset="0"/>
              </a:rPr>
              <a:t>If tachycardia persists, the need for additional treatment is determined by symptoms. </a:t>
            </a:r>
          </a:p>
          <a:p>
            <a:endParaRPr lang="en-US" dirty="0" smtClean="0">
              <a:latin typeface="Tw Cen MT" pitchFamily="34" charset="0"/>
            </a:endParaRPr>
          </a:p>
          <a:p>
            <a:r>
              <a:rPr lang="en-US" dirty="0" smtClean="0">
                <a:latin typeface="Tw Cen MT" pitchFamily="34" charset="0"/>
              </a:rPr>
              <a:t>Patients with asymptomatic atrial tachycardia and relatively slow ventricular response usually require </a:t>
            </a:r>
            <a:r>
              <a:rPr lang="en-US" b="1" dirty="0" smtClean="0">
                <a:latin typeface="Tw Cen MT" pitchFamily="34" charset="0"/>
              </a:rPr>
              <a:t>no drug therapy.</a:t>
            </a:r>
            <a:endParaRPr lang="en-US" b="1"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17CF7D84-6679-41AD-A057-9C72AC8EDC50}"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69</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pPr algn="l"/>
            <a:r>
              <a:rPr lang="en-US" b="1" dirty="0" smtClean="0">
                <a:solidFill>
                  <a:srgbClr val="FF0000"/>
                </a:solidFill>
                <a:latin typeface="Tw Cen MT" pitchFamily="34" charset="0"/>
              </a:rPr>
              <a:t>Cont…</a:t>
            </a:r>
            <a:endParaRPr lang="en-US"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229600" cy="4525963"/>
          </a:xfrm>
        </p:spPr>
        <p:txBody>
          <a:bodyPr>
            <a:normAutofit fontScale="92500" lnSpcReduction="20000"/>
          </a:bodyPr>
          <a:lstStyle/>
          <a:p>
            <a:r>
              <a:rPr lang="en-US" dirty="0" smtClean="0">
                <a:latin typeface="Tw Cen MT" pitchFamily="34" charset="0"/>
              </a:rPr>
              <a:t>In symptomatic patients, medical therapy can be tailored either </a:t>
            </a:r>
          </a:p>
          <a:p>
            <a:pPr lvl="1"/>
            <a:r>
              <a:rPr lang="en-US" dirty="0" smtClean="0">
                <a:latin typeface="Tw Cen MT" pitchFamily="34" charset="0"/>
              </a:rPr>
              <a:t>to control ventricular response or </a:t>
            </a:r>
          </a:p>
          <a:p>
            <a:pPr lvl="1"/>
            <a:r>
              <a:rPr lang="en-US" dirty="0" smtClean="0">
                <a:latin typeface="Tw Cen MT" pitchFamily="34" charset="0"/>
              </a:rPr>
              <a:t>to restore sinus rhythm. </a:t>
            </a:r>
          </a:p>
          <a:p>
            <a:endParaRPr lang="en-US" dirty="0" smtClean="0">
              <a:latin typeface="Tw Cen MT" pitchFamily="34" charset="0"/>
            </a:endParaRPr>
          </a:p>
          <a:p>
            <a:r>
              <a:rPr lang="en-US" dirty="0" smtClean="0">
                <a:latin typeface="Tw Cen MT" pitchFamily="34" charset="0"/>
              </a:rPr>
              <a:t>Nondihydropyridine calcium antagonists (e.g.,  verapamil) are considered first-line drug therapy for </a:t>
            </a:r>
            <a:r>
              <a:rPr lang="en-US" b="1" dirty="0" smtClean="0">
                <a:latin typeface="Tw Cen MT" pitchFamily="34" charset="0"/>
              </a:rPr>
              <a:t>decreasing ventricular response. </a:t>
            </a:r>
          </a:p>
          <a:p>
            <a:pPr lvl="1"/>
            <a:r>
              <a:rPr lang="en-US" dirty="0" smtClean="0">
                <a:latin typeface="Tw Cen MT" pitchFamily="34" charset="0"/>
              </a:rPr>
              <a:t>DCC is ineffective and  </a:t>
            </a:r>
            <a:r>
              <a:rPr lang="el-GR" dirty="0" smtClean="0">
                <a:latin typeface="Tw Cen MT" pitchFamily="34" charset="0"/>
              </a:rPr>
              <a:t>β-</a:t>
            </a:r>
            <a:r>
              <a:rPr lang="en-US" dirty="0" smtClean="0">
                <a:latin typeface="Tw Cen MT" pitchFamily="34" charset="0"/>
              </a:rPr>
              <a:t>blockers are usually contraindicated because of coexisting severe pulmonary disease or uncompensated HF.</a:t>
            </a:r>
            <a:endParaRPr lang="en-US"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17CF7D84-6679-41AD-A057-9C72AC8EDC50}"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70</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rmAutofit fontScale="90000"/>
          </a:bodyPr>
          <a:lstStyle/>
          <a:p>
            <a:pPr algn="l"/>
            <a:r>
              <a:rPr lang="en-US" b="1" dirty="0">
                <a:solidFill>
                  <a:srgbClr val="FF0000"/>
                </a:solidFill>
                <a:latin typeface="Tw Cen MT" pitchFamily="34" charset="0"/>
              </a:rPr>
              <a:t/>
            </a:r>
            <a:br>
              <a:rPr lang="en-US" b="1" dirty="0">
                <a:solidFill>
                  <a:srgbClr val="FF0000"/>
                </a:solidFill>
                <a:latin typeface="Tw Cen MT" pitchFamily="34" charset="0"/>
              </a:rPr>
            </a:br>
            <a:r>
              <a:rPr lang="en-US" sz="4000" b="1" dirty="0" smtClean="0">
                <a:solidFill>
                  <a:srgbClr val="FF0000"/>
                </a:solidFill>
                <a:latin typeface="Tw Cen MT" pitchFamily="34" charset="0"/>
              </a:rPr>
              <a:t>Premature Ventricular Complexes</a:t>
            </a:r>
            <a:r>
              <a:rPr lang="en-US" sz="4000" b="1" dirty="0" smtClean="0">
                <a:solidFill>
                  <a:srgbClr val="6600FF"/>
                </a:solidFill>
                <a:latin typeface="Tw Cen MT" pitchFamily="34" charset="0"/>
              </a:rPr>
              <a:t/>
            </a:r>
            <a:br>
              <a:rPr lang="en-US" sz="4000" b="1" dirty="0" smtClean="0">
                <a:solidFill>
                  <a:srgbClr val="6600FF"/>
                </a:solidFill>
                <a:latin typeface="Tw Cen MT" pitchFamily="34" charset="0"/>
              </a:rPr>
            </a:br>
            <a:endParaRPr lang="en-US"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229600" cy="4525963"/>
          </a:xfrm>
        </p:spPr>
        <p:txBody>
          <a:bodyPr>
            <a:normAutofit fontScale="92500" lnSpcReduction="10000"/>
          </a:bodyPr>
          <a:lstStyle/>
          <a:p>
            <a:r>
              <a:rPr lang="en-US" dirty="0" smtClean="0">
                <a:latin typeface="Tw Cen MT" pitchFamily="34" charset="0"/>
              </a:rPr>
              <a:t>In apparently healthy individuals, </a:t>
            </a:r>
            <a:r>
              <a:rPr lang="en-US" b="1" dirty="0" smtClean="0">
                <a:latin typeface="Tw Cen MT" pitchFamily="34" charset="0"/>
              </a:rPr>
              <a:t>drug therapy is unnecessary</a:t>
            </a:r>
            <a:r>
              <a:rPr lang="en-US" dirty="0" smtClean="0">
                <a:latin typeface="Tw Cen MT" pitchFamily="34" charset="0"/>
              </a:rPr>
              <a:t> </a:t>
            </a:r>
          </a:p>
          <a:p>
            <a:pPr lvl="1"/>
            <a:r>
              <a:rPr lang="en-US" dirty="0" smtClean="0">
                <a:latin typeface="Tw Cen MT" pitchFamily="34" charset="0"/>
              </a:rPr>
              <a:t>because PVCs without associated heart disease carry little or no risk. </a:t>
            </a:r>
          </a:p>
          <a:p>
            <a:endParaRPr lang="en-US" dirty="0" smtClean="0">
              <a:latin typeface="Tw Cen MT" pitchFamily="34" charset="0"/>
            </a:endParaRPr>
          </a:p>
          <a:p>
            <a:r>
              <a:rPr lang="en-US" dirty="0" smtClean="0">
                <a:latin typeface="Tw Cen MT" pitchFamily="34" charset="0"/>
              </a:rPr>
              <a:t>In patients with risk factors for arrhythmic death (recent MI, LV dysfunction, complex PVCs), </a:t>
            </a:r>
          </a:p>
          <a:p>
            <a:pPr lvl="1"/>
            <a:r>
              <a:rPr lang="en-US" dirty="0" smtClean="0">
                <a:latin typeface="Tw Cen MT" pitchFamily="34" charset="0"/>
              </a:rPr>
              <a:t>chronic drug therapy should be restricted to  </a:t>
            </a:r>
            <a:r>
              <a:rPr lang="en-US" b="1" dirty="0" smtClean="0">
                <a:latin typeface="Tw Cen MT" pitchFamily="34" charset="0"/>
              </a:rPr>
              <a:t>β-blockers  </a:t>
            </a:r>
            <a:r>
              <a:rPr lang="en-US" dirty="0" smtClean="0">
                <a:latin typeface="Tw Cen MT" pitchFamily="34" charset="0"/>
              </a:rPr>
              <a:t>because only they have been conclusively proven to prevent mortality in these patients.</a:t>
            </a:r>
            <a:endParaRPr lang="en-US"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17CF7D84-6679-41AD-A057-9C72AC8EDC50}"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71</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rmAutofit fontScale="90000"/>
          </a:bodyPr>
          <a:lstStyle/>
          <a:p>
            <a:pPr algn="l"/>
            <a:r>
              <a:rPr lang="en-US" b="1" dirty="0">
                <a:solidFill>
                  <a:srgbClr val="FF0000"/>
                </a:solidFill>
                <a:latin typeface="Tw Cen MT" pitchFamily="34" charset="0"/>
              </a:rPr>
              <a:t/>
            </a:r>
            <a:br>
              <a:rPr lang="en-US" b="1" dirty="0">
                <a:solidFill>
                  <a:srgbClr val="FF0000"/>
                </a:solidFill>
                <a:latin typeface="Tw Cen MT" pitchFamily="34" charset="0"/>
              </a:rPr>
            </a:br>
            <a:r>
              <a:rPr lang="en-US" sz="4000" b="1" dirty="0" smtClean="0">
                <a:solidFill>
                  <a:srgbClr val="FF0000"/>
                </a:solidFill>
                <a:latin typeface="Tw Cen MT" pitchFamily="34" charset="0"/>
              </a:rPr>
              <a:t>Ventricular Tachycardia</a:t>
            </a:r>
            <a:r>
              <a:rPr lang="en-US" b="1" dirty="0" smtClean="0">
                <a:solidFill>
                  <a:srgbClr val="6600FF"/>
                </a:solidFill>
                <a:latin typeface="Tw Cen MT" pitchFamily="34" charset="0"/>
              </a:rPr>
              <a:t/>
            </a:r>
            <a:br>
              <a:rPr lang="en-US" b="1" dirty="0" smtClean="0">
                <a:solidFill>
                  <a:srgbClr val="6600FF"/>
                </a:solidFill>
                <a:latin typeface="Tw Cen MT" pitchFamily="34" charset="0"/>
              </a:rPr>
            </a:br>
            <a:endParaRPr lang="en-US"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229600" cy="4525963"/>
          </a:xfrm>
        </p:spPr>
        <p:txBody>
          <a:bodyPr>
            <a:normAutofit fontScale="92500"/>
          </a:bodyPr>
          <a:lstStyle/>
          <a:p>
            <a:r>
              <a:rPr lang="en-US" b="1" dirty="0" smtClean="0">
                <a:solidFill>
                  <a:srgbClr val="6600FF"/>
                </a:solidFill>
                <a:latin typeface="Tw Cen MT" pitchFamily="34" charset="0"/>
              </a:rPr>
              <a:t>Acute Ventricular Tachycardia</a:t>
            </a:r>
          </a:p>
          <a:p>
            <a:pPr lvl="1"/>
            <a:r>
              <a:rPr lang="en-US" dirty="0" smtClean="0">
                <a:latin typeface="Tw Cen MT" pitchFamily="34" charset="0"/>
              </a:rPr>
              <a:t>If severe symptoms are present, synchronized DCC should be instituted immediately to restore sinus rhythm. </a:t>
            </a:r>
          </a:p>
          <a:p>
            <a:pPr lvl="1"/>
            <a:r>
              <a:rPr lang="en-US" dirty="0" smtClean="0">
                <a:latin typeface="Tw Cen MT" pitchFamily="34" charset="0"/>
              </a:rPr>
              <a:t>Precipitating factors should be corrected if possible. </a:t>
            </a:r>
          </a:p>
          <a:p>
            <a:pPr lvl="1"/>
            <a:r>
              <a:rPr lang="en-US" dirty="0" smtClean="0">
                <a:latin typeface="Tw Cen MT" pitchFamily="34" charset="0"/>
              </a:rPr>
              <a:t>Patients with mild or no symptoms can be treated initially with antiarrhythmic drugs. </a:t>
            </a:r>
          </a:p>
          <a:p>
            <a:pPr lvl="1"/>
            <a:r>
              <a:rPr lang="en-US" b="1" dirty="0" smtClean="0">
                <a:latin typeface="Tw Cen MT" pitchFamily="34" charset="0"/>
              </a:rPr>
              <a:t>IV  amiodarone </a:t>
            </a:r>
            <a:r>
              <a:rPr lang="en-US" dirty="0" smtClean="0">
                <a:latin typeface="Tw Cen MT" pitchFamily="34" charset="0"/>
              </a:rPr>
              <a:t>is now recommended as first-line therapy in this situation.  </a:t>
            </a:r>
          </a:p>
          <a:p>
            <a:pPr lvl="1"/>
            <a:r>
              <a:rPr lang="en-US" dirty="0" smtClean="0">
                <a:latin typeface="Tw Cen MT" pitchFamily="34" charset="0"/>
              </a:rPr>
              <a:t>Procainamide  or lidocaine given IV is a suitable alternative. </a:t>
            </a:r>
          </a:p>
          <a:p>
            <a:pPr lvl="1"/>
            <a:endParaRPr lang="en-US" dirty="0" smtClean="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17CF7D84-6679-41AD-A057-9C72AC8EDC50}"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72</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pPr algn="l"/>
            <a:r>
              <a:rPr lang="en-US" b="1" dirty="0" smtClean="0">
                <a:solidFill>
                  <a:srgbClr val="FF0000"/>
                </a:solidFill>
                <a:latin typeface="Tw Cen MT" pitchFamily="34" charset="0"/>
              </a:rPr>
              <a:t>Cont…</a:t>
            </a:r>
            <a:endParaRPr lang="en-US"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229600" cy="4525963"/>
          </a:xfrm>
        </p:spPr>
        <p:txBody>
          <a:bodyPr>
            <a:normAutofit/>
          </a:bodyPr>
          <a:lstStyle/>
          <a:p>
            <a:r>
              <a:rPr lang="en-US" b="1" dirty="0" smtClean="0">
                <a:solidFill>
                  <a:srgbClr val="6600FF"/>
                </a:solidFill>
                <a:latin typeface="Tw Cen MT" pitchFamily="34" charset="0"/>
              </a:rPr>
              <a:t>Sustained Ventricular Tachycardia</a:t>
            </a:r>
          </a:p>
          <a:p>
            <a:pPr lvl="1"/>
            <a:r>
              <a:rPr lang="en-US" dirty="0" smtClean="0">
                <a:latin typeface="Tw Cen MT" pitchFamily="34" charset="0"/>
              </a:rPr>
              <a:t>Patients with chronic recurrent sustained VT are at extremely high risk for death</a:t>
            </a:r>
          </a:p>
          <a:p>
            <a:pPr lvl="1"/>
            <a:endParaRPr lang="en-US" dirty="0" smtClean="0">
              <a:latin typeface="Tw Cen MT" pitchFamily="34" charset="0"/>
            </a:endParaRPr>
          </a:p>
          <a:p>
            <a:pPr lvl="1"/>
            <a:r>
              <a:rPr lang="en-US" dirty="0" smtClean="0">
                <a:latin typeface="Tw Cen MT" pitchFamily="34" charset="0"/>
              </a:rPr>
              <a:t>The automatic ICD is a highly effective method for preventing sudden death due to recurrent VT or VF.</a:t>
            </a:r>
          </a:p>
          <a:p>
            <a:pPr lvl="1"/>
            <a:endParaRPr lang="en-US" dirty="0" smtClean="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17CF7D84-6679-41AD-A057-9C72AC8EDC50}"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73</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pPr algn="l"/>
            <a:r>
              <a:rPr lang="en-US" b="1" dirty="0" smtClean="0">
                <a:solidFill>
                  <a:srgbClr val="FF0000"/>
                </a:solidFill>
                <a:latin typeface="Tw Cen MT" pitchFamily="34" charset="0"/>
              </a:rPr>
              <a:t>Cont…</a:t>
            </a:r>
            <a:endParaRPr lang="en-US"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229600" cy="4525963"/>
          </a:xfrm>
        </p:spPr>
        <p:txBody>
          <a:bodyPr>
            <a:normAutofit lnSpcReduction="10000"/>
          </a:bodyPr>
          <a:lstStyle/>
          <a:p>
            <a:r>
              <a:rPr lang="en-US" b="1" dirty="0" smtClean="0">
                <a:solidFill>
                  <a:srgbClr val="6600FF"/>
                </a:solidFill>
                <a:latin typeface="Tw Cen MT" pitchFamily="34" charset="0"/>
              </a:rPr>
              <a:t>Torsade de Pointes</a:t>
            </a:r>
          </a:p>
          <a:p>
            <a:pPr lvl="1"/>
            <a:r>
              <a:rPr lang="en-US" dirty="0" smtClean="0">
                <a:latin typeface="Tw Cen MT" pitchFamily="34" charset="0"/>
              </a:rPr>
              <a:t>For an acute episode of TdP, most patients require and respond to DCC.</a:t>
            </a:r>
          </a:p>
          <a:p>
            <a:pPr lvl="1"/>
            <a:r>
              <a:rPr lang="en-US" dirty="0" smtClean="0">
                <a:latin typeface="Tw Cen MT" pitchFamily="34" charset="0"/>
              </a:rPr>
              <a:t>However, TdP tends to often recurs rapidly after DCC.</a:t>
            </a:r>
          </a:p>
          <a:p>
            <a:pPr lvl="1"/>
            <a:r>
              <a:rPr lang="en-US" b="1" dirty="0" smtClean="0">
                <a:latin typeface="Tw Cen MT" pitchFamily="34" charset="0"/>
              </a:rPr>
              <a:t>IV  magnesium sulfate  </a:t>
            </a:r>
            <a:r>
              <a:rPr lang="en-US" dirty="0" smtClean="0">
                <a:latin typeface="Tw Cen MT" pitchFamily="34" charset="0"/>
              </a:rPr>
              <a:t>is considered the drug of choice for preventing recurrences of TdP. </a:t>
            </a:r>
          </a:p>
          <a:p>
            <a:pPr lvl="1"/>
            <a:r>
              <a:rPr lang="en-US" dirty="0" smtClean="0">
                <a:latin typeface="Tw Cen MT" pitchFamily="34" charset="0"/>
              </a:rPr>
              <a:t>Agents that prolong the QT interval should be discontinued, and exacerbating factors (e.g., hypokalemia, hypomagnesemia) corrected. </a:t>
            </a:r>
          </a:p>
          <a:p>
            <a:endParaRPr lang="en-US" dirty="0" smtClean="0">
              <a:latin typeface="Tw Cen MT" pitchFamily="34" charset="0"/>
            </a:endParaRPr>
          </a:p>
          <a:p>
            <a:pPr lvl="1"/>
            <a:endParaRPr lang="en-US" dirty="0" smtClean="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17CF7D84-6679-41AD-A057-9C72AC8EDC50}"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74</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pPr algn="l"/>
            <a:r>
              <a:rPr lang="en-US" b="1" dirty="0" smtClean="0">
                <a:solidFill>
                  <a:srgbClr val="FF0000"/>
                </a:solidFill>
                <a:latin typeface="Tw Cen MT" pitchFamily="34" charset="0"/>
              </a:rPr>
              <a:t>Cont…</a:t>
            </a:r>
            <a:endParaRPr lang="en-US"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229600" cy="4525963"/>
          </a:xfrm>
        </p:spPr>
        <p:txBody>
          <a:bodyPr>
            <a:normAutofit/>
          </a:bodyPr>
          <a:lstStyle/>
          <a:p>
            <a:r>
              <a:rPr lang="en-US" b="1" dirty="0" smtClean="0">
                <a:solidFill>
                  <a:srgbClr val="6600FF"/>
                </a:solidFill>
                <a:latin typeface="Tw Cen MT" pitchFamily="34" charset="0"/>
              </a:rPr>
              <a:t>Ventricular Fibrillation</a:t>
            </a:r>
          </a:p>
          <a:p>
            <a:pPr lvl="1"/>
            <a:r>
              <a:rPr lang="en-US" dirty="0" smtClean="0">
                <a:latin typeface="Tw Cen MT" pitchFamily="34" charset="0"/>
              </a:rPr>
              <a:t>After successful resuscitation, antiarrhythmics should be continued until the patient’s rhythm and overall status are stable. </a:t>
            </a:r>
          </a:p>
          <a:p>
            <a:pPr lvl="1"/>
            <a:endParaRPr lang="en-US" dirty="0" smtClean="0">
              <a:latin typeface="Tw Cen MT" pitchFamily="34" charset="0"/>
            </a:endParaRPr>
          </a:p>
          <a:p>
            <a:pPr lvl="1"/>
            <a:r>
              <a:rPr lang="en-US" dirty="0" smtClean="0">
                <a:latin typeface="Tw Cen MT" pitchFamily="34" charset="0"/>
              </a:rPr>
              <a:t>Long-term antiarrhythmics or ICD implantation may or may not be required.</a:t>
            </a:r>
            <a:endParaRPr lang="en-US"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17CF7D84-6679-41AD-A057-9C72AC8EDC50}"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75</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rmAutofit fontScale="90000"/>
          </a:bodyPr>
          <a:lstStyle/>
          <a:p>
            <a:pPr algn="l"/>
            <a:r>
              <a:rPr lang="en-US" b="1" dirty="0">
                <a:solidFill>
                  <a:srgbClr val="FF0000"/>
                </a:solidFill>
                <a:latin typeface="Tw Cen MT" pitchFamily="34" charset="0"/>
              </a:rPr>
              <a:t/>
            </a:r>
            <a:br>
              <a:rPr lang="en-US" b="1" dirty="0">
                <a:solidFill>
                  <a:srgbClr val="FF0000"/>
                </a:solidFill>
                <a:latin typeface="Tw Cen MT" pitchFamily="34" charset="0"/>
              </a:rPr>
            </a:br>
            <a:r>
              <a:rPr lang="en-US" sz="4000" b="1" dirty="0" smtClean="0">
                <a:solidFill>
                  <a:srgbClr val="FF0000"/>
                </a:solidFill>
                <a:latin typeface="Tw Cen MT" pitchFamily="34" charset="0"/>
              </a:rPr>
              <a:t>Bradyarrhythmias</a:t>
            </a:r>
            <a:br>
              <a:rPr lang="en-US" sz="4000" b="1" dirty="0" smtClean="0">
                <a:solidFill>
                  <a:srgbClr val="FF0000"/>
                </a:solidFill>
                <a:latin typeface="Tw Cen MT" pitchFamily="34" charset="0"/>
              </a:rPr>
            </a:br>
            <a:endParaRPr lang="en-US"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229600" cy="4525963"/>
          </a:xfrm>
        </p:spPr>
        <p:txBody>
          <a:bodyPr>
            <a:normAutofit/>
          </a:bodyPr>
          <a:lstStyle/>
          <a:p>
            <a:r>
              <a:rPr lang="en-US" b="1" dirty="0">
                <a:solidFill>
                  <a:srgbClr val="6600FF"/>
                </a:solidFill>
                <a:latin typeface="Tw Cen MT" pitchFamily="34" charset="0"/>
              </a:rPr>
              <a:t>S</a:t>
            </a:r>
            <a:r>
              <a:rPr lang="en-US" b="1" dirty="0" smtClean="0">
                <a:solidFill>
                  <a:srgbClr val="6600FF"/>
                </a:solidFill>
                <a:latin typeface="Tw Cen MT" pitchFamily="34" charset="0"/>
              </a:rPr>
              <a:t>inus node dysfunction</a:t>
            </a:r>
          </a:p>
          <a:p>
            <a:pPr lvl="1"/>
            <a:r>
              <a:rPr lang="en-US" dirty="0" smtClean="0">
                <a:latin typeface="Tw Cen MT" pitchFamily="34" charset="0"/>
              </a:rPr>
              <a:t>Treatment of sinus node dysfunction involves </a:t>
            </a:r>
          </a:p>
          <a:p>
            <a:pPr lvl="2"/>
            <a:r>
              <a:rPr lang="en-US" dirty="0" smtClean="0">
                <a:latin typeface="Tw Cen MT" pitchFamily="34" charset="0"/>
              </a:rPr>
              <a:t>elimination of symptomatic bradycardia and possibly </a:t>
            </a:r>
          </a:p>
          <a:p>
            <a:pPr lvl="2"/>
            <a:r>
              <a:rPr lang="en-US" dirty="0" smtClean="0">
                <a:latin typeface="Tw Cen MT" pitchFamily="34" charset="0"/>
              </a:rPr>
              <a:t>managing alternating tachycardias such as AF.</a:t>
            </a:r>
          </a:p>
          <a:p>
            <a:pPr lvl="1"/>
            <a:r>
              <a:rPr lang="en-US" dirty="0" smtClean="0">
                <a:latin typeface="Tw Cen MT" pitchFamily="34" charset="0"/>
              </a:rPr>
              <a:t>Asymptomatic sinus bradyarrhythmias usually do </a:t>
            </a:r>
            <a:r>
              <a:rPr lang="en-US" b="1" dirty="0" smtClean="0">
                <a:latin typeface="Tw Cen MT" pitchFamily="34" charset="0"/>
              </a:rPr>
              <a:t>not require </a:t>
            </a:r>
            <a:r>
              <a:rPr lang="en-US" dirty="0" smtClean="0">
                <a:latin typeface="Tw Cen MT" pitchFamily="34" charset="0"/>
              </a:rPr>
              <a:t>therapeutic intervention.</a:t>
            </a:r>
          </a:p>
          <a:p>
            <a:pPr lvl="1"/>
            <a:r>
              <a:rPr lang="en-US" dirty="0" smtClean="0">
                <a:latin typeface="Tw Cen MT" pitchFamily="34" charset="0"/>
              </a:rPr>
              <a:t>In general, long-term therapy of choice for patients with significant symptoms is a </a:t>
            </a:r>
            <a:r>
              <a:rPr lang="en-US" b="1" dirty="0" smtClean="0">
                <a:latin typeface="Tw Cen MT" pitchFamily="34" charset="0"/>
              </a:rPr>
              <a:t>permanent ventricular pacemaker.</a:t>
            </a:r>
          </a:p>
          <a:p>
            <a:endParaRPr lang="en-US" dirty="0" smtClean="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17CF7D84-6679-41AD-A057-9C72AC8EDC50}"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76</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pPr algn="l"/>
            <a:r>
              <a:rPr lang="en-US" b="1" dirty="0" smtClean="0">
                <a:solidFill>
                  <a:srgbClr val="FF0000"/>
                </a:solidFill>
                <a:latin typeface="Tw Cen MT" pitchFamily="34" charset="0"/>
              </a:rPr>
              <a:t>Cont…</a:t>
            </a:r>
            <a:endParaRPr lang="en-US"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229600" cy="4953000"/>
          </a:xfrm>
        </p:spPr>
        <p:txBody>
          <a:bodyPr>
            <a:normAutofit/>
          </a:bodyPr>
          <a:lstStyle/>
          <a:p>
            <a:pPr lvl="1"/>
            <a:r>
              <a:rPr lang="en-US" dirty="0" smtClean="0">
                <a:latin typeface="Tw Cen MT" pitchFamily="34" charset="0"/>
              </a:rPr>
              <a:t>Drugs commonly employed to treat supraventricular tachycardias should be used with caution.</a:t>
            </a:r>
          </a:p>
          <a:p>
            <a:pPr lvl="1"/>
            <a:r>
              <a:rPr lang="en-US" dirty="0" smtClean="0">
                <a:latin typeface="Tw Cen MT" pitchFamily="34" charset="0"/>
              </a:rPr>
              <a:t>Symptomatic carotid sinus hypersensitivity also should be treated with </a:t>
            </a:r>
            <a:r>
              <a:rPr lang="en-US" b="1" dirty="0" smtClean="0">
                <a:latin typeface="Tw Cen MT" pitchFamily="34" charset="0"/>
              </a:rPr>
              <a:t>permanent pacemaker therapy. </a:t>
            </a:r>
          </a:p>
          <a:p>
            <a:pPr lvl="1"/>
            <a:r>
              <a:rPr lang="en-US" dirty="0" smtClean="0">
                <a:latin typeface="Tw Cen MT" pitchFamily="34" charset="0"/>
              </a:rPr>
              <a:t>Patients who remain symptomatic may benefit from adding an  </a:t>
            </a:r>
            <a:r>
              <a:rPr lang="en-US" b="1" dirty="0" smtClean="0">
                <a:latin typeface="Tw Cen MT" pitchFamily="34" charset="0"/>
              </a:rPr>
              <a:t>α-adrenergic stimulant such as midodrine</a:t>
            </a:r>
            <a:endParaRPr lang="en-US" b="1"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17CF7D84-6679-41AD-A057-9C72AC8EDC50}"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77</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47800"/>
            <a:ext cx="8686800" cy="5006975"/>
          </a:xfrm>
        </p:spPr>
        <p:txBody>
          <a:bodyPr>
            <a:normAutofit lnSpcReduction="10000"/>
          </a:bodyPr>
          <a:lstStyle/>
          <a:p>
            <a:pPr marL="448056" indent="-384048" eaLnBrk="1" fontAlgn="auto" hangingPunct="1">
              <a:spcAft>
                <a:spcPts val="0"/>
              </a:spcAft>
              <a:buNone/>
              <a:defRPr/>
            </a:pPr>
            <a:endParaRPr lang="en-US" b="1" u="sng" dirty="0" smtClean="0">
              <a:solidFill>
                <a:srgbClr val="6600FF"/>
              </a:solidFill>
              <a:latin typeface="Tw Cen MT" pitchFamily="34" charset="0"/>
            </a:endParaRPr>
          </a:p>
          <a:p>
            <a:pPr marL="448056" indent="-384048" eaLnBrk="1" fontAlgn="auto" hangingPunct="1">
              <a:spcAft>
                <a:spcPts val="0"/>
              </a:spcAft>
              <a:buNone/>
              <a:defRPr/>
            </a:pPr>
            <a:r>
              <a:rPr lang="en-US" b="1" u="sng" dirty="0" smtClean="0">
                <a:solidFill>
                  <a:srgbClr val="6600FF"/>
                </a:solidFill>
                <a:latin typeface="Tw Cen MT" pitchFamily="34" charset="0"/>
              </a:rPr>
              <a:t>Atrioventricular block :</a:t>
            </a:r>
          </a:p>
          <a:p>
            <a:pPr marL="822960" lvl="1" eaLnBrk="1" fontAlgn="auto" hangingPunct="1">
              <a:spcAft>
                <a:spcPts val="0"/>
              </a:spcAft>
              <a:buFont typeface="Verdana"/>
              <a:buChar char="›"/>
              <a:defRPr/>
            </a:pPr>
            <a:r>
              <a:rPr lang="en-US" b="1" dirty="0" smtClean="0">
                <a:latin typeface="Tw Cen MT" pitchFamily="34" charset="0"/>
              </a:rPr>
              <a:t>First degree AV block </a:t>
            </a:r>
            <a:r>
              <a:rPr lang="en-US" dirty="0" smtClean="0">
                <a:latin typeface="Tw Cen MT" pitchFamily="34" charset="0"/>
              </a:rPr>
              <a:t>: PR interval ≥ 0.20sec</a:t>
            </a:r>
          </a:p>
          <a:p>
            <a:pPr marL="1106424" lvl="2" eaLnBrk="1" fontAlgn="auto" hangingPunct="1">
              <a:spcAft>
                <a:spcPts val="0"/>
              </a:spcAft>
              <a:buFont typeface="Wingdings 2"/>
              <a:buChar char=""/>
              <a:defRPr/>
            </a:pPr>
            <a:r>
              <a:rPr lang="en-US" dirty="0" smtClean="0">
                <a:latin typeface="Tw Cen MT" pitchFamily="34" charset="0"/>
              </a:rPr>
              <a:t>AV nodal decrease conduction, acute myocardial infraction, enhanced vagal tone.</a:t>
            </a:r>
          </a:p>
          <a:p>
            <a:pPr marL="822960" lvl="1" eaLnBrk="1" fontAlgn="auto" hangingPunct="1">
              <a:spcAft>
                <a:spcPts val="0"/>
              </a:spcAft>
              <a:buFont typeface="Verdana"/>
              <a:buChar char="›"/>
              <a:defRPr/>
            </a:pPr>
            <a:r>
              <a:rPr lang="en-US" b="1" dirty="0" smtClean="0">
                <a:latin typeface="Tw Cen MT" pitchFamily="34" charset="0"/>
              </a:rPr>
              <a:t>Secondary block</a:t>
            </a:r>
          </a:p>
          <a:p>
            <a:pPr marL="1106424" lvl="2" eaLnBrk="1" fontAlgn="auto" hangingPunct="1">
              <a:spcAft>
                <a:spcPts val="0"/>
              </a:spcAft>
              <a:buFont typeface="Wingdings 2"/>
              <a:buChar char=""/>
              <a:defRPr/>
            </a:pPr>
            <a:r>
              <a:rPr lang="en-US" u="sng" dirty="0" smtClean="0">
                <a:latin typeface="Tw Cen MT" pitchFamily="34" charset="0"/>
              </a:rPr>
              <a:t>Mobitz I</a:t>
            </a:r>
            <a:r>
              <a:rPr lang="en-US" dirty="0" smtClean="0">
                <a:latin typeface="Tw Cen MT" pitchFamily="34" charset="0"/>
              </a:rPr>
              <a:t> (Wenckebach) : Progressive PR prolongation until QRS complex  is dropped.</a:t>
            </a:r>
          </a:p>
          <a:p>
            <a:pPr marL="1106424" lvl="2" eaLnBrk="1" fontAlgn="auto" hangingPunct="1">
              <a:spcAft>
                <a:spcPts val="0"/>
              </a:spcAft>
              <a:buFont typeface="Wingdings 2"/>
              <a:buChar char=""/>
              <a:defRPr/>
            </a:pPr>
            <a:endParaRPr lang="en-US" dirty="0" smtClean="0">
              <a:latin typeface="Tw Cen MT" pitchFamily="34" charset="0"/>
            </a:endParaRPr>
          </a:p>
          <a:p>
            <a:pPr marL="1106424" lvl="2" eaLnBrk="1" fontAlgn="auto" hangingPunct="1">
              <a:spcAft>
                <a:spcPts val="0"/>
              </a:spcAft>
              <a:buFont typeface="Wingdings 2"/>
              <a:buChar char=""/>
              <a:defRPr/>
            </a:pPr>
            <a:r>
              <a:rPr lang="en-US" u="sng" dirty="0" smtClean="0">
                <a:latin typeface="Tw Cen MT" pitchFamily="34" charset="0"/>
              </a:rPr>
              <a:t>Mobitz II </a:t>
            </a:r>
            <a:r>
              <a:rPr lang="en-US" dirty="0" smtClean="0">
                <a:latin typeface="Tw Cen MT" pitchFamily="34" charset="0"/>
              </a:rPr>
              <a:t>: Absence of QRS complex.</a:t>
            </a:r>
          </a:p>
          <a:p>
            <a:pPr marL="822960" lvl="1" eaLnBrk="1" fontAlgn="auto" hangingPunct="1">
              <a:spcAft>
                <a:spcPts val="0"/>
              </a:spcAft>
              <a:buFont typeface="Verdana"/>
              <a:buChar char="›"/>
              <a:defRPr/>
            </a:pPr>
            <a:r>
              <a:rPr lang="en-US" b="1" dirty="0" smtClean="0">
                <a:latin typeface="Tw Cen MT" pitchFamily="34" charset="0"/>
              </a:rPr>
              <a:t>Third-degree block </a:t>
            </a:r>
            <a:r>
              <a:rPr lang="en-US" dirty="0" smtClean="0">
                <a:latin typeface="Tw Cen MT" pitchFamily="34" charset="0"/>
              </a:rPr>
              <a:t>: </a:t>
            </a:r>
            <a:r>
              <a:rPr lang="en-US" sz="2400" dirty="0" smtClean="0">
                <a:latin typeface="Tw Cen MT" pitchFamily="34" charset="0"/>
              </a:rPr>
              <a:t>Absence of AV conduction.</a:t>
            </a:r>
          </a:p>
        </p:txBody>
      </p:sp>
      <p:sp>
        <p:nvSpPr>
          <p:cNvPr id="4" name="Rectangle 3"/>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pPr algn="l"/>
            <a:r>
              <a:rPr lang="en-US" b="1" dirty="0" smtClean="0">
                <a:solidFill>
                  <a:srgbClr val="FF0000"/>
                </a:solidFill>
                <a:latin typeface="Tw Cen MT" pitchFamily="34" charset="0"/>
              </a:rPr>
              <a:t>Cont…</a:t>
            </a:r>
            <a:endParaRPr lang="en-US"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229600" cy="4525963"/>
          </a:xfrm>
        </p:spPr>
        <p:txBody>
          <a:bodyPr>
            <a:normAutofit/>
          </a:bodyPr>
          <a:lstStyle/>
          <a:p>
            <a:pPr lvl="1"/>
            <a:r>
              <a:rPr lang="en-US" dirty="0" smtClean="0">
                <a:latin typeface="Tw Cen MT" pitchFamily="34" charset="0"/>
              </a:rPr>
              <a:t>If patients with Mobitz II or third-degree AV block develop signs or symptoms of poor perfusion (e.g., altered mental status, chest pain, hypotension, shock) associated with bradycardia or AV block, </a:t>
            </a:r>
          </a:p>
          <a:p>
            <a:pPr lvl="2"/>
            <a:r>
              <a:rPr lang="en-US" b="1" dirty="0" smtClean="0">
                <a:latin typeface="Tw Cen MT" pitchFamily="34" charset="0"/>
              </a:rPr>
              <a:t>transcutaneous pacing </a:t>
            </a:r>
            <a:r>
              <a:rPr lang="en-US" dirty="0" smtClean="0">
                <a:latin typeface="Tw Cen MT" pitchFamily="34" charset="0"/>
              </a:rPr>
              <a:t>should be initiated immediately.</a:t>
            </a:r>
          </a:p>
          <a:p>
            <a:pPr lvl="1"/>
            <a:endParaRPr lang="en-US" dirty="0" smtClean="0">
              <a:latin typeface="Tw Cen MT" pitchFamily="34" charset="0"/>
            </a:endParaRPr>
          </a:p>
          <a:p>
            <a:pPr lvl="1"/>
            <a:r>
              <a:rPr lang="en-US" b="1" dirty="0" smtClean="0">
                <a:latin typeface="Tw Cen MT" pitchFamily="34" charset="0"/>
              </a:rPr>
              <a:t>Atropine </a:t>
            </a:r>
            <a:r>
              <a:rPr lang="en-US" dirty="0" smtClean="0">
                <a:latin typeface="Tw Cen MT" pitchFamily="34" charset="0"/>
              </a:rPr>
              <a:t> </a:t>
            </a:r>
          </a:p>
          <a:p>
            <a:pPr lvl="2"/>
            <a:r>
              <a:rPr lang="en-US" dirty="0" smtClean="0">
                <a:latin typeface="Tw Cen MT" pitchFamily="34" charset="0"/>
              </a:rPr>
              <a:t>0.5 mg IV given every 3 to 5 minutes, up to 3 mg total dose should be given as the pacing leads are being placed. </a:t>
            </a: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17CF7D84-6679-41AD-A057-9C72AC8EDC50}"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79</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pPr algn="l"/>
            <a:r>
              <a:rPr lang="en-US" b="1" dirty="0" smtClean="0">
                <a:solidFill>
                  <a:srgbClr val="FF0000"/>
                </a:solidFill>
                <a:latin typeface="Tw Cen MT" pitchFamily="34" charset="0"/>
              </a:rPr>
              <a:t>Cont…</a:t>
            </a:r>
            <a:endParaRPr lang="en-US"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229600" cy="4525963"/>
          </a:xfrm>
        </p:spPr>
        <p:txBody>
          <a:bodyPr>
            <a:normAutofit/>
          </a:bodyPr>
          <a:lstStyle/>
          <a:p>
            <a:pPr lvl="1"/>
            <a:r>
              <a:rPr lang="en-US" dirty="0" smtClean="0">
                <a:latin typeface="Tw Cen MT" pitchFamily="34" charset="0"/>
              </a:rPr>
              <a:t>Infusions of  </a:t>
            </a:r>
            <a:r>
              <a:rPr lang="en-US" b="1" dirty="0" smtClean="0">
                <a:latin typeface="Tw Cen MT" pitchFamily="34" charset="0"/>
              </a:rPr>
              <a:t>epinephrine</a:t>
            </a:r>
            <a:r>
              <a:rPr lang="en-US" dirty="0" smtClean="0">
                <a:latin typeface="Tw Cen MT" pitchFamily="34" charset="0"/>
              </a:rPr>
              <a:t> (2 to 10 mcg/min) or </a:t>
            </a:r>
            <a:r>
              <a:rPr lang="en-US" b="1" dirty="0" smtClean="0">
                <a:latin typeface="Tw Cen MT" pitchFamily="34" charset="0"/>
              </a:rPr>
              <a:t>dopamine</a:t>
            </a:r>
            <a:r>
              <a:rPr lang="en-US" dirty="0" smtClean="0">
                <a:latin typeface="Tw Cen MT" pitchFamily="34" charset="0"/>
              </a:rPr>
              <a:t> (2 to 10 mcg/kg/min) can be used in the event of atropine failure. </a:t>
            </a:r>
          </a:p>
          <a:p>
            <a:pPr lvl="1"/>
            <a:r>
              <a:rPr lang="en-US" dirty="0" smtClean="0">
                <a:latin typeface="Tw Cen MT" pitchFamily="34" charset="0"/>
              </a:rPr>
              <a:t>These agents will not help if AV block is below the AV node (Mobitz II or trifascicular AV block)</a:t>
            </a:r>
          </a:p>
          <a:p>
            <a:pPr lvl="1"/>
            <a:r>
              <a:rPr lang="en-US" dirty="0" smtClean="0">
                <a:latin typeface="Tw Cen MT" pitchFamily="34" charset="0"/>
              </a:rPr>
              <a:t>Chronic symptomatic AV block warrants insertion of a </a:t>
            </a:r>
            <a:r>
              <a:rPr lang="en-US" b="1" dirty="0" smtClean="0">
                <a:latin typeface="Tw Cen MT" pitchFamily="34" charset="0"/>
              </a:rPr>
              <a:t>permanent pace-maker. </a:t>
            </a:r>
          </a:p>
          <a:p>
            <a:pPr lvl="1"/>
            <a:r>
              <a:rPr lang="en-US" dirty="0" smtClean="0">
                <a:latin typeface="Tw Cen MT" pitchFamily="34" charset="0"/>
              </a:rPr>
              <a:t>Patients without symptoms can sometimes be followed closely without the need for a pacemaker.</a:t>
            </a:r>
          </a:p>
          <a:p>
            <a:endParaRPr lang="en-US"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17CF7D84-6679-41AD-A057-9C72AC8EDC50}"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80</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rmAutofit fontScale="90000"/>
          </a:bodyPr>
          <a:lstStyle/>
          <a:p>
            <a:pPr algn="l"/>
            <a:r>
              <a:rPr lang="en-US" b="1" dirty="0">
                <a:solidFill>
                  <a:srgbClr val="FF0000"/>
                </a:solidFill>
                <a:latin typeface="Tw Cen MT" pitchFamily="34" charset="0"/>
              </a:rPr>
              <a:t/>
            </a:r>
            <a:br>
              <a:rPr lang="en-US" b="1" dirty="0">
                <a:solidFill>
                  <a:srgbClr val="FF0000"/>
                </a:solidFill>
                <a:latin typeface="Tw Cen MT" pitchFamily="34" charset="0"/>
              </a:rPr>
            </a:br>
            <a:r>
              <a:rPr lang="en-US" b="1" dirty="0" smtClean="0">
                <a:solidFill>
                  <a:srgbClr val="FF0000"/>
                </a:solidFill>
                <a:latin typeface="Tw Cen MT" pitchFamily="34" charset="0"/>
              </a:rPr>
              <a:t>Evaluation Of Therapeutic Outcomes</a:t>
            </a:r>
            <a:br>
              <a:rPr lang="en-US" b="1" dirty="0" smtClean="0">
                <a:solidFill>
                  <a:srgbClr val="FF0000"/>
                </a:solidFill>
                <a:latin typeface="Tw Cen MT" pitchFamily="34" charset="0"/>
              </a:rPr>
            </a:br>
            <a:endParaRPr lang="en-US" b="1" dirty="0">
              <a:solidFill>
                <a:srgbClr val="FF0000"/>
              </a:solidFill>
              <a:latin typeface="Tw Cen MT" pitchFamily="34" charset="0"/>
            </a:endParaRPr>
          </a:p>
        </p:txBody>
      </p:sp>
      <p:sp>
        <p:nvSpPr>
          <p:cNvPr id="3" name="Content Placeholder 2"/>
          <p:cNvSpPr>
            <a:spLocks noGrp="1"/>
          </p:cNvSpPr>
          <p:nvPr>
            <p:ph idx="1"/>
          </p:nvPr>
        </p:nvSpPr>
        <p:spPr>
          <a:xfrm>
            <a:off x="457200" y="1600200"/>
            <a:ext cx="8229600" cy="4525963"/>
          </a:xfrm>
        </p:spPr>
        <p:txBody>
          <a:bodyPr>
            <a:normAutofit/>
          </a:bodyPr>
          <a:lstStyle/>
          <a:p>
            <a:r>
              <a:rPr lang="en-US" dirty="0" smtClean="0">
                <a:latin typeface="Tw Cen MT" pitchFamily="34" charset="0"/>
              </a:rPr>
              <a:t>The most important monitoring parameters include </a:t>
            </a:r>
          </a:p>
          <a:p>
            <a:pPr lvl="1"/>
            <a:r>
              <a:rPr lang="en-US" dirty="0" smtClean="0">
                <a:latin typeface="Tw Cen MT" pitchFamily="34" charset="0"/>
              </a:rPr>
              <a:t>mortality (total and due to arrhythmic death)</a:t>
            </a:r>
          </a:p>
          <a:p>
            <a:pPr lvl="1"/>
            <a:r>
              <a:rPr lang="en-US" dirty="0" smtClean="0">
                <a:latin typeface="Tw Cen MT" pitchFamily="34" charset="0"/>
              </a:rPr>
              <a:t>arrhythmia recurrence (duration, frequency, symptoms)</a:t>
            </a:r>
          </a:p>
          <a:p>
            <a:pPr lvl="1"/>
            <a:r>
              <a:rPr lang="en-US" dirty="0" smtClean="0">
                <a:latin typeface="Tw Cen MT" pitchFamily="34" charset="0"/>
              </a:rPr>
              <a:t>hemodynamic consequences (rate, blood pressure, symptoms) and</a:t>
            </a:r>
          </a:p>
          <a:p>
            <a:pPr lvl="1"/>
            <a:r>
              <a:rPr lang="en-US" dirty="0" smtClean="0">
                <a:latin typeface="Tw Cen MT" pitchFamily="34" charset="0"/>
              </a:rPr>
              <a:t>treatment complications (need for alternative or additional drugs, devices or surgery).</a:t>
            </a:r>
            <a:endParaRPr lang="en-US" dirty="0">
              <a:latin typeface="Tw Cen MT" pitchFamily="34" charset="0"/>
            </a:endParaRPr>
          </a:p>
        </p:txBody>
      </p:sp>
      <p:sp>
        <p:nvSpPr>
          <p:cNvPr id="5" name="Rectangle 4"/>
          <p:cNvSpPr/>
          <p:nvPr/>
        </p:nvSpPr>
        <p:spPr>
          <a:xfrm>
            <a:off x="457200" y="1447800"/>
            <a:ext cx="8229600" cy="152400"/>
          </a:xfrm>
          <a:prstGeom prst="rect">
            <a:avLst/>
          </a:prstGeom>
          <a:solidFill>
            <a:srgbClr val="200680">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w Cen MT" pitchFamily="34" charset="0"/>
            </a:endParaRPr>
          </a:p>
        </p:txBody>
      </p:sp>
      <p:sp>
        <p:nvSpPr>
          <p:cNvPr id="6" name="Date Placeholder 5"/>
          <p:cNvSpPr>
            <a:spLocks noGrp="1"/>
          </p:cNvSpPr>
          <p:nvPr>
            <p:ph type="dt" sz="half" idx="10"/>
          </p:nvPr>
        </p:nvSpPr>
        <p:spPr/>
        <p:txBody>
          <a:bodyPr/>
          <a:lstStyle/>
          <a:p>
            <a:fld id="{17CF7D84-6679-41AD-A057-9C72AC8EDC50}" type="datetime1">
              <a:rPr lang="en-US" smtClean="0">
                <a:latin typeface="Tw Cen MT" pitchFamily="34" charset="0"/>
              </a:rPr>
              <a:pPr/>
              <a:t>2/7/2016</a:t>
            </a:fld>
            <a:endParaRPr lang="en-US">
              <a:latin typeface="Tw Cen MT" pitchFamily="34" charset="0"/>
            </a:endParaRPr>
          </a:p>
        </p:txBody>
      </p:sp>
      <p:sp>
        <p:nvSpPr>
          <p:cNvPr id="7" name="Slide Number Placeholder 6"/>
          <p:cNvSpPr>
            <a:spLocks noGrp="1"/>
          </p:cNvSpPr>
          <p:nvPr>
            <p:ph type="sldNum" sz="quarter" idx="12"/>
          </p:nvPr>
        </p:nvSpPr>
        <p:spPr/>
        <p:txBody>
          <a:bodyPr/>
          <a:lstStyle/>
          <a:p>
            <a:fld id="{EE6DAC04-9DC7-4F55-BD6E-39CA8D8394CD}" type="slidenum">
              <a:rPr lang="en-US" smtClean="0">
                <a:latin typeface="Tw Cen MT" pitchFamily="34" charset="0"/>
              </a:rPr>
              <a:pPr/>
              <a:t>81</a:t>
            </a:fld>
            <a:endParaRPr lang="en-US">
              <a:latin typeface="Tw Cen MT" pitchFamily="34" charset="0"/>
            </a:endParaRPr>
          </a:p>
        </p:txBody>
      </p:sp>
      <p:sp>
        <p:nvSpPr>
          <p:cNvPr id="8" name="Footer Placeholder 7"/>
          <p:cNvSpPr>
            <a:spLocks noGrp="1"/>
          </p:cNvSpPr>
          <p:nvPr>
            <p:ph type="ftr" sz="quarter" idx="11"/>
          </p:nvPr>
        </p:nvSpPr>
        <p:spPr/>
        <p:txBody>
          <a:bodyPr/>
          <a:lstStyle/>
          <a:p>
            <a:r>
              <a:rPr lang="en-US" smtClean="0">
                <a:latin typeface="Tw Cen MT" pitchFamily="34" charset="0"/>
              </a:rPr>
              <a:t>Pharmacotherapy of Arrythmia</a:t>
            </a:r>
            <a:endParaRPr lang="en-US">
              <a:latin typeface="Tw Cen MT" pitchFamily="34"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657</TotalTime>
  <Words>4797</Words>
  <Application>Microsoft Office PowerPoint</Application>
  <PresentationFormat>On-screen Show (4:3)</PresentationFormat>
  <Paragraphs>742</Paragraphs>
  <Slides>81</Slides>
  <Notes>4</Notes>
  <HiddenSlides>0</HiddenSlides>
  <MMClips>0</MMClips>
  <ScaleCrop>false</ScaleCrop>
  <HeadingPairs>
    <vt:vector size="4" baseType="variant">
      <vt:variant>
        <vt:lpstr>Theme</vt:lpstr>
      </vt:variant>
      <vt:variant>
        <vt:i4>1</vt:i4>
      </vt:variant>
      <vt:variant>
        <vt:lpstr>Slide Titles</vt:lpstr>
      </vt:variant>
      <vt:variant>
        <vt:i4>81</vt:i4>
      </vt:variant>
    </vt:vector>
  </HeadingPairs>
  <TitlesOfParts>
    <vt:vector size="82" baseType="lpstr">
      <vt:lpstr>Office Theme</vt:lpstr>
      <vt:lpstr>          Pharmacotherapy of            Arrhythmias</vt:lpstr>
      <vt:lpstr>Introduction: The Heart</vt:lpstr>
      <vt:lpstr>Slide 3</vt:lpstr>
      <vt:lpstr>Characteristics of Cardiac Muscle</vt:lpstr>
      <vt:lpstr>Cont…</vt:lpstr>
      <vt:lpstr>Cont…</vt:lpstr>
      <vt:lpstr> Action potential  </vt:lpstr>
      <vt:lpstr>Phases of Action Potential</vt:lpstr>
      <vt:lpstr>Cont…</vt:lpstr>
      <vt:lpstr> </vt:lpstr>
      <vt:lpstr>Slide 11</vt:lpstr>
      <vt:lpstr>Cont…</vt:lpstr>
      <vt:lpstr>Slide 13</vt:lpstr>
      <vt:lpstr>Definition </vt:lpstr>
      <vt:lpstr>Slide 15</vt:lpstr>
      <vt:lpstr>Mechanisms of Cardiac Arrhythmias</vt:lpstr>
      <vt:lpstr>Accelerated   automaticity</vt:lpstr>
      <vt:lpstr>Triggered  activity</vt:lpstr>
      <vt:lpstr>Re-entry (or circus movement)</vt:lpstr>
      <vt:lpstr> Pathophysiology Supraventricular Arrhythmias </vt:lpstr>
      <vt:lpstr> Atrial Fibrillation and Atrial Flutter </vt:lpstr>
      <vt:lpstr>Cont…</vt:lpstr>
      <vt:lpstr>Cont…</vt:lpstr>
      <vt:lpstr>PSVT</vt:lpstr>
      <vt:lpstr> Automatic Atrial Tachycardias </vt:lpstr>
      <vt:lpstr> Ventricular Arrhythmias </vt:lpstr>
      <vt:lpstr> Cont… </vt:lpstr>
      <vt:lpstr>Cont…</vt:lpstr>
      <vt:lpstr>Ventricular Proarrhythmia</vt:lpstr>
      <vt:lpstr>Ventricular Fibrillation</vt:lpstr>
      <vt:lpstr> Bradyarrhythmias </vt:lpstr>
      <vt:lpstr>Cont…</vt:lpstr>
      <vt:lpstr>Cont…</vt:lpstr>
      <vt:lpstr>Cont…</vt:lpstr>
      <vt:lpstr> Clinical Presentations </vt:lpstr>
      <vt:lpstr>Cont…</vt:lpstr>
      <vt:lpstr>Cont…</vt:lpstr>
      <vt:lpstr>Cont…</vt:lpstr>
      <vt:lpstr> Diagnosis </vt:lpstr>
      <vt:lpstr> Desired Outcome </vt:lpstr>
      <vt:lpstr>Treatment General Approach</vt:lpstr>
      <vt:lpstr> Classification of Antiarrhythmic Drugs </vt:lpstr>
      <vt:lpstr>Slide 43</vt:lpstr>
      <vt:lpstr>Cont…</vt:lpstr>
      <vt:lpstr>Cont…</vt:lpstr>
      <vt:lpstr>Cont…</vt:lpstr>
      <vt:lpstr>Cont…</vt:lpstr>
      <vt:lpstr>Cont…</vt:lpstr>
      <vt:lpstr>Cont…</vt:lpstr>
      <vt:lpstr>Cont…</vt:lpstr>
      <vt:lpstr>Slide 51</vt:lpstr>
      <vt:lpstr>Slide 52</vt:lpstr>
      <vt:lpstr>Slide 53</vt:lpstr>
      <vt:lpstr> Treatment Atrial Fibrillation or Atrial Flutter </vt:lpstr>
      <vt:lpstr>Cont…</vt:lpstr>
      <vt:lpstr>Cont…</vt:lpstr>
      <vt:lpstr>Cont…</vt:lpstr>
      <vt:lpstr>Cont…</vt:lpstr>
      <vt:lpstr>Cont…</vt:lpstr>
      <vt:lpstr>Cont…</vt:lpstr>
      <vt:lpstr>Cont…</vt:lpstr>
      <vt:lpstr>Cont…</vt:lpstr>
      <vt:lpstr>Cont…</vt:lpstr>
      <vt:lpstr>Slide 64</vt:lpstr>
      <vt:lpstr> Paroxysmal Supraventricular Tachycardia </vt:lpstr>
      <vt:lpstr>Cont…</vt:lpstr>
      <vt:lpstr>Cont…</vt:lpstr>
      <vt:lpstr>Cont…</vt:lpstr>
      <vt:lpstr> Automatic Atrial Tachycardias </vt:lpstr>
      <vt:lpstr>Cont…</vt:lpstr>
      <vt:lpstr> Premature Ventricular Complexes </vt:lpstr>
      <vt:lpstr> Ventricular Tachycardia </vt:lpstr>
      <vt:lpstr>Cont…</vt:lpstr>
      <vt:lpstr>Cont…</vt:lpstr>
      <vt:lpstr>Cont…</vt:lpstr>
      <vt:lpstr> Bradyarrhythmias </vt:lpstr>
      <vt:lpstr>Cont…</vt:lpstr>
      <vt:lpstr>Slide 78</vt:lpstr>
      <vt:lpstr>Cont…</vt:lpstr>
      <vt:lpstr>Cont…</vt:lpstr>
      <vt:lpstr> Evaluation Of Therapeutic Outcomes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Pharmacotherapy of  Stroke</dc:title>
  <dc:creator>Tessema</dc:creator>
  <cp:lastModifiedBy>Tessema</cp:lastModifiedBy>
  <cp:revision>310</cp:revision>
  <dcterms:created xsi:type="dcterms:W3CDTF">2015-11-21T03:08:52Z</dcterms:created>
  <dcterms:modified xsi:type="dcterms:W3CDTF">2016-02-08T02:10:52Z</dcterms:modified>
</cp:coreProperties>
</file>